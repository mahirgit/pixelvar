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567C59B-F2C0-46FA-84F1-41EBAC4FE3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633FE0-8816-4094-90DB-92141627F8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0192B-110C-4634-89AF-984D161C3202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6191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5F668-F164-4DF4-B449-C1F9AA6C87B4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619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via palette tokens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0FD9A-77C0-4464-9330-8BB18EC9D5BC}"/>
              </a:ext>
            </a:extLst>
          </p:cNvPr>
          <p:cNvSpPr>
            <a:spLocks noGrp="1"/>
          </p:cNvSpPr>
          <p:nvPr/>
        </p:nvSpPr>
        <p:spPr>
          <a:xfrm>
            <a:off x="628650" y="3457575"/>
            <a:ext cx="619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COMP547 Deep Unsupervised Learning | June 2026</a:t>
            </a:r>
            <a:endParaRPr lang="tr-TR" sz="1050" b="0" dirty="0">
              <a:solidFill>
                <a:srgbClr val="BDB6A7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endParaRPr sz="1050" b="0" dirty="0">
              <a:solidFill>
                <a:srgbClr val="BDB6A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3152FF-A31D-4F47-8F3B-64ED434D9B32}"/>
              </a:ext>
            </a:extLst>
          </p:cNvPr>
          <p:cNvSpPr>
            <a:spLocks noGrp="1"/>
          </p:cNvSpPr>
          <p:nvPr/>
        </p:nvSpPr>
        <p:spPr>
          <a:xfrm>
            <a:off x="7429500" y="571500"/>
            <a:ext cx="3619500" cy="47625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67600" y="980405"/>
            <a:ext cx="3543300" cy="39446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32FDC36-81BC-4DB3-8DF1-52BA86DCDC5E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6286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F4EEE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4F7777-D1AF-4EA9-B2C2-6F70404955A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AD24B7-B1C4-6A04-B1C0-24E1A8EA2D58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619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lang="tr-TR" sz="1600" dirty="0">
                <a:solidFill>
                  <a:srgbClr val="F4EEE2"/>
                </a:solidFill>
                <a:latin typeface="Aptos Light" panose="020F0502020204030204" pitchFamily="34" charset="0"/>
                <a:ea typeface="Aptos Display"/>
                <a:cs typeface="Aptos Display"/>
              </a:rPr>
              <a:t>Eyüp Ahmet Başaran</a:t>
            </a:r>
          </a:p>
          <a:p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lang="tr-TR" sz="1600" dirty="0">
                <a:solidFill>
                  <a:srgbClr val="F4EEE2"/>
                </a:solidFill>
                <a:latin typeface="Aptos Light" panose="020F0502020204030204" pitchFamily="34" charset="0"/>
                <a:ea typeface="Aptos Display"/>
                <a:cs typeface="Aptos Display"/>
              </a:rPr>
              <a:t>Kübra Rengin Çetin</a:t>
            </a:r>
          </a:p>
          <a:p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lang="tr-TR" sz="1600" dirty="0">
                <a:solidFill>
                  <a:srgbClr val="F4EEE2"/>
                </a:solidFill>
                <a:latin typeface="Aptos Light" panose="020F0502020204030204" pitchFamily="34" charset="0"/>
                <a:ea typeface="Aptos Display"/>
                <a:cs typeface="Aptos Display"/>
              </a:rPr>
              <a:t>Mahir Tilkicioğlu</a:t>
            </a:r>
            <a:endParaRPr sz="1600" dirty="0">
              <a:solidFill>
                <a:srgbClr val="F4EEE2"/>
              </a:solidFill>
              <a:latin typeface="Aptos Light" panose="020F0502020204030204" pitchFamily="34" charset="0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38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D38D58B-D247-4832-8C34-DA40457E0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5AF3F-8B5F-43B6-B46F-03BB589392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marker">
            <a:extLst>
              <a:ext uri="{FF2B5EF4-FFF2-40B4-BE49-F238E27FC236}">
                <a16:creationId xmlns:a16="http://schemas.microsoft.com/office/drawing/2014/main" id="{12809F65-69A4-496E-A53D-FE196D89812B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2-label">
            <a:extLst>
              <a:ext uri="{FF2B5EF4-FFF2-40B4-BE49-F238E27FC236}">
                <a16:creationId xmlns:a16="http://schemas.microsoft.com/office/drawing/2014/main" id="{FD1CD49B-EBB1-49AE-8DFC-02E29F95B714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PROBLEM + MOTIVATION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3536D-D0A2-4053-BB79-635B958FF86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 art is not just low-resolution RGB.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A284A-CB96-4F4D-B2E4-29A41D6780D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39ABC-C8F4-46CD-AC5E-518359DEC90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143250" cy="18097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9A4081-22B5-4264-B9A8-480EA742773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143250" cy="5715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9A68D1-5089-438C-BC9E-9FC8C772343E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873DC2-588A-42D6-88AA-BF20584F6E6B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28384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Game sprites are labor-intensive assets. A usable generator should produce compact transparent characters, not just pretty pixel-</a:t>
            </a:r>
            <a:r>
              <a:rPr sz="1050" b="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ish</a:t>
            </a:r>
            <a:r>
              <a:rPr sz="105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 pictures.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2ED8E8-48C8-48FD-A61B-DBB7CEF5BFB5}"/>
              </a:ext>
            </a:extLst>
          </p:cNvPr>
          <p:cNvSpPr>
            <a:spLocks noGrp="1"/>
          </p:cNvSpPr>
          <p:nvPr/>
        </p:nvSpPr>
        <p:spPr>
          <a:xfrm>
            <a:off x="4038600" y="1657350"/>
            <a:ext cx="3143250" cy="18097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C20EF3-5B36-4B18-BA68-5754BB9EA934}"/>
              </a:ext>
            </a:extLst>
          </p:cNvPr>
          <p:cNvSpPr>
            <a:spLocks noGrp="1"/>
          </p:cNvSpPr>
          <p:nvPr/>
        </p:nvSpPr>
        <p:spPr>
          <a:xfrm>
            <a:off x="4038600" y="1657350"/>
            <a:ext cx="3143250" cy="57150"/>
          </a:xfrm>
          <a:prstGeom prst="rect">
            <a:avLst/>
          </a:prstGeom>
          <a:solidFill>
            <a:srgbClr val="E85D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A047B-ACF2-4F51-9EA9-456BC5058610}"/>
              </a:ext>
            </a:extLst>
          </p:cNvPr>
          <p:cNvSpPr>
            <a:spLocks noGrp="1"/>
          </p:cNvSpPr>
          <p:nvPr/>
        </p:nvSpPr>
        <p:spPr>
          <a:xfrm>
            <a:off x="4191000" y="18669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F925D6-3A6B-40AA-863C-9792B9FAE61D}"/>
              </a:ext>
            </a:extLst>
          </p:cNvPr>
          <p:cNvSpPr>
            <a:spLocks noGrp="1"/>
          </p:cNvSpPr>
          <p:nvPr/>
        </p:nvSpPr>
        <p:spPr>
          <a:xfrm>
            <a:off x="4191000" y="2247900"/>
            <a:ext cx="28384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chemeClr val="accent4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Every pixel is visible. Small palette changes, anti-aliasing, noisy backgrounds, or broken silhouettes can make an output unusable.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E0369-CAC7-4084-8FFB-A79449CD82EB}"/>
              </a:ext>
            </a:extLst>
          </p:cNvPr>
          <p:cNvSpPr>
            <a:spLocks noGrp="1"/>
          </p:cNvSpPr>
          <p:nvPr/>
        </p:nvSpPr>
        <p:spPr>
          <a:xfrm>
            <a:off x="7467600" y="1657350"/>
            <a:ext cx="3143250" cy="18097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BC4684-28CD-42E0-9589-127232907950}"/>
              </a:ext>
            </a:extLst>
          </p:cNvPr>
          <p:cNvSpPr>
            <a:spLocks noGrp="1"/>
          </p:cNvSpPr>
          <p:nvPr/>
        </p:nvSpPr>
        <p:spPr>
          <a:xfrm>
            <a:off x="7467600" y="1657350"/>
            <a:ext cx="3143250" cy="57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961866-F13F-4195-A87E-A888EEB4F386}"/>
              </a:ext>
            </a:extLst>
          </p:cNvPr>
          <p:cNvSpPr>
            <a:spLocks noGrp="1"/>
          </p:cNvSpPr>
          <p:nvPr/>
        </p:nvSpPr>
        <p:spPr>
          <a:xfrm>
            <a:off x="7620000" y="18669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Our framing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19B89F-7F2F-4379-991E-0AF513D81184}"/>
              </a:ext>
            </a:extLst>
          </p:cNvPr>
          <p:cNvSpPr>
            <a:spLocks noGrp="1"/>
          </p:cNvSpPr>
          <p:nvPr/>
        </p:nvSpPr>
        <p:spPr>
          <a:xfrm>
            <a:off x="7620000" y="2247900"/>
            <a:ext cx="28384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/>
                <a:ea typeface="Aptos"/>
                <a:cs typeface="Aptos"/>
              </a:rPr>
              <a:t>Instead of generating continuous RGB and quantizing later, PixelVAR learns to generate palette-index tokens directly.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5FC003-9753-4711-A626-1147EBFF21EA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2286000" cy="161925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t="18639" b="18639"/>
          <a:stretch>
            <a:fillRect/>
          </a:stretch>
        </p:blipFill>
        <p:spPr>
          <a:xfrm>
            <a:off x="838200" y="4038600"/>
            <a:ext cx="2209800" cy="15430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C684CD2-D1E4-4AEB-B524-2C1FAE949C3C}"/>
              </a:ext>
            </a:extLst>
          </p:cNvPr>
          <p:cNvSpPr>
            <a:spLocks noGrp="1"/>
          </p:cNvSpPr>
          <p:nvPr/>
        </p:nvSpPr>
        <p:spPr>
          <a:xfrm>
            <a:off x="3638550" y="4133850"/>
            <a:ext cx="66675" cy="66675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F1885C-2FD8-4B92-9A0C-C943681A2A8D}"/>
              </a:ext>
            </a:extLst>
          </p:cNvPr>
          <p:cNvSpPr>
            <a:spLocks noGrp="1"/>
          </p:cNvSpPr>
          <p:nvPr/>
        </p:nvSpPr>
        <p:spPr>
          <a:xfrm>
            <a:off x="3810000" y="40576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 is part of the object, not cleanup.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44A7D-FD29-4EF2-945D-A7190A041C30}"/>
              </a:ext>
            </a:extLst>
          </p:cNvPr>
          <p:cNvSpPr>
            <a:spLocks noGrp="1"/>
          </p:cNvSpPr>
          <p:nvPr/>
        </p:nvSpPr>
        <p:spPr>
          <a:xfrm>
            <a:off x="3638550" y="4533900"/>
            <a:ext cx="66675" cy="66675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C84423-A1B6-4350-9E0F-0AFEC01A20E4}"/>
              </a:ext>
            </a:extLst>
          </p:cNvPr>
          <p:cNvSpPr>
            <a:spLocks noGrp="1"/>
          </p:cNvSpPr>
          <p:nvPr/>
        </p:nvSpPr>
        <p:spPr>
          <a:xfrm>
            <a:off x="3810000" y="445770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should be native to generation, not a post-hoc repair.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7825A-FC93-4C21-AC75-71FE6DE249CF}"/>
              </a:ext>
            </a:extLst>
          </p:cNvPr>
          <p:cNvSpPr>
            <a:spLocks noGrp="1"/>
          </p:cNvSpPr>
          <p:nvPr/>
        </p:nvSpPr>
        <p:spPr>
          <a:xfrm>
            <a:off x="3638550" y="4933950"/>
            <a:ext cx="66675" cy="66675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84EA2C-BAA0-4471-8FF8-63C5CFDCB344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single misplaced pixel can break outlines or pose readability.</a:t>
            </a:r>
          </a:p>
        </p:txBody>
      </p:sp>
    </p:spTree>
    <p:extLst>
      <p:ext uri="{BB962C8B-B14F-4D97-AF65-F5344CB8AC3E}">
        <p14:creationId xmlns:p14="http://schemas.microsoft.com/office/powerpoint/2010/main" val="31395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5F23FE7-1989-4760-B8A8-18DB6FCE5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287EDC-78F7-4ED7-98A3-9209492373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marker">
            <a:extLst>
              <a:ext uri="{FF2B5EF4-FFF2-40B4-BE49-F238E27FC236}">
                <a16:creationId xmlns:a16="http://schemas.microsoft.com/office/drawing/2014/main" id="{60CC04AB-BEA8-491C-8172-E914DA2B01CB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3-label">
            <a:extLst>
              <a:ext uri="{FF2B5EF4-FFF2-40B4-BE49-F238E27FC236}">
                <a16:creationId xmlns:a16="http://schemas.microsoft.com/office/drawing/2014/main" id="{96F6BA8F-EF13-47DE-AEC8-52A22AF62935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74D0B-3636-4096-924B-35DCB57223D4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sits between pixel-art-specific generators and hierarchical image-token models.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452F9-3728-417A-B79E-E494E2223B0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F24C8D-52F1-45B0-9505-B1E995D0C1F4}"/>
              </a:ext>
            </a:extLst>
          </p:cNvPr>
          <p:cNvSpPr>
            <a:spLocks noGrp="1"/>
          </p:cNvSpPr>
          <p:nvPr/>
        </p:nvSpPr>
        <p:spPr>
          <a:xfrm>
            <a:off x="1123950" y="1676400"/>
            <a:ext cx="9906000" cy="34480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EEBFD-A2A9-467B-9D6E-09C81D37D884}"/>
              </a:ext>
            </a:extLst>
          </p:cNvPr>
          <p:cNvSpPr>
            <a:spLocks noGrp="1"/>
          </p:cNvSpPr>
          <p:nvPr/>
        </p:nvSpPr>
        <p:spPr>
          <a:xfrm>
            <a:off x="1219200" y="175260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50BAD-2A5B-4E2B-95F1-24FE61E62507}"/>
              </a:ext>
            </a:extLst>
          </p:cNvPr>
          <p:cNvSpPr>
            <a:spLocks noGrp="1"/>
          </p:cNvSpPr>
          <p:nvPr/>
        </p:nvSpPr>
        <p:spPr>
          <a:xfrm>
            <a:off x="3314700" y="175260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7131F5-1CA6-42B5-B52F-E9002F63E8CA}"/>
              </a:ext>
            </a:extLst>
          </p:cNvPr>
          <p:cNvSpPr>
            <a:spLocks noGrp="1"/>
          </p:cNvSpPr>
          <p:nvPr/>
        </p:nvSpPr>
        <p:spPr>
          <a:xfrm>
            <a:off x="6172200" y="175260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is not enough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8C509-6707-4F48-BFDD-21CB923BE3D6}"/>
              </a:ext>
            </a:extLst>
          </p:cNvPr>
          <p:cNvSpPr>
            <a:spLocks noGrp="1"/>
          </p:cNvSpPr>
          <p:nvPr/>
        </p:nvSpPr>
        <p:spPr>
          <a:xfrm>
            <a:off x="1123950" y="2000250"/>
            <a:ext cx="9906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D563C5-57CE-4392-85E0-C17DD0787E2D}"/>
              </a:ext>
            </a:extLst>
          </p:cNvPr>
          <p:cNvSpPr>
            <a:spLocks noGrp="1"/>
          </p:cNvSpPr>
          <p:nvPr/>
        </p:nvSpPr>
        <p:spPr>
          <a:xfrm>
            <a:off x="1219200" y="2076450"/>
            <a:ext cx="1962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GANs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FFA26B-6501-431A-AE0C-DAE78A9A5E73}"/>
              </a:ext>
            </a:extLst>
          </p:cNvPr>
          <p:cNvSpPr>
            <a:spLocks noGrp="1"/>
          </p:cNvSpPr>
          <p:nvPr/>
        </p:nvSpPr>
        <p:spPr>
          <a:xfrm>
            <a:off x="3314700" y="2076450"/>
            <a:ext cx="2724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Coutinho / MDIGAN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9E053E-3EF6-4343-86C6-D63F9810396B}"/>
              </a:ext>
            </a:extLst>
          </p:cNvPr>
          <p:cNvSpPr>
            <a:spLocks noGrp="1"/>
          </p:cNvSpPr>
          <p:nvPr/>
        </p:nvSpPr>
        <p:spPr>
          <a:xfrm>
            <a:off x="6172200" y="2076450"/>
            <a:ext cx="4819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or pose-based; not the same unconditional generation task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819954-F19D-40BB-89C2-92290CF4D0F2}"/>
              </a:ext>
            </a:extLst>
          </p:cNvPr>
          <p:cNvSpPr>
            <a:spLocks noGrp="1"/>
          </p:cNvSpPr>
          <p:nvPr/>
        </p:nvSpPr>
        <p:spPr>
          <a:xfrm>
            <a:off x="1123950" y="2781300"/>
            <a:ext cx="9906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4B030-2897-4AAA-82E8-3F3DF2781278}"/>
              </a:ext>
            </a:extLst>
          </p:cNvPr>
          <p:cNvSpPr>
            <a:spLocks noGrp="1"/>
          </p:cNvSpPr>
          <p:nvPr/>
        </p:nvSpPr>
        <p:spPr>
          <a:xfrm>
            <a:off x="1123950" y="2781300"/>
            <a:ext cx="9906000" cy="7810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6F62FA-5695-4619-81D1-B87E5CF5A826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1962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Diffusion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309878-3ADF-426E-B38C-E280C7AD3DFF}"/>
              </a:ext>
            </a:extLst>
          </p:cNvPr>
          <p:cNvSpPr>
            <a:spLocks noGrp="1"/>
          </p:cNvSpPr>
          <p:nvPr/>
        </p:nvSpPr>
        <p:spPr>
          <a:xfrm>
            <a:off x="3314700" y="2857500"/>
            <a:ext cx="2724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PixDiff-PIG, LoRAs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E6B9CC-DDC7-4292-B655-5D4C110F685E}"/>
              </a:ext>
            </a:extLst>
          </p:cNvPr>
          <p:cNvSpPr>
            <a:spLocks noGrp="1"/>
          </p:cNvSpPr>
          <p:nvPr/>
        </p:nvSpPr>
        <p:spPr>
          <a:xfrm>
            <a:off x="6172200" y="2857500"/>
            <a:ext cx="4819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continuous, prompt-first, or image-first; needs repair/normalization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AE0E08-024A-470C-843F-932D80E11C46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9906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5D045C-AEFB-4F76-BF29-2E0C009CEA0C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1962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Discrete tokenizers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D42376-88F4-40A3-936D-0415906A8B6E}"/>
              </a:ext>
            </a:extLst>
          </p:cNvPr>
          <p:cNvSpPr>
            <a:spLocks noGrp="1"/>
          </p:cNvSpPr>
          <p:nvPr/>
        </p:nvSpPr>
        <p:spPr>
          <a:xfrm>
            <a:off x="3314700" y="3638550"/>
            <a:ext cx="2724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VQ-VAE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8C9BB5-AE11-46AB-BCE7-2685E2F36D2A}"/>
              </a:ext>
            </a:extLst>
          </p:cNvPr>
          <p:cNvSpPr>
            <a:spLocks noGrp="1"/>
          </p:cNvSpPr>
          <p:nvPr/>
        </p:nvSpPr>
        <p:spPr>
          <a:xfrm>
            <a:off x="6172200" y="3638550"/>
            <a:ext cx="4819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useful representation direction, but not a complete generator by itself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B755C8-879E-40E8-8298-FD5E6A1644AB}"/>
              </a:ext>
            </a:extLst>
          </p:cNvPr>
          <p:cNvSpPr>
            <a:spLocks noGrp="1"/>
          </p:cNvSpPr>
          <p:nvPr/>
        </p:nvSpPr>
        <p:spPr>
          <a:xfrm>
            <a:off x="1123950" y="4343400"/>
            <a:ext cx="9906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2D2FB7-9900-4341-A4D7-4A095857943B}"/>
              </a:ext>
            </a:extLst>
          </p:cNvPr>
          <p:cNvSpPr>
            <a:spLocks noGrp="1"/>
          </p:cNvSpPr>
          <p:nvPr/>
        </p:nvSpPr>
        <p:spPr>
          <a:xfrm>
            <a:off x="1123950" y="4343400"/>
            <a:ext cx="9906000" cy="7810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79B35-8831-4D38-ACBC-B97A8A619628}"/>
              </a:ext>
            </a:extLst>
          </p:cNvPr>
          <p:cNvSpPr>
            <a:spLocks noGrp="1"/>
          </p:cNvSpPr>
          <p:nvPr/>
        </p:nvSpPr>
        <p:spPr>
          <a:xfrm>
            <a:off x="1219200" y="4419600"/>
            <a:ext cx="1962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AR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B26F7D-C248-40D0-AA34-A57BF66A985A}"/>
              </a:ext>
            </a:extLst>
          </p:cNvPr>
          <p:cNvSpPr>
            <a:spLocks noGrp="1"/>
          </p:cNvSpPr>
          <p:nvPr/>
        </p:nvSpPr>
        <p:spPr>
          <a:xfrm>
            <a:off x="3314700" y="4419600"/>
            <a:ext cx="2724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/ HMAR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846242-F9EF-4EF3-A1F7-899CF0E92174}"/>
              </a:ext>
            </a:extLst>
          </p:cNvPr>
          <p:cNvSpPr>
            <a:spLocks noGrp="1"/>
          </p:cNvSpPr>
          <p:nvPr/>
        </p:nvSpPr>
        <p:spPr>
          <a:xfrm>
            <a:off x="6172200" y="4419600"/>
            <a:ext cx="4819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 coarse-to-fine idea, but not aimed at tiny transparent palette sprites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6EA77C-F08F-4A3F-BAD9-B54360CD85FB}"/>
              </a:ext>
            </a:extLst>
          </p:cNvPr>
          <p:cNvSpPr>
            <a:spLocks noGrp="1"/>
          </p:cNvSpPr>
          <p:nvPr/>
        </p:nvSpPr>
        <p:spPr>
          <a:xfrm>
            <a:off x="1333500" y="5257800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6AC7D5"/>
                </a:solidFill>
                <a:latin typeface="Aptos"/>
                <a:ea typeface="Aptos"/>
                <a:cs typeface="Aptos"/>
              </a:rPr>
              <a:t>Our niche: next-scale prediction for tiny transparent palette-constrained sprites.</a:t>
            </a:r>
          </a:p>
        </p:txBody>
      </p:sp>
    </p:spTree>
    <p:extLst>
      <p:ext uri="{BB962C8B-B14F-4D97-AF65-F5344CB8AC3E}">
        <p14:creationId xmlns:p14="http://schemas.microsoft.com/office/powerpoint/2010/main" val="157233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CCEA88C8-BEE4-4FD4-8493-4AD4DD594C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64DFC-9091-4B27-B1C7-66E85F867E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marker">
            <a:extLst>
              <a:ext uri="{FF2B5EF4-FFF2-40B4-BE49-F238E27FC236}">
                <a16:creationId xmlns:a16="http://schemas.microsoft.com/office/drawing/2014/main" id="{2BE6F528-3481-4DDD-99E5-A107F929D513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4-label">
            <a:extLst>
              <a:ext uri="{FF2B5EF4-FFF2-40B4-BE49-F238E27FC236}">
                <a16:creationId xmlns:a16="http://schemas.microsoft.com/office/drawing/2014/main" id="{25C951AE-9466-4C56-9404-31753B8C935C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CONTRACT AND FINAL PIVOT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4635A5-DB5C-4C48-8CA3-816719138460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we </a:t>
            </a:r>
            <a:r>
              <a:rPr lang="tr-TR"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aimed for</a:t>
            </a:r>
            <a:r>
              <a:rPr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, what changed, what we completed.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EA617D-2892-4D8A-95B7-6AA6574D6C9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A16220-AA1A-43D2-B32F-7E6EDD1C31F4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6477000" cy="31813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05E0E-D645-4E0D-A024-97B714B6B046}"/>
              </a:ext>
            </a:extLst>
          </p:cNvPr>
          <p:cNvSpPr>
            <a:spLocks noGrp="1"/>
          </p:cNvSpPr>
          <p:nvPr/>
        </p:nvSpPr>
        <p:spPr>
          <a:xfrm>
            <a:off x="647700" y="1676400"/>
            <a:ext cx="2486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component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3F893-F1B3-4646-92AE-4FF75FCB3C07}"/>
              </a:ext>
            </a:extLst>
          </p:cNvPr>
          <p:cNvSpPr>
            <a:spLocks noGrp="1"/>
          </p:cNvSpPr>
          <p:nvPr/>
        </p:nvSpPr>
        <p:spPr>
          <a:xfrm>
            <a:off x="3267075" y="1676400"/>
            <a:ext cx="10572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74BC18-662A-40F2-A915-88110A3E544D}"/>
              </a:ext>
            </a:extLst>
          </p:cNvPr>
          <p:cNvSpPr>
            <a:spLocks noGrp="1"/>
          </p:cNvSpPr>
          <p:nvPr/>
        </p:nvSpPr>
        <p:spPr>
          <a:xfrm>
            <a:off x="4457700" y="16764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 / reason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91172-0494-4038-9034-94A3A10B2051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6477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5D337-7177-4056-BBF5-F6FB054D56B5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2486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 sprite dataset + preprocessing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B5D4A-8F61-45FC-9B3F-96FC62646DD8}"/>
              </a:ext>
            </a:extLst>
          </p:cNvPr>
          <p:cNvSpPr>
            <a:spLocks noGrp="1"/>
          </p:cNvSpPr>
          <p:nvPr/>
        </p:nvSpPr>
        <p:spPr>
          <a:xfrm>
            <a:off x="3267075" y="2000250"/>
            <a:ext cx="1057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C699B2-6D1C-4B92-B249-D67965F2A9C0}"/>
              </a:ext>
            </a:extLst>
          </p:cNvPr>
          <p:cNvSpPr>
            <a:spLocks noGrp="1"/>
          </p:cNvSpPr>
          <p:nvPr/>
        </p:nvSpPr>
        <p:spPr>
          <a:xfrm>
            <a:off x="4457700" y="20002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grouped splits, Pokemon/OpenGameArt support paths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E4B989-98AF-4895-A17C-C349840C5FAD}"/>
              </a:ext>
            </a:extLst>
          </p:cNvPr>
          <p:cNvSpPr>
            <a:spLocks noGrp="1"/>
          </p:cNvSpPr>
          <p:nvPr/>
        </p:nvSpPr>
        <p:spPr>
          <a:xfrm>
            <a:off x="552450" y="2495550"/>
            <a:ext cx="6477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3EFBBA-D263-4A37-8F1C-632DD8933723}"/>
              </a:ext>
            </a:extLst>
          </p:cNvPr>
          <p:cNvSpPr>
            <a:spLocks noGrp="1"/>
          </p:cNvSpPr>
          <p:nvPr/>
        </p:nvSpPr>
        <p:spPr>
          <a:xfrm>
            <a:off x="552450" y="2495550"/>
            <a:ext cx="6477000" cy="57150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5711DF-390D-41E8-B062-A56B89F0424F}"/>
              </a:ext>
            </a:extLst>
          </p:cNvPr>
          <p:cNvSpPr>
            <a:spLocks noGrp="1"/>
          </p:cNvSpPr>
          <p:nvPr/>
        </p:nvSpPr>
        <p:spPr>
          <a:xfrm>
            <a:off x="647700" y="2571750"/>
            <a:ext cx="2486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0E1E12-9ED1-407F-9174-51FA19A2B126}"/>
              </a:ext>
            </a:extLst>
          </p:cNvPr>
          <p:cNvSpPr>
            <a:spLocks noGrp="1"/>
          </p:cNvSpPr>
          <p:nvPr/>
        </p:nvSpPr>
        <p:spPr>
          <a:xfrm>
            <a:off x="3267075" y="2571750"/>
            <a:ext cx="1057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9117D3-6E1C-4AAD-B445-EE4C94328AEA}"/>
              </a:ext>
            </a:extLst>
          </p:cNvPr>
          <p:cNvSpPr>
            <a:spLocks noGrp="1"/>
          </p:cNvSpPr>
          <p:nvPr/>
        </p:nvSpPr>
        <p:spPr>
          <a:xfrm>
            <a:off x="4457700" y="25717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checkpoint: var_sprites_v0_full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9345C1-878B-46CB-930D-79BAE998E29D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6477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94F4E5-4790-413D-867A-003C257FF2E6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2486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08E09C-3A4F-41D0-87F3-6BDC221E238E}"/>
              </a:ext>
            </a:extLst>
          </p:cNvPr>
          <p:cNvSpPr>
            <a:spLocks noGrp="1"/>
          </p:cNvSpPr>
          <p:nvPr/>
        </p:nvSpPr>
        <p:spPr>
          <a:xfrm>
            <a:off x="3267075" y="3143250"/>
            <a:ext cx="1057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762AC-6112-4AFE-84D5-FF960227579B}"/>
              </a:ext>
            </a:extLst>
          </p:cNvPr>
          <p:cNvSpPr>
            <a:spLocks noGrp="1"/>
          </p:cNvSpPr>
          <p:nvPr/>
        </p:nvSpPr>
        <p:spPr>
          <a:xfrm>
            <a:off x="4457700" y="31432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refinement-step ablation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99D015-854C-449E-A3C4-FFC3EDE70C2F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6477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AA1692-AC7F-422E-88D5-2450CB06AF01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6477000" cy="57150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13E7F0-B4AC-4C89-B179-87EAF2D70B58}"/>
              </a:ext>
            </a:extLst>
          </p:cNvPr>
          <p:cNvSpPr>
            <a:spLocks noGrp="1"/>
          </p:cNvSpPr>
          <p:nvPr/>
        </p:nvSpPr>
        <p:spPr>
          <a:xfrm>
            <a:off x="647700" y="3714750"/>
            <a:ext cx="2486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 + known metrics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3F3EE3-F936-4490-9984-1617262EE871}"/>
              </a:ext>
            </a:extLst>
          </p:cNvPr>
          <p:cNvSpPr>
            <a:spLocks noGrp="1"/>
          </p:cNvSpPr>
          <p:nvPr/>
        </p:nvSpPr>
        <p:spPr>
          <a:xfrm>
            <a:off x="3267075" y="3714750"/>
            <a:ext cx="1057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F2C710-1F40-490B-B3A8-3C56B1FF7D86}"/>
              </a:ext>
            </a:extLst>
          </p:cNvPr>
          <p:cNvSpPr>
            <a:spLocks noGrp="1"/>
          </p:cNvSpPr>
          <p:nvPr/>
        </p:nvSpPr>
        <p:spPr>
          <a:xfrm>
            <a:off x="4457700" y="37147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AR, MaskGIT, metrics, audit, external rows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0A217C-6131-4C82-B1C9-914B32A8E04E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6477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871F7A-1D29-46D4-88D0-68DF9199D3F0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24860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extension</a:t>
            </a:r>
            <a:endParaRPr sz="750" b="0">
              <a:solidFill>
                <a:srgbClr val="F4EEE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95CD32-9B67-4B44-90D9-8B28083BE945}"/>
              </a:ext>
            </a:extLst>
          </p:cNvPr>
          <p:cNvSpPr>
            <a:spLocks noGrp="1"/>
          </p:cNvSpPr>
          <p:nvPr/>
        </p:nvSpPr>
        <p:spPr>
          <a:xfrm>
            <a:off x="3267075" y="4286250"/>
            <a:ext cx="1057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629831-CD41-408F-97E0-741BA31BD1CA}"/>
              </a:ext>
            </a:extLst>
          </p:cNvPr>
          <p:cNvSpPr>
            <a:spLocks noGrp="1"/>
          </p:cNvSpPr>
          <p:nvPr/>
        </p:nvSpPr>
        <p:spPr>
          <a:xfrm>
            <a:off x="4457700" y="428625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claimed; disclosed as next </a:t>
            </a:r>
            <a:r>
              <a:rPr lang="tr-TR" sz="75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work</a:t>
            </a:r>
            <a:endParaRPr sz="750" b="0" dirty="0">
              <a:solidFill>
                <a:srgbClr val="F4EEE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43BDDD-01F1-44D1-BA0B-07F44A6B0FD1}"/>
              </a:ext>
            </a:extLst>
          </p:cNvPr>
          <p:cNvSpPr>
            <a:spLocks noGrp="1"/>
          </p:cNvSpPr>
          <p:nvPr/>
        </p:nvSpPr>
        <p:spPr>
          <a:xfrm>
            <a:off x="7409622" y="2105025"/>
            <a:ext cx="3714750" cy="21145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67FB8F-9001-40A1-840D-BC8E77A852EC}"/>
              </a:ext>
            </a:extLst>
          </p:cNvPr>
          <p:cNvSpPr>
            <a:spLocks noGrp="1"/>
          </p:cNvSpPr>
          <p:nvPr/>
        </p:nvSpPr>
        <p:spPr>
          <a:xfrm>
            <a:off x="7409622" y="2105025"/>
            <a:ext cx="3714750" cy="5715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928F20-A6F2-449B-831F-0321F7A18006}"/>
              </a:ext>
            </a:extLst>
          </p:cNvPr>
          <p:cNvSpPr>
            <a:spLocks noGrp="1"/>
          </p:cNvSpPr>
          <p:nvPr/>
        </p:nvSpPr>
        <p:spPr>
          <a:xfrm>
            <a:off x="7562022" y="2314575"/>
            <a:ext cx="3409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3DAC4C-F91A-4602-A48E-65DAD5E58965}"/>
              </a:ext>
            </a:extLst>
          </p:cNvPr>
          <p:cNvSpPr>
            <a:spLocks noGrp="1"/>
          </p:cNvSpPr>
          <p:nvPr/>
        </p:nvSpPr>
        <p:spPr>
          <a:xfrm>
            <a:off x="7562022" y="2695575"/>
            <a:ext cx="34099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Proposed neural multi-scale VQ-VAE -&gt; implemented/tried, but reconstructions were too soft or ghosted for pixel art. Main result uses deterministic palette-token pyramids because crisp exact pixels are the domain requirement.</a:t>
            </a:r>
          </a:p>
        </p:txBody>
      </p:sp>
    </p:spTree>
    <p:extLst>
      <p:ext uri="{BB962C8B-B14F-4D97-AF65-F5344CB8AC3E}">
        <p14:creationId xmlns:p14="http://schemas.microsoft.com/office/powerpoint/2010/main" val="82592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28087025-FEA3-44E9-9FE1-5B4B75513C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F58CA-17A0-4D85-9D61-70B666A7D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marker">
            <a:extLst>
              <a:ext uri="{FF2B5EF4-FFF2-40B4-BE49-F238E27FC236}">
                <a16:creationId xmlns:a16="http://schemas.microsoft.com/office/drawing/2014/main" id="{2F9FDFA3-2523-4DFB-B9B9-30F93B916BF3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5-label">
            <a:extLst>
              <a:ext uri="{FF2B5EF4-FFF2-40B4-BE49-F238E27FC236}">
                <a16:creationId xmlns:a16="http://schemas.microsoft.com/office/drawing/2014/main" id="{70794BE8-258F-46DB-83AD-982E7E040ABC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33491-6CF6-49F3-BA33-ABB9DEC9C5F5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generates a six-scale palette-token pyramid from coarse silhouette to final sprite.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7B985-22C4-44F9-80F3-26F8B26E070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C2806E-5E20-4182-8089-E336F34FF4B0}"/>
              </a:ext>
            </a:extLst>
          </p:cNvPr>
          <p:cNvSpPr>
            <a:spLocks noGrp="1"/>
          </p:cNvSpPr>
          <p:nvPr/>
        </p:nvSpPr>
        <p:spPr>
          <a:xfrm>
            <a:off x="571500" y="2483954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30C078-A663-4EC8-AD3F-29745115AFC6}"/>
              </a:ext>
            </a:extLst>
          </p:cNvPr>
          <p:cNvSpPr>
            <a:spLocks noGrp="1"/>
          </p:cNvSpPr>
          <p:nvPr/>
        </p:nvSpPr>
        <p:spPr>
          <a:xfrm>
            <a:off x="1333500" y="2522054"/>
            <a:ext cx="25336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06D6B-3CF0-4215-8C9D-55E4D564CE51}"/>
              </a:ext>
            </a:extLst>
          </p:cNvPr>
          <p:cNvSpPr>
            <a:spLocks noGrp="1"/>
          </p:cNvSpPr>
          <p:nvPr/>
        </p:nvSpPr>
        <p:spPr>
          <a:xfrm>
            <a:off x="1333500" y="2522054"/>
            <a:ext cx="9525" cy="15240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BBFE0-93ED-4318-9AF1-2470FA41D127}"/>
              </a:ext>
            </a:extLst>
          </p:cNvPr>
          <p:cNvSpPr>
            <a:spLocks noGrp="1"/>
          </p:cNvSpPr>
          <p:nvPr/>
        </p:nvSpPr>
        <p:spPr>
          <a:xfrm>
            <a:off x="3981450" y="2474429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A4F538-FE58-4C79-8F61-A4793C939B49}"/>
              </a:ext>
            </a:extLst>
          </p:cNvPr>
          <p:cNvSpPr>
            <a:spLocks noGrp="1"/>
          </p:cNvSpPr>
          <p:nvPr/>
        </p:nvSpPr>
        <p:spPr>
          <a:xfrm>
            <a:off x="571500" y="2858604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322B9F-9432-4D5C-A9C8-C9CFDD35296A}"/>
              </a:ext>
            </a:extLst>
          </p:cNvPr>
          <p:cNvSpPr>
            <a:spLocks noGrp="1"/>
          </p:cNvSpPr>
          <p:nvPr/>
        </p:nvSpPr>
        <p:spPr>
          <a:xfrm>
            <a:off x="1333500" y="2896704"/>
            <a:ext cx="25336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5C11FF-9781-4A06-8961-E51B82750AF7}"/>
              </a:ext>
            </a:extLst>
          </p:cNvPr>
          <p:cNvSpPr>
            <a:spLocks noGrp="1"/>
          </p:cNvSpPr>
          <p:nvPr/>
        </p:nvSpPr>
        <p:spPr>
          <a:xfrm>
            <a:off x="1333500" y="2896704"/>
            <a:ext cx="9897" cy="15240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A10D58-98D7-42B1-AD6D-751E0BCC7957}"/>
              </a:ext>
            </a:extLst>
          </p:cNvPr>
          <p:cNvSpPr>
            <a:spLocks noGrp="1"/>
          </p:cNvSpPr>
          <p:nvPr/>
        </p:nvSpPr>
        <p:spPr>
          <a:xfrm>
            <a:off x="3981450" y="2849079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655CF0-F961-4DAE-ACF0-11555DFE7D1A}"/>
              </a:ext>
            </a:extLst>
          </p:cNvPr>
          <p:cNvSpPr>
            <a:spLocks noGrp="1"/>
          </p:cNvSpPr>
          <p:nvPr/>
        </p:nvSpPr>
        <p:spPr>
          <a:xfrm>
            <a:off x="571500" y="3233254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B476C7-3D3C-4077-AD75-7E2D1B8248E1}"/>
              </a:ext>
            </a:extLst>
          </p:cNvPr>
          <p:cNvSpPr>
            <a:spLocks noGrp="1"/>
          </p:cNvSpPr>
          <p:nvPr/>
        </p:nvSpPr>
        <p:spPr>
          <a:xfrm>
            <a:off x="1333500" y="3271354"/>
            <a:ext cx="25336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CE0D3-A7DF-4AFD-BAE8-2B0A79E12C13}"/>
              </a:ext>
            </a:extLst>
          </p:cNvPr>
          <p:cNvSpPr>
            <a:spLocks noGrp="1"/>
          </p:cNvSpPr>
          <p:nvPr/>
        </p:nvSpPr>
        <p:spPr>
          <a:xfrm>
            <a:off x="1333500" y="3271354"/>
            <a:ext cx="39588" cy="15240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D5DD37-719A-403D-AE1B-47272AC0A330}"/>
              </a:ext>
            </a:extLst>
          </p:cNvPr>
          <p:cNvSpPr>
            <a:spLocks noGrp="1"/>
          </p:cNvSpPr>
          <p:nvPr/>
        </p:nvSpPr>
        <p:spPr>
          <a:xfrm>
            <a:off x="3981450" y="3223729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B53620-B283-4C84-AD66-1ACA144A991D}"/>
              </a:ext>
            </a:extLst>
          </p:cNvPr>
          <p:cNvSpPr>
            <a:spLocks noGrp="1"/>
          </p:cNvSpPr>
          <p:nvPr/>
        </p:nvSpPr>
        <p:spPr>
          <a:xfrm>
            <a:off x="571500" y="3607904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93E95F-2FF6-4BDF-8560-9F5E2923CA16}"/>
              </a:ext>
            </a:extLst>
          </p:cNvPr>
          <p:cNvSpPr>
            <a:spLocks noGrp="1"/>
          </p:cNvSpPr>
          <p:nvPr/>
        </p:nvSpPr>
        <p:spPr>
          <a:xfrm>
            <a:off x="1333500" y="3646004"/>
            <a:ext cx="25336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61C186-0BE8-4F24-8F5D-902C02C1A8AC}"/>
              </a:ext>
            </a:extLst>
          </p:cNvPr>
          <p:cNvSpPr>
            <a:spLocks noGrp="1"/>
          </p:cNvSpPr>
          <p:nvPr/>
        </p:nvSpPr>
        <p:spPr>
          <a:xfrm>
            <a:off x="1333500" y="3646004"/>
            <a:ext cx="158353" cy="15240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86B915-52EC-4CD1-B37F-CEEAADBFC207}"/>
              </a:ext>
            </a:extLst>
          </p:cNvPr>
          <p:cNvSpPr>
            <a:spLocks noGrp="1"/>
          </p:cNvSpPr>
          <p:nvPr/>
        </p:nvSpPr>
        <p:spPr>
          <a:xfrm>
            <a:off x="3981450" y="3598379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CC0DD0-1897-4E77-B7E7-C98CC481C070}"/>
              </a:ext>
            </a:extLst>
          </p:cNvPr>
          <p:cNvSpPr>
            <a:spLocks noGrp="1"/>
          </p:cNvSpPr>
          <p:nvPr/>
        </p:nvSpPr>
        <p:spPr>
          <a:xfrm>
            <a:off x="571500" y="3982554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3B960A-9D39-490F-9355-BF1BA746172D}"/>
              </a:ext>
            </a:extLst>
          </p:cNvPr>
          <p:cNvSpPr>
            <a:spLocks noGrp="1"/>
          </p:cNvSpPr>
          <p:nvPr/>
        </p:nvSpPr>
        <p:spPr>
          <a:xfrm>
            <a:off x="1333500" y="4020654"/>
            <a:ext cx="25336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816E96-6EC8-461B-BEE5-DF60DC4FEFA4}"/>
              </a:ext>
            </a:extLst>
          </p:cNvPr>
          <p:cNvSpPr>
            <a:spLocks noGrp="1"/>
          </p:cNvSpPr>
          <p:nvPr/>
        </p:nvSpPr>
        <p:spPr>
          <a:xfrm>
            <a:off x="1333500" y="4020654"/>
            <a:ext cx="633413" cy="1524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C65D5D-E4FA-46CF-B117-82FEF8E1EE46}"/>
              </a:ext>
            </a:extLst>
          </p:cNvPr>
          <p:cNvSpPr>
            <a:spLocks noGrp="1"/>
          </p:cNvSpPr>
          <p:nvPr/>
        </p:nvSpPr>
        <p:spPr>
          <a:xfrm>
            <a:off x="3981450" y="3973029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9C82F7-BDDD-40A7-A97F-D8A78ADC5A07}"/>
              </a:ext>
            </a:extLst>
          </p:cNvPr>
          <p:cNvSpPr>
            <a:spLocks noGrp="1"/>
          </p:cNvSpPr>
          <p:nvPr/>
        </p:nvSpPr>
        <p:spPr>
          <a:xfrm>
            <a:off x="571500" y="4357204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11935E-AF32-474D-94B3-19A1260BCDE8}"/>
              </a:ext>
            </a:extLst>
          </p:cNvPr>
          <p:cNvSpPr>
            <a:spLocks noGrp="1"/>
          </p:cNvSpPr>
          <p:nvPr/>
        </p:nvSpPr>
        <p:spPr>
          <a:xfrm>
            <a:off x="1333500" y="4395304"/>
            <a:ext cx="25336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828A53-F9DC-4F4C-8623-281A386A2986}"/>
              </a:ext>
            </a:extLst>
          </p:cNvPr>
          <p:cNvSpPr>
            <a:spLocks noGrp="1"/>
          </p:cNvSpPr>
          <p:nvPr/>
        </p:nvSpPr>
        <p:spPr>
          <a:xfrm>
            <a:off x="1333500" y="4395304"/>
            <a:ext cx="2533650" cy="152400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C430E7-A3CB-4C3B-9230-FBB96BE56A57}"/>
              </a:ext>
            </a:extLst>
          </p:cNvPr>
          <p:cNvSpPr>
            <a:spLocks noGrp="1"/>
          </p:cNvSpPr>
          <p:nvPr/>
        </p:nvSpPr>
        <p:spPr>
          <a:xfrm>
            <a:off x="3981450" y="4347679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542C49-B75C-4BDF-A006-DF76280073AE}"/>
              </a:ext>
            </a:extLst>
          </p:cNvPr>
          <p:cNvSpPr>
            <a:spLocks noGrp="1"/>
          </p:cNvSpPr>
          <p:nvPr/>
        </p:nvSpPr>
        <p:spPr>
          <a:xfrm>
            <a:off x="5334000" y="1313625"/>
            <a:ext cx="5905500" cy="25336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568336-A55D-4C95-BB06-33930FEDD3F0}"/>
              </a:ext>
            </a:extLst>
          </p:cNvPr>
          <p:cNvSpPr>
            <a:spLocks noGrp="1"/>
          </p:cNvSpPr>
          <p:nvPr/>
        </p:nvSpPr>
        <p:spPr>
          <a:xfrm>
            <a:off x="5429250" y="1389825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8791DB-1857-4E51-A4E4-85AB69806B9E}"/>
              </a:ext>
            </a:extLst>
          </p:cNvPr>
          <p:cNvSpPr>
            <a:spLocks noGrp="1"/>
          </p:cNvSpPr>
          <p:nvPr/>
        </p:nvSpPr>
        <p:spPr>
          <a:xfrm>
            <a:off x="6572250" y="1389825"/>
            <a:ext cx="3295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8E5818-E711-461D-B6D4-D54DD3D7A3B0}"/>
              </a:ext>
            </a:extLst>
          </p:cNvPr>
          <p:cNvSpPr>
            <a:spLocks noGrp="1"/>
          </p:cNvSpPr>
          <p:nvPr/>
        </p:nvSpPr>
        <p:spPr>
          <a:xfrm>
            <a:off x="10001250" y="1389825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DBA39F-8D6B-4DA2-BA14-5E04035AC627}"/>
              </a:ext>
            </a:extLst>
          </p:cNvPr>
          <p:cNvSpPr>
            <a:spLocks noGrp="1"/>
          </p:cNvSpPr>
          <p:nvPr/>
        </p:nvSpPr>
        <p:spPr>
          <a:xfrm>
            <a:off x="5334000" y="1637475"/>
            <a:ext cx="5905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6F1238-884C-4B45-9435-5A45CF03F78D}"/>
              </a:ext>
            </a:extLst>
          </p:cNvPr>
          <p:cNvSpPr>
            <a:spLocks noGrp="1"/>
          </p:cNvSpPr>
          <p:nvPr/>
        </p:nvSpPr>
        <p:spPr>
          <a:xfrm>
            <a:off x="5429250" y="1713675"/>
            <a:ext cx="1009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88FCA2-9D02-497A-A96F-40223CF22A96}"/>
              </a:ext>
            </a:extLst>
          </p:cNvPr>
          <p:cNvSpPr>
            <a:spLocks noGrp="1"/>
          </p:cNvSpPr>
          <p:nvPr/>
        </p:nvSpPr>
        <p:spPr>
          <a:xfrm>
            <a:off x="6572250" y="1713675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each next scale conditioned on coarser scales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47CA4F-2AEF-4A8D-92A4-E82BEBA1DF01}"/>
              </a:ext>
            </a:extLst>
          </p:cNvPr>
          <p:cNvSpPr>
            <a:spLocks noGrp="1"/>
          </p:cNvSpPr>
          <p:nvPr/>
        </p:nvSpPr>
        <p:spPr>
          <a:xfrm>
            <a:off x="10001250" y="171367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BFC28E-29EC-4157-918E-F1D281849CA4}"/>
              </a:ext>
            </a:extLst>
          </p:cNvPr>
          <p:cNvSpPr>
            <a:spLocks noGrp="1"/>
          </p:cNvSpPr>
          <p:nvPr/>
        </p:nvSpPr>
        <p:spPr>
          <a:xfrm>
            <a:off x="5334000" y="2189925"/>
            <a:ext cx="5905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F71247-CBAE-42C2-8073-73B7B455C708}"/>
              </a:ext>
            </a:extLst>
          </p:cNvPr>
          <p:cNvSpPr>
            <a:spLocks noGrp="1"/>
          </p:cNvSpPr>
          <p:nvPr/>
        </p:nvSpPr>
        <p:spPr>
          <a:xfrm>
            <a:off x="5334000" y="2189925"/>
            <a:ext cx="5905500" cy="5524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EF9538-42D7-47E3-98AC-F1CE3D7F9F2B}"/>
              </a:ext>
            </a:extLst>
          </p:cNvPr>
          <p:cNvSpPr>
            <a:spLocks noGrp="1"/>
          </p:cNvSpPr>
          <p:nvPr/>
        </p:nvSpPr>
        <p:spPr>
          <a:xfrm>
            <a:off x="5429250" y="2266125"/>
            <a:ext cx="1009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E392EA-50D8-421A-869B-4A55EFB3C505}"/>
              </a:ext>
            </a:extLst>
          </p:cNvPr>
          <p:cNvSpPr>
            <a:spLocks noGrp="1"/>
          </p:cNvSpPr>
          <p:nvPr/>
        </p:nvSpPr>
        <p:spPr>
          <a:xfrm>
            <a:off x="6572250" y="2266125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mask/refine tokens within each scale for 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82B39D-3D0A-4A9A-9FD6-F90E2B726D89}"/>
              </a:ext>
            </a:extLst>
          </p:cNvPr>
          <p:cNvSpPr>
            <a:spLocks noGrp="1"/>
          </p:cNvSpPr>
          <p:nvPr/>
        </p:nvSpPr>
        <p:spPr>
          <a:xfrm>
            <a:off x="10001250" y="226612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Option 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FB41B0-2130-45AC-83C7-F29AEE527E0F}"/>
              </a:ext>
            </a:extLst>
          </p:cNvPr>
          <p:cNvSpPr>
            <a:spLocks noGrp="1"/>
          </p:cNvSpPr>
          <p:nvPr/>
        </p:nvSpPr>
        <p:spPr>
          <a:xfrm>
            <a:off x="5334000" y="2742375"/>
            <a:ext cx="5905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6FC99A2-BE50-4057-A9AB-2DF3C458902C}"/>
              </a:ext>
            </a:extLst>
          </p:cNvPr>
          <p:cNvSpPr>
            <a:spLocks noGrp="1"/>
          </p:cNvSpPr>
          <p:nvPr/>
        </p:nvSpPr>
        <p:spPr>
          <a:xfrm>
            <a:off x="5429250" y="2818575"/>
            <a:ext cx="1009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27F125-72C6-4F3B-B2AC-3AB706077AAB}"/>
              </a:ext>
            </a:extLst>
          </p:cNvPr>
          <p:cNvSpPr>
            <a:spLocks noGrp="1"/>
          </p:cNvSpPr>
          <p:nvPr/>
        </p:nvSpPr>
        <p:spPr>
          <a:xfrm>
            <a:off x="6572250" y="2818575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final 32x32 grid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E866D6-FA6D-4A7E-878D-0CABB0FCACC9}"/>
              </a:ext>
            </a:extLst>
          </p:cNvPr>
          <p:cNvSpPr>
            <a:spLocks noGrp="1"/>
          </p:cNvSpPr>
          <p:nvPr/>
        </p:nvSpPr>
        <p:spPr>
          <a:xfrm>
            <a:off x="10001250" y="281857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5B00F1-4540-43F8-8C7F-D0D2EAE6203E}"/>
              </a:ext>
            </a:extLst>
          </p:cNvPr>
          <p:cNvSpPr>
            <a:spLocks noGrp="1"/>
          </p:cNvSpPr>
          <p:nvPr/>
        </p:nvSpPr>
        <p:spPr>
          <a:xfrm>
            <a:off x="5334000" y="3294825"/>
            <a:ext cx="5905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6374DC-19B9-4005-9216-992CE0D10E54}"/>
              </a:ext>
            </a:extLst>
          </p:cNvPr>
          <p:cNvSpPr>
            <a:spLocks noGrp="1"/>
          </p:cNvSpPr>
          <p:nvPr/>
        </p:nvSpPr>
        <p:spPr>
          <a:xfrm>
            <a:off x="5334000" y="3294825"/>
            <a:ext cx="5905500" cy="5524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CEF54B-7731-4973-8D76-36690C207D32}"/>
              </a:ext>
            </a:extLst>
          </p:cNvPr>
          <p:cNvSpPr>
            <a:spLocks noGrp="1"/>
          </p:cNvSpPr>
          <p:nvPr/>
        </p:nvSpPr>
        <p:spPr>
          <a:xfrm>
            <a:off x="5429250" y="3371025"/>
            <a:ext cx="1009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DDACD7-B4B7-43DC-B782-9442EC4B3A88}"/>
              </a:ext>
            </a:extLst>
          </p:cNvPr>
          <p:cNvSpPr>
            <a:spLocks noGrp="1"/>
          </p:cNvSpPr>
          <p:nvPr/>
        </p:nvSpPr>
        <p:spPr>
          <a:xfrm>
            <a:off x="6572250" y="3371025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final-grid parallel decoding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B6C4552-B79B-409B-96C2-45B04855E052}"/>
              </a:ext>
            </a:extLst>
          </p:cNvPr>
          <p:cNvSpPr>
            <a:spLocks noGrp="1"/>
          </p:cNvSpPr>
          <p:nvPr/>
        </p:nvSpPr>
        <p:spPr>
          <a:xfrm>
            <a:off x="10001250" y="337102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baseline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155526-0068-4486-B715-E852930ADE16}"/>
              </a:ext>
            </a:extLst>
          </p:cNvPr>
          <p:cNvSpPr>
            <a:spLocks noGrp="1"/>
          </p:cNvSpPr>
          <p:nvPr/>
        </p:nvSpPr>
        <p:spPr>
          <a:xfrm>
            <a:off x="6027266" y="4075048"/>
            <a:ext cx="4381500" cy="20002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7B8AF0-CC0F-463A-8D2C-ADE8BA47E908}"/>
              </a:ext>
            </a:extLst>
          </p:cNvPr>
          <p:cNvSpPr>
            <a:spLocks noGrp="1"/>
          </p:cNvSpPr>
          <p:nvPr/>
        </p:nvSpPr>
        <p:spPr>
          <a:xfrm>
            <a:off x="6122516" y="4151248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contract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FABFCF6-8654-41F9-9569-04A0B8ADA331}"/>
              </a:ext>
            </a:extLst>
          </p:cNvPr>
          <p:cNvSpPr>
            <a:spLocks noGrp="1"/>
          </p:cNvSpPr>
          <p:nvPr/>
        </p:nvSpPr>
        <p:spPr>
          <a:xfrm>
            <a:off x="7170266" y="4151248"/>
            <a:ext cx="3200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47DE9E8-1E07-431D-A07E-23C9C1550A88}"/>
              </a:ext>
            </a:extLst>
          </p:cNvPr>
          <p:cNvSpPr>
            <a:spLocks noGrp="1"/>
          </p:cNvSpPr>
          <p:nvPr/>
        </p:nvSpPr>
        <p:spPr>
          <a:xfrm>
            <a:off x="6027266" y="4398898"/>
            <a:ext cx="4381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A6514CE-57B3-4DF4-96B4-B6B1B8C37DAA}"/>
              </a:ext>
            </a:extLst>
          </p:cNvPr>
          <p:cNvSpPr>
            <a:spLocks noGrp="1"/>
          </p:cNvSpPr>
          <p:nvPr/>
        </p:nvSpPr>
        <p:spPr>
          <a:xfrm>
            <a:off x="6122516" y="4475098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F248E0-4F4E-45A2-BC03-87CDB23D6575}"/>
              </a:ext>
            </a:extLst>
          </p:cNvPr>
          <p:cNvSpPr>
            <a:spLocks noGrp="1"/>
          </p:cNvSpPr>
          <p:nvPr/>
        </p:nvSpPr>
        <p:spPr>
          <a:xfrm>
            <a:off x="7170266" y="4475098"/>
            <a:ext cx="3200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64657D7-1D83-43EE-84A0-B092CF8CEDFE}"/>
              </a:ext>
            </a:extLst>
          </p:cNvPr>
          <p:cNvSpPr>
            <a:spLocks noGrp="1"/>
          </p:cNvSpPr>
          <p:nvPr/>
        </p:nvSpPr>
        <p:spPr>
          <a:xfrm>
            <a:off x="6027266" y="4817998"/>
            <a:ext cx="4381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3A57910-4D02-49D3-AC86-51F7777D26A8}"/>
              </a:ext>
            </a:extLst>
          </p:cNvPr>
          <p:cNvSpPr>
            <a:spLocks noGrp="1"/>
          </p:cNvSpPr>
          <p:nvPr/>
        </p:nvSpPr>
        <p:spPr>
          <a:xfrm>
            <a:off x="6027266" y="4817998"/>
            <a:ext cx="4381500" cy="41910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6DDCB72-BE35-4A17-95B3-25720A564667}"/>
              </a:ext>
            </a:extLst>
          </p:cNvPr>
          <p:cNvSpPr>
            <a:spLocks noGrp="1"/>
          </p:cNvSpPr>
          <p:nvPr/>
        </p:nvSpPr>
        <p:spPr>
          <a:xfrm>
            <a:off x="6122516" y="4894198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B344F9F-29E4-45F4-B901-509BE68D653B}"/>
              </a:ext>
            </a:extLst>
          </p:cNvPr>
          <p:cNvSpPr>
            <a:spLocks noGrp="1"/>
          </p:cNvSpPr>
          <p:nvPr/>
        </p:nvSpPr>
        <p:spPr>
          <a:xfrm>
            <a:off x="7170266" y="4894198"/>
            <a:ext cx="3200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fixed palette colors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DF3943-2479-44BC-9FE6-376095030FA2}"/>
              </a:ext>
            </a:extLst>
          </p:cNvPr>
          <p:cNvSpPr>
            <a:spLocks noGrp="1"/>
          </p:cNvSpPr>
          <p:nvPr/>
        </p:nvSpPr>
        <p:spPr>
          <a:xfrm>
            <a:off x="6027266" y="5237098"/>
            <a:ext cx="4381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1AA1764-9B72-48C8-8465-670FACF842B3}"/>
              </a:ext>
            </a:extLst>
          </p:cNvPr>
          <p:cNvSpPr>
            <a:spLocks noGrp="1"/>
          </p:cNvSpPr>
          <p:nvPr/>
        </p:nvSpPr>
        <p:spPr>
          <a:xfrm>
            <a:off x="6122516" y="5313298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FC63D60-B474-4AE4-BABD-43EF82412AA2}"/>
              </a:ext>
            </a:extLst>
          </p:cNvPr>
          <p:cNvSpPr>
            <a:spLocks noGrp="1"/>
          </p:cNvSpPr>
          <p:nvPr/>
        </p:nvSpPr>
        <p:spPr>
          <a:xfrm>
            <a:off x="7170266" y="5313298"/>
            <a:ext cx="3200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missing token, separate from transparency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AFDC24D-D332-4518-843A-75718728F40D}"/>
              </a:ext>
            </a:extLst>
          </p:cNvPr>
          <p:cNvSpPr>
            <a:spLocks noGrp="1"/>
          </p:cNvSpPr>
          <p:nvPr/>
        </p:nvSpPr>
        <p:spPr>
          <a:xfrm>
            <a:off x="6027266" y="5656198"/>
            <a:ext cx="4381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3E430A9-B95F-4C93-9436-3D701B8C720F}"/>
              </a:ext>
            </a:extLst>
          </p:cNvPr>
          <p:cNvSpPr>
            <a:spLocks noGrp="1"/>
          </p:cNvSpPr>
          <p:nvPr/>
        </p:nvSpPr>
        <p:spPr>
          <a:xfrm>
            <a:off x="6027266" y="5656198"/>
            <a:ext cx="4381500" cy="41910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909B276-B61C-45EA-B622-7933F73A0857}"/>
              </a:ext>
            </a:extLst>
          </p:cNvPr>
          <p:cNvSpPr>
            <a:spLocks noGrp="1"/>
          </p:cNvSpPr>
          <p:nvPr/>
        </p:nvSpPr>
        <p:spPr>
          <a:xfrm>
            <a:off x="6122516" y="5732398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89F206-A618-4784-91B4-A5C8CBE1A275}"/>
              </a:ext>
            </a:extLst>
          </p:cNvPr>
          <p:cNvSpPr>
            <a:spLocks noGrp="1"/>
          </p:cNvSpPr>
          <p:nvPr/>
        </p:nvSpPr>
        <p:spPr>
          <a:xfrm>
            <a:off x="7170266" y="5732398"/>
            <a:ext cx="3200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tokens across 1x1..32x32 scales</a:t>
            </a:r>
          </a:p>
        </p:txBody>
      </p:sp>
    </p:spTree>
    <p:extLst>
      <p:ext uri="{BB962C8B-B14F-4D97-AF65-F5344CB8AC3E}">
        <p14:creationId xmlns:p14="http://schemas.microsoft.com/office/powerpoint/2010/main" val="184864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0F6DDB5-0A13-4939-A21E-9E0DED8264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C365A9-605A-41FD-B293-FF431FF649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marker">
            <a:extLst>
              <a:ext uri="{FF2B5EF4-FFF2-40B4-BE49-F238E27FC236}">
                <a16:creationId xmlns:a16="http://schemas.microsoft.com/office/drawing/2014/main" id="{0AC67638-1799-4F6C-88CE-47D4E9133A5D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6-label">
            <a:extLst>
              <a:ext uri="{FF2B5EF4-FFF2-40B4-BE49-F238E27FC236}">
                <a16:creationId xmlns:a16="http://schemas.microsoft.com/office/drawing/2014/main" id="{EF5A7EE1-6F94-4504-851F-2FB8A93E6998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1F09A1-373A-49AD-A937-1870D06276D8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Evaluation uses a fixed 32x32 sprite protocol, grouped splits, and three layers of metrics.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0FECA-0535-4B75-B732-CED3AE5F44B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66E012-9DFC-465F-BAA1-860279AB5E9D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20002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14DE7-C94F-42E3-98C5-7C5724A1D16F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47625" cy="819150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A6F9FB-E8A1-439D-B6FB-A6212C9AA96F}"/>
              </a:ext>
            </a:extLst>
          </p:cNvPr>
          <p:cNvSpPr>
            <a:spLocks noGrp="1"/>
          </p:cNvSpPr>
          <p:nvPr/>
        </p:nvSpPr>
        <p:spPr>
          <a:xfrm>
            <a:off x="838200" y="1704975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E31CF-858E-4F66-9C23-FB020ECB43CB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6954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5B8690-CE85-4BE3-9F68-A1C1B5B71798}"/>
              </a:ext>
            </a:extLst>
          </p:cNvPr>
          <p:cNvSpPr>
            <a:spLocks noGrp="1"/>
          </p:cNvSpPr>
          <p:nvPr/>
        </p:nvSpPr>
        <p:spPr>
          <a:xfrm>
            <a:off x="2876550" y="1600200"/>
            <a:ext cx="1428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D0C82-FB1A-4BD0-9586-7B9A26522721}"/>
              </a:ext>
            </a:extLst>
          </p:cNvPr>
          <p:cNvSpPr>
            <a:spLocks noGrp="1"/>
          </p:cNvSpPr>
          <p:nvPr/>
        </p:nvSpPr>
        <p:spPr>
          <a:xfrm>
            <a:off x="2876550" y="1600200"/>
            <a:ext cx="47625" cy="819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3D32C4-44E5-400D-A0ED-5B8DC3627769}"/>
              </a:ext>
            </a:extLst>
          </p:cNvPr>
          <p:cNvSpPr>
            <a:spLocks noGrp="1"/>
          </p:cNvSpPr>
          <p:nvPr/>
        </p:nvSpPr>
        <p:spPr>
          <a:xfrm>
            <a:off x="3048000" y="1704975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F46481-2DD2-46DE-8875-E252E25ED094}"/>
              </a:ext>
            </a:extLst>
          </p:cNvPr>
          <p:cNvSpPr>
            <a:spLocks noGrp="1"/>
          </p:cNvSpPr>
          <p:nvPr/>
        </p:nvSpPr>
        <p:spPr>
          <a:xfrm>
            <a:off x="3048000" y="2038350"/>
            <a:ext cx="1123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4E9532-7690-4C9F-AF41-E048A6F6BFF5}"/>
              </a:ext>
            </a:extLst>
          </p:cNvPr>
          <p:cNvSpPr>
            <a:spLocks noGrp="1"/>
          </p:cNvSpPr>
          <p:nvPr/>
        </p:nvSpPr>
        <p:spPr>
          <a:xfrm>
            <a:off x="4514850" y="1600200"/>
            <a:ext cx="1428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C27DDA-02E3-495C-AC4D-0C353685C066}"/>
              </a:ext>
            </a:extLst>
          </p:cNvPr>
          <p:cNvSpPr>
            <a:spLocks noGrp="1"/>
          </p:cNvSpPr>
          <p:nvPr/>
        </p:nvSpPr>
        <p:spPr>
          <a:xfrm>
            <a:off x="4514850" y="1600200"/>
            <a:ext cx="47625" cy="81915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FD633-4AF7-43F8-AEB5-8FD583ECD11E}"/>
              </a:ext>
            </a:extLst>
          </p:cNvPr>
          <p:cNvSpPr>
            <a:spLocks noGrp="1"/>
          </p:cNvSpPr>
          <p:nvPr/>
        </p:nvSpPr>
        <p:spPr>
          <a:xfrm>
            <a:off x="4686300" y="1704975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BF32FF-B18F-44C5-AA76-50C913D9CE4C}"/>
              </a:ext>
            </a:extLst>
          </p:cNvPr>
          <p:cNvSpPr>
            <a:spLocks noGrp="1"/>
          </p:cNvSpPr>
          <p:nvPr/>
        </p:nvSpPr>
        <p:spPr>
          <a:xfrm>
            <a:off x="4686300" y="2038350"/>
            <a:ext cx="1123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B41351-A12F-4F7C-B712-29F306A6A574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428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951234-2745-4660-B43A-AC000D1E6372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47625" cy="819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457CD5-BADD-44AD-A8AE-D3F5A1296C1C}"/>
              </a:ext>
            </a:extLst>
          </p:cNvPr>
          <p:cNvSpPr>
            <a:spLocks noGrp="1"/>
          </p:cNvSpPr>
          <p:nvPr/>
        </p:nvSpPr>
        <p:spPr>
          <a:xfrm>
            <a:off x="6324600" y="1704975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EB68C6-8DAE-4989-A062-147C5D92948E}"/>
              </a:ext>
            </a:extLst>
          </p:cNvPr>
          <p:cNvSpPr>
            <a:spLocks noGrp="1"/>
          </p:cNvSpPr>
          <p:nvPr/>
        </p:nvSpPr>
        <p:spPr>
          <a:xfrm>
            <a:off x="6324600" y="2038350"/>
            <a:ext cx="1123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AC967A-C3C8-422D-92BC-7940F381210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3314700" cy="179070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547F72-09DB-4861-AF60-DD5CCF85EDC7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3314700" cy="57150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0C19CE-9434-4804-8738-8BDDCDEC22A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protocol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6C06C-66D1-4812-B2D4-938819ED0D9B}"/>
              </a:ext>
            </a:extLst>
          </p:cNvPr>
          <p:cNvSpPr>
            <a:spLocks noGrp="1"/>
          </p:cNvSpPr>
          <p:nvPr/>
        </p:nvSpPr>
        <p:spPr>
          <a:xfrm>
            <a:off x="819150" y="3448050"/>
            <a:ext cx="30099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All main outputs are 32x32 transparent RGBA sprites decoded from palette-token maps. Splits are grouped by character attributes to reduce leakage.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BB377E-7265-4911-9464-A90A00D06D83}"/>
              </a:ext>
            </a:extLst>
          </p:cNvPr>
          <p:cNvSpPr>
            <a:spLocks noGrp="1"/>
          </p:cNvSpPr>
          <p:nvPr/>
        </p:nvSpPr>
        <p:spPr>
          <a:xfrm>
            <a:off x="4343400" y="2857500"/>
            <a:ext cx="3314700" cy="179070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DC183-2D9A-4500-94C1-17D4DB2B6499}"/>
              </a:ext>
            </a:extLst>
          </p:cNvPr>
          <p:cNvSpPr>
            <a:spLocks noGrp="1"/>
          </p:cNvSpPr>
          <p:nvPr/>
        </p:nvSpPr>
        <p:spPr>
          <a:xfrm>
            <a:off x="4343400" y="2857500"/>
            <a:ext cx="3314700" cy="57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F79879-CDA0-41F1-9E94-2D07F52D247D}"/>
              </a:ext>
            </a:extLst>
          </p:cNvPr>
          <p:cNvSpPr>
            <a:spLocks noGrp="1"/>
          </p:cNvSpPr>
          <p:nvPr/>
        </p:nvSpPr>
        <p:spPr>
          <a:xfrm>
            <a:off x="4495800" y="30670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4D7E0F-DA24-4166-8E66-BDBAAAC5CD7B}"/>
              </a:ext>
            </a:extLst>
          </p:cNvPr>
          <p:cNvSpPr>
            <a:spLocks noGrp="1"/>
          </p:cNvSpPr>
          <p:nvPr/>
        </p:nvSpPr>
        <p:spPr>
          <a:xfrm>
            <a:off x="4495800" y="3448050"/>
            <a:ext cx="30099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Three layers: sprite-specific feature score, standard image metrics, and exact-match audit. Acronyms stay in backup unless asked.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F60CC2-7E5A-4FF1-9F6A-DA8D01D7FFC3}"/>
              </a:ext>
            </a:extLst>
          </p:cNvPr>
          <p:cNvSpPr>
            <a:spLocks noGrp="1"/>
          </p:cNvSpPr>
          <p:nvPr/>
        </p:nvSpPr>
        <p:spPr>
          <a:xfrm>
            <a:off x="8020050" y="2857500"/>
            <a:ext cx="3314700" cy="179070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69FC38-A403-4D71-BE82-007831F78043}"/>
              </a:ext>
            </a:extLst>
          </p:cNvPr>
          <p:cNvSpPr>
            <a:spLocks noGrp="1"/>
          </p:cNvSpPr>
          <p:nvPr/>
        </p:nvSpPr>
        <p:spPr>
          <a:xfrm>
            <a:off x="8020050" y="2857500"/>
            <a:ext cx="3314700" cy="5715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82D029-CE53-431B-B3D9-74840697F73A}"/>
              </a:ext>
            </a:extLst>
          </p:cNvPr>
          <p:cNvSpPr>
            <a:spLocks noGrp="1"/>
          </p:cNvSpPr>
          <p:nvPr/>
        </p:nvSpPr>
        <p:spPr>
          <a:xfrm>
            <a:off x="8172450" y="30670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05F01B-2322-4A05-9C98-2DD05CD48A2C}"/>
              </a:ext>
            </a:extLst>
          </p:cNvPr>
          <p:cNvSpPr>
            <a:spLocks noGrp="1"/>
          </p:cNvSpPr>
          <p:nvPr/>
        </p:nvSpPr>
        <p:spPr>
          <a:xfrm>
            <a:off x="8172450" y="3448050"/>
            <a:ext cx="30099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Internal: HMAR, Flat AR, Flat MaskGIT, generated/mixed, Patch-VQ. External: SD-piXL, SSD-1B, Pokemon sprite LoRA.</a:t>
            </a:r>
          </a:p>
        </p:txBody>
      </p:sp>
    </p:spTree>
    <p:extLst>
      <p:ext uri="{BB962C8B-B14F-4D97-AF65-F5344CB8AC3E}">
        <p14:creationId xmlns:p14="http://schemas.microsoft.com/office/powerpoint/2010/main" val="87476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8359FF0-396A-4D70-83DC-3BE6F55FBC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4549B7-AB91-4661-B722-C9A04BB0C1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7-marker">
            <a:extLst>
              <a:ext uri="{FF2B5EF4-FFF2-40B4-BE49-F238E27FC236}">
                <a16:creationId xmlns:a16="http://schemas.microsoft.com/office/drawing/2014/main" id="{C7EF1ED7-1778-44C2-84B1-C82C2D90772F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7-label">
            <a:extLst>
              <a:ext uri="{FF2B5EF4-FFF2-40B4-BE49-F238E27FC236}">
                <a16:creationId xmlns:a16="http://schemas.microsoft.com/office/drawing/2014/main" id="{58CFEF7B-F7FF-47AB-9A56-B4DB24D275CD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0FFA1-A5B0-49C2-B826-4A03E55147AB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produces compact, palette-safe 32x32 sprites.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EE018-E671-4D31-81ED-5819D0BFAC1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ED6EF2-0685-4D1B-A7DA-9ED99F55D2CC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4572000" cy="47625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676" y="1504950"/>
            <a:ext cx="4209448" cy="46863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87998E-8DF7-49F3-8A9E-6794358760B9}"/>
              </a:ext>
            </a:extLst>
          </p:cNvPr>
          <p:cNvSpPr>
            <a:spLocks noGrp="1"/>
          </p:cNvSpPr>
          <p:nvPr/>
        </p:nvSpPr>
        <p:spPr>
          <a:xfrm>
            <a:off x="5753100" y="1485900"/>
            <a:ext cx="5334000" cy="24384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00813" y="1524000"/>
            <a:ext cx="3838575" cy="23622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1641912-6537-4D79-8155-EE5480FFCF1F}"/>
              </a:ext>
            </a:extLst>
          </p:cNvPr>
          <p:cNvSpPr>
            <a:spLocks noGrp="1"/>
          </p:cNvSpPr>
          <p:nvPr/>
        </p:nvSpPr>
        <p:spPr>
          <a:xfrm>
            <a:off x="5924550" y="4305300"/>
            <a:ext cx="171450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555957-FCF6-482F-9174-4DA87381CE6E}"/>
              </a:ext>
            </a:extLst>
          </p:cNvPr>
          <p:cNvSpPr>
            <a:spLocks noGrp="1"/>
          </p:cNvSpPr>
          <p:nvPr/>
        </p:nvSpPr>
        <p:spPr>
          <a:xfrm>
            <a:off x="5924550" y="4305300"/>
            <a:ext cx="47625" cy="819150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76745A-B581-4B8B-B63F-79ADC30EB6F4}"/>
              </a:ext>
            </a:extLst>
          </p:cNvPr>
          <p:cNvSpPr>
            <a:spLocks noGrp="1"/>
          </p:cNvSpPr>
          <p:nvPr/>
        </p:nvSpPr>
        <p:spPr>
          <a:xfrm>
            <a:off x="6096000" y="4410075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8FA13C-9109-4172-A624-915FC6D1E808}"/>
              </a:ext>
            </a:extLst>
          </p:cNvPr>
          <p:cNvSpPr>
            <a:spLocks noGrp="1"/>
          </p:cNvSpPr>
          <p:nvPr/>
        </p:nvSpPr>
        <p:spPr>
          <a:xfrm>
            <a:off x="6096000" y="4743450"/>
            <a:ext cx="1409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A4BDD-2C12-44E6-88AE-3118A7621B09}"/>
              </a:ext>
            </a:extLst>
          </p:cNvPr>
          <p:cNvSpPr>
            <a:spLocks noGrp="1"/>
          </p:cNvSpPr>
          <p:nvPr/>
        </p:nvSpPr>
        <p:spPr>
          <a:xfrm>
            <a:off x="6096000" y="4895850"/>
            <a:ext cx="1409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E971E-2AAB-4492-A8B3-5A9000B3994E}"/>
              </a:ext>
            </a:extLst>
          </p:cNvPr>
          <p:cNvSpPr>
            <a:spLocks noGrp="1"/>
          </p:cNvSpPr>
          <p:nvPr/>
        </p:nvSpPr>
        <p:spPr>
          <a:xfrm>
            <a:off x="7848600" y="4305300"/>
            <a:ext cx="171450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36DC90-6CAB-428D-8F62-5D1A8EF46402}"/>
              </a:ext>
            </a:extLst>
          </p:cNvPr>
          <p:cNvSpPr>
            <a:spLocks noGrp="1"/>
          </p:cNvSpPr>
          <p:nvPr/>
        </p:nvSpPr>
        <p:spPr>
          <a:xfrm>
            <a:off x="7848600" y="4305300"/>
            <a:ext cx="47625" cy="819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DF9E0D-9BCE-48C6-A552-8E7E8E4184F0}"/>
              </a:ext>
            </a:extLst>
          </p:cNvPr>
          <p:cNvSpPr>
            <a:spLocks noGrp="1"/>
          </p:cNvSpPr>
          <p:nvPr/>
        </p:nvSpPr>
        <p:spPr>
          <a:xfrm>
            <a:off x="8020050" y="4410075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5329A4-BE4D-49B9-8758-B9BCA779049D}"/>
              </a:ext>
            </a:extLst>
          </p:cNvPr>
          <p:cNvSpPr>
            <a:spLocks noGrp="1"/>
          </p:cNvSpPr>
          <p:nvPr/>
        </p:nvSpPr>
        <p:spPr>
          <a:xfrm>
            <a:off x="8020050" y="4743450"/>
            <a:ext cx="1409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29256-CC7B-457C-9636-9DF25E29A1B7}"/>
              </a:ext>
            </a:extLst>
          </p:cNvPr>
          <p:cNvSpPr>
            <a:spLocks noGrp="1"/>
          </p:cNvSpPr>
          <p:nvPr/>
        </p:nvSpPr>
        <p:spPr>
          <a:xfrm>
            <a:off x="8020050" y="4895850"/>
            <a:ext cx="14097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from tokens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AC9047-6E76-4FF3-AF80-CD995F4A2C50}"/>
              </a:ext>
            </a:extLst>
          </p:cNvPr>
          <p:cNvSpPr>
            <a:spLocks noGrp="1"/>
          </p:cNvSpPr>
          <p:nvPr/>
        </p:nvSpPr>
        <p:spPr>
          <a:xfrm>
            <a:off x="9772650" y="4305300"/>
            <a:ext cx="152400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FD3197-0864-4391-9A9E-E996F1B559C2}"/>
              </a:ext>
            </a:extLst>
          </p:cNvPr>
          <p:cNvSpPr>
            <a:spLocks noGrp="1"/>
          </p:cNvSpPr>
          <p:nvPr/>
        </p:nvSpPr>
        <p:spPr>
          <a:xfrm>
            <a:off x="9772650" y="4305300"/>
            <a:ext cx="47625" cy="81915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8CA128-76CE-4206-B362-D0D8A83283DE}"/>
              </a:ext>
            </a:extLst>
          </p:cNvPr>
          <p:cNvSpPr>
            <a:spLocks noGrp="1"/>
          </p:cNvSpPr>
          <p:nvPr/>
        </p:nvSpPr>
        <p:spPr>
          <a:xfrm>
            <a:off x="9944100" y="4410075"/>
            <a:ext cx="1219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AF098B-D114-43F9-8FAA-E9DB7A845478}"/>
              </a:ext>
            </a:extLst>
          </p:cNvPr>
          <p:cNvSpPr>
            <a:spLocks noGrp="1"/>
          </p:cNvSpPr>
          <p:nvPr/>
        </p:nvSpPr>
        <p:spPr>
          <a:xfrm>
            <a:off x="9944100" y="4743450"/>
            <a:ext cx="12192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8AEA92-5352-4623-90DE-64A8DE919B1C}"/>
              </a:ext>
            </a:extLst>
          </p:cNvPr>
          <p:cNvSpPr>
            <a:spLocks noGrp="1"/>
          </p:cNvSpPr>
          <p:nvPr/>
        </p:nvSpPr>
        <p:spPr>
          <a:xfrm>
            <a:off x="9944100" y="4895850"/>
            <a:ext cx="12192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CE238A-B641-425C-8458-46D70A4FF103}"/>
              </a:ext>
            </a:extLst>
          </p:cNvPr>
          <p:cNvSpPr>
            <a:spLocks noGrp="1"/>
          </p:cNvSpPr>
          <p:nvPr/>
        </p:nvSpPr>
        <p:spPr>
          <a:xfrm>
            <a:off x="5924550" y="5429250"/>
            <a:ext cx="495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sampling: temperature=0.8, </a:t>
            </a:r>
            <a:r>
              <a:rPr sz="1125" b="0" dirty="0" err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top_k</a:t>
            </a:r>
            <a:r>
              <a:rPr sz="1125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=8. Palette </a:t>
            </a:r>
            <a:r>
              <a:rPr lang="tr-TR" sz="1125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consistency </a:t>
            </a:r>
            <a:r>
              <a:rPr sz="1125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is expected from the discrete representation</a:t>
            </a:r>
            <a:r>
              <a:rPr lang="tr-TR" sz="1125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.</a:t>
            </a:r>
            <a:endParaRPr sz="1125" b="0" dirty="0">
              <a:solidFill>
                <a:srgbClr val="F4EEE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37194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7B40590-2199-4833-B1FE-8ABAAA4E41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CD4A2-6623-4777-A974-C1D5FE24E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8-marker">
            <a:extLst>
              <a:ext uri="{FF2B5EF4-FFF2-40B4-BE49-F238E27FC236}">
                <a16:creationId xmlns:a16="http://schemas.microsoft.com/office/drawing/2014/main" id="{9F72EB43-182F-4979-90FC-2EC8625C9237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8-label">
            <a:extLst>
              <a:ext uri="{FF2B5EF4-FFF2-40B4-BE49-F238E27FC236}">
                <a16:creationId xmlns:a16="http://schemas.microsoft.com/office/drawing/2014/main" id="{171BAB78-A0B7-42A3-AD7E-77E24BA766D7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SAMPLE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09059-5902-4E41-BB8E-DFC3A059A66E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model was chosen against several implemented branches.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4AF3E6-31A0-4035-AD54-1A61E2823BE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0B609B-D537-4F79-B806-D8F9859F67B0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Real-only VAR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75B334-715F-4B46-BF2C-4FB37148A1D6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0.00147, main 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1FB4C0-D735-46CD-9BF3-79A9E3B0A9C7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3314700" cy="15240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t="27647" b="27647"/>
          <a:stretch>
            <a:fillRect/>
          </a:stretch>
        </p:blipFill>
        <p:spPr>
          <a:xfrm>
            <a:off x="590550" y="2057400"/>
            <a:ext cx="3238500" cy="1447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562E914-69A8-4ACB-A8A5-5815B6E892CD}"/>
              </a:ext>
            </a:extLst>
          </p:cNvPr>
          <p:cNvSpPr>
            <a:spLocks noGrp="1"/>
          </p:cNvSpPr>
          <p:nvPr/>
        </p:nvSpPr>
        <p:spPr>
          <a:xfrm>
            <a:off x="4381500" y="1466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F75569-F10D-4E64-B520-951399ECB395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0.00189, close but behind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DA95AB-439C-449B-B858-28E4C402FD46}"/>
              </a:ext>
            </a:extLst>
          </p:cNvPr>
          <p:cNvSpPr>
            <a:spLocks noGrp="1"/>
          </p:cNvSpPr>
          <p:nvPr/>
        </p:nvSpPr>
        <p:spPr>
          <a:xfrm>
            <a:off x="4381500" y="2019300"/>
            <a:ext cx="3314700" cy="15240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rcRect t="27647" b="27647"/>
          <a:stretch>
            <a:fillRect/>
          </a:stretch>
        </p:blipFill>
        <p:spPr>
          <a:xfrm>
            <a:off x="4419600" y="2057400"/>
            <a:ext cx="3238500" cy="1447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5E3EB-0A25-476A-B713-07B791860AB9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Generated-keep VAR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0D802-C3FF-4519-9446-5E7738F2A59F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0.00157 self-reference; not direct real-val winner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4F430B-0E27-41DF-9638-04C02F8841BE}"/>
              </a:ext>
            </a:extLst>
          </p:cNvPr>
          <p:cNvSpPr>
            <a:spLocks noGrp="1"/>
          </p:cNvSpPr>
          <p:nvPr/>
        </p:nvSpPr>
        <p:spPr>
          <a:xfrm>
            <a:off x="8210550" y="2019300"/>
            <a:ext cx="3314700" cy="15240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rcRect t="27647" b="27647"/>
          <a:stretch>
            <a:fillRect/>
          </a:stretch>
        </p:blipFill>
        <p:spPr>
          <a:xfrm>
            <a:off x="8248650" y="2057400"/>
            <a:ext cx="3238500" cy="14478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74CAE99-C5EE-406D-8173-CF55F23529A3}"/>
              </a:ext>
            </a:extLst>
          </p:cNvPr>
          <p:cNvSpPr>
            <a:spLocks noGrp="1"/>
          </p:cNvSpPr>
          <p:nvPr/>
        </p:nvSpPr>
        <p:spPr>
          <a:xfrm>
            <a:off x="552450" y="3848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Real + generated VAR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6F88FF-D40A-4956-9BD3-9F1A306CD0D2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0.00755, larger data did not help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485A17-4257-4032-994C-5B3AAB9C89D4}"/>
              </a:ext>
            </a:extLst>
          </p:cNvPr>
          <p:cNvSpPr>
            <a:spLocks noGrp="1"/>
          </p:cNvSpPr>
          <p:nvPr/>
        </p:nvSpPr>
        <p:spPr>
          <a:xfrm>
            <a:off x="552450" y="4400550"/>
            <a:ext cx="3314700" cy="15240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rcRect t="27647" b="27647"/>
          <a:stretch>
            <a:fillRect/>
          </a:stretch>
        </p:blipFill>
        <p:spPr>
          <a:xfrm>
            <a:off x="590550" y="4438650"/>
            <a:ext cx="3238500" cy="14478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0549D58-81C8-4F34-B76B-EA9FABF977FD}"/>
              </a:ext>
            </a:extLst>
          </p:cNvPr>
          <p:cNvSpPr>
            <a:spLocks noGrp="1"/>
          </p:cNvSpPr>
          <p:nvPr/>
        </p:nvSpPr>
        <p:spPr>
          <a:xfrm>
            <a:off x="4381500" y="3848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OpenGameArt-mixed VAR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0C13B7-0575-4121-972E-7D26A71E08CB}"/>
              </a:ext>
            </a:extLst>
          </p:cNvPr>
          <p:cNvSpPr>
            <a:spLocks noGrp="1"/>
          </p:cNvSpPr>
          <p:nvPr/>
        </p:nvSpPr>
        <p:spPr>
          <a:xfrm>
            <a:off x="4381500" y="40957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0.00778, public-data path worked but mismatched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BF7ADC-E625-4009-BBCC-5A6E2FFFBF61}"/>
              </a:ext>
            </a:extLst>
          </p:cNvPr>
          <p:cNvSpPr>
            <a:spLocks noGrp="1"/>
          </p:cNvSpPr>
          <p:nvPr/>
        </p:nvSpPr>
        <p:spPr>
          <a:xfrm>
            <a:off x="4381500" y="4400550"/>
            <a:ext cx="3314700" cy="15240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rcRect t="27647" b="27647"/>
          <a:stretch>
            <a:fillRect/>
          </a:stretch>
        </p:blipFill>
        <p:spPr>
          <a:xfrm>
            <a:off x="4419600" y="4438650"/>
            <a:ext cx="3238500" cy="14478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7E8AA04-F386-494A-9BF8-58620921139D}"/>
              </a:ext>
            </a:extLst>
          </p:cNvPr>
          <p:cNvSpPr>
            <a:spLocks noGrp="1"/>
          </p:cNvSpPr>
          <p:nvPr/>
        </p:nvSpPr>
        <p:spPr>
          <a:xfrm>
            <a:off x="8210550" y="3848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Patch-VQ VAR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A43633-274A-4626-9E4E-A19085067E7B}"/>
              </a:ext>
            </a:extLst>
          </p:cNvPr>
          <p:cNvSpPr>
            <a:spLocks noGrp="1"/>
          </p:cNvSpPr>
          <p:nvPr/>
        </p:nvSpPr>
        <p:spPr>
          <a:xfrm>
            <a:off x="8210550" y="40957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0.04689, learned-token ablation was blockier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F7892A-52F3-477C-AD7E-C2F1DF4C07C5}"/>
              </a:ext>
            </a:extLst>
          </p:cNvPr>
          <p:cNvSpPr>
            <a:spLocks noGrp="1"/>
          </p:cNvSpPr>
          <p:nvPr/>
        </p:nvSpPr>
        <p:spPr>
          <a:xfrm>
            <a:off x="8210550" y="4400550"/>
            <a:ext cx="3314700" cy="15240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rcRect t="27647" b="27647"/>
          <a:stretch>
            <a:fillRect/>
          </a:stretch>
        </p:blipFill>
        <p:spPr>
          <a:xfrm>
            <a:off x="8248650" y="4438650"/>
            <a:ext cx="32385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5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BC300B6-1CE0-49B9-AF8D-E53A5A282B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D2C741-9107-4377-BAFF-07D103C9D4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9-marker">
            <a:extLst>
              <a:ext uri="{FF2B5EF4-FFF2-40B4-BE49-F238E27FC236}">
                <a16:creationId xmlns:a16="http://schemas.microsoft.com/office/drawing/2014/main" id="{36FB64F0-9081-440A-AD2B-8AB7A6BD9834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9-label">
            <a:extLst>
              <a:ext uri="{FF2B5EF4-FFF2-40B4-BE49-F238E27FC236}">
                <a16:creationId xmlns:a16="http://schemas.microsoft.com/office/drawing/2014/main" id="{0234FD0C-DA2A-44E3-953C-59BC9643F03E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03BEC-E974-4F94-9961-1C9ED1C99991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refinement did not help.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31E45-FF3E-488A-98C0-2CA913B845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D3154A-B9D3-41A0-86B4-67244253E353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5619750" cy="27813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0264" y="1524000"/>
            <a:ext cx="5462221" cy="2705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C42F04-5210-433F-A7D0-42BFEF462DFD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A68CEA-4665-4915-89A4-62FA21EB931A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23431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927F46-CE68-47D3-B375-34DE29276D58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419030" cy="152400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65002D-A59D-4B80-B6C0-41DED4830982}"/>
              </a:ext>
            </a:extLst>
          </p:cNvPr>
          <p:cNvSpPr>
            <a:spLocks noGrp="1"/>
          </p:cNvSpPr>
          <p:nvPr/>
        </p:nvSpPr>
        <p:spPr>
          <a:xfrm>
            <a:off x="10648950" y="1704975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0E0209-1E47-4370-986C-841FFC0DD211}"/>
              </a:ext>
            </a:extLst>
          </p:cNvPr>
          <p:cNvSpPr>
            <a:spLocks noGrp="1"/>
          </p:cNvSpPr>
          <p:nvPr/>
        </p:nvSpPr>
        <p:spPr>
          <a:xfrm>
            <a:off x="6762750" y="21145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B4733A-2E89-4101-AF5E-F4B4BE71736F}"/>
              </a:ext>
            </a:extLst>
          </p:cNvPr>
          <p:cNvSpPr>
            <a:spLocks noGrp="1"/>
          </p:cNvSpPr>
          <p:nvPr/>
        </p:nvSpPr>
        <p:spPr>
          <a:xfrm>
            <a:off x="8191500" y="2152650"/>
            <a:ext cx="23431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3610DB-4A81-4986-BA66-35B440FAA809}"/>
              </a:ext>
            </a:extLst>
          </p:cNvPr>
          <p:cNvSpPr>
            <a:spLocks noGrp="1"/>
          </p:cNvSpPr>
          <p:nvPr/>
        </p:nvSpPr>
        <p:spPr>
          <a:xfrm>
            <a:off x="8191500" y="2152650"/>
            <a:ext cx="538753" cy="15240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009A2D-1668-4E25-BF96-10A6B0FDC50B}"/>
              </a:ext>
            </a:extLst>
          </p:cNvPr>
          <p:cNvSpPr>
            <a:spLocks noGrp="1"/>
          </p:cNvSpPr>
          <p:nvPr/>
        </p:nvSpPr>
        <p:spPr>
          <a:xfrm>
            <a:off x="10648950" y="2105025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068429-CD66-4DB0-8BCB-9572FDA6F7B1}"/>
              </a:ext>
            </a:extLst>
          </p:cNvPr>
          <p:cNvSpPr>
            <a:spLocks noGrp="1"/>
          </p:cNvSpPr>
          <p:nvPr/>
        </p:nvSpPr>
        <p:spPr>
          <a:xfrm>
            <a:off x="6762750" y="2514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7DEAE0-5CE7-40F9-B141-D7798EB7F94B}"/>
              </a:ext>
            </a:extLst>
          </p:cNvPr>
          <p:cNvSpPr>
            <a:spLocks noGrp="1"/>
          </p:cNvSpPr>
          <p:nvPr/>
        </p:nvSpPr>
        <p:spPr>
          <a:xfrm>
            <a:off x="8191500" y="2552700"/>
            <a:ext cx="23431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63808F-956A-4735-8359-F3B866F244D8}"/>
              </a:ext>
            </a:extLst>
          </p:cNvPr>
          <p:cNvSpPr>
            <a:spLocks noGrp="1"/>
          </p:cNvSpPr>
          <p:nvPr/>
        </p:nvSpPr>
        <p:spPr>
          <a:xfrm>
            <a:off x="8191500" y="2552700"/>
            <a:ext cx="1066105" cy="1524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6B8793-0114-4DD4-AD28-B893AA533840}"/>
              </a:ext>
            </a:extLst>
          </p:cNvPr>
          <p:cNvSpPr>
            <a:spLocks noGrp="1"/>
          </p:cNvSpPr>
          <p:nvPr/>
        </p:nvSpPr>
        <p:spPr>
          <a:xfrm>
            <a:off x="10648950" y="2505075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3DC8F-6AEF-4D7A-A808-5393C07766DC}"/>
              </a:ext>
            </a:extLst>
          </p:cNvPr>
          <p:cNvSpPr>
            <a:spLocks noGrp="1"/>
          </p:cNvSpPr>
          <p:nvPr/>
        </p:nvSpPr>
        <p:spPr>
          <a:xfrm>
            <a:off x="6762750" y="29146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E1803E-7CC4-4AF8-A2AE-B7B1D0FA239B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23431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E70330-00A9-48A9-AB66-4D91FF6E4171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1043300" cy="1524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07B44B-615C-4C6C-AAA3-1AD8F61C418D}"/>
              </a:ext>
            </a:extLst>
          </p:cNvPr>
          <p:cNvSpPr>
            <a:spLocks noGrp="1"/>
          </p:cNvSpPr>
          <p:nvPr/>
        </p:nvSpPr>
        <p:spPr>
          <a:xfrm>
            <a:off x="10648950" y="2905125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CC4F9C-A33B-4220-A6FA-5CFBA3AD44EC}"/>
              </a:ext>
            </a:extLst>
          </p:cNvPr>
          <p:cNvSpPr>
            <a:spLocks noGrp="1"/>
          </p:cNvSpPr>
          <p:nvPr/>
        </p:nvSpPr>
        <p:spPr>
          <a:xfrm>
            <a:off x="6762750" y="3314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FFC719-DD48-4FCE-9FDD-701D3944C839}"/>
              </a:ext>
            </a:extLst>
          </p:cNvPr>
          <p:cNvSpPr>
            <a:spLocks noGrp="1"/>
          </p:cNvSpPr>
          <p:nvPr/>
        </p:nvSpPr>
        <p:spPr>
          <a:xfrm>
            <a:off x="8191500" y="3352800"/>
            <a:ext cx="2343150" cy="152400"/>
          </a:xfrm>
          <a:prstGeom prst="rect">
            <a:avLst/>
          </a:prstGeom>
          <a:solidFill>
            <a:srgbClr val="2B2C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DC1748-B4C6-4E26-8DDF-EBC136F130FD}"/>
              </a:ext>
            </a:extLst>
          </p:cNvPr>
          <p:cNvSpPr>
            <a:spLocks noGrp="1"/>
          </p:cNvSpPr>
          <p:nvPr/>
        </p:nvSpPr>
        <p:spPr>
          <a:xfrm>
            <a:off x="8191500" y="3352800"/>
            <a:ext cx="2343150" cy="152400"/>
          </a:xfrm>
          <a:prstGeom prst="rect">
            <a:avLst/>
          </a:prstGeom>
          <a:solidFill>
            <a:srgbClr val="E85D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5483EC-4D0E-450C-9878-AA72A03C86C0}"/>
              </a:ext>
            </a:extLst>
          </p:cNvPr>
          <p:cNvSpPr>
            <a:spLocks noGrp="1"/>
          </p:cNvSpPr>
          <p:nvPr/>
        </p:nvSpPr>
        <p:spPr>
          <a:xfrm>
            <a:off x="10648950" y="3305175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833B71-28A3-4083-804B-8565FD9B0C59}"/>
              </a:ext>
            </a:extLst>
          </p:cNvPr>
          <p:cNvSpPr>
            <a:spLocks noGrp="1"/>
          </p:cNvSpPr>
          <p:nvPr/>
        </p:nvSpPr>
        <p:spPr>
          <a:xfrm>
            <a:off x="6762750" y="4114800"/>
            <a:ext cx="4572000" cy="186690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AC7ACB-EE9B-47BA-B49F-34FB0D8A9E0C}"/>
              </a:ext>
            </a:extLst>
          </p:cNvPr>
          <p:cNvSpPr>
            <a:spLocks noGrp="1"/>
          </p:cNvSpPr>
          <p:nvPr/>
        </p:nvSpPr>
        <p:spPr>
          <a:xfrm>
            <a:off x="6858000" y="41910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68263-CE25-48A5-901D-AB53AA6E84B7}"/>
              </a:ext>
            </a:extLst>
          </p:cNvPr>
          <p:cNvSpPr>
            <a:spLocks noGrp="1"/>
          </p:cNvSpPr>
          <p:nvPr/>
        </p:nvSpPr>
        <p:spPr>
          <a:xfrm>
            <a:off x="8477250" y="419100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177EE5-0675-43C5-98D3-1D5E714136E6}"/>
              </a:ext>
            </a:extLst>
          </p:cNvPr>
          <p:cNvSpPr>
            <a:spLocks noGrp="1"/>
          </p:cNvSpPr>
          <p:nvPr/>
        </p:nvSpPr>
        <p:spPr>
          <a:xfrm>
            <a:off x="6762750" y="4438650"/>
            <a:ext cx="4572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7E71AC-E9CB-4945-A0AE-8E605C7E6F12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485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C0CCB6-5F2C-41DA-A35E-A4DC4222F35D}"/>
              </a:ext>
            </a:extLst>
          </p:cNvPr>
          <p:cNvSpPr>
            <a:spLocks noGrp="1"/>
          </p:cNvSpPr>
          <p:nvPr/>
        </p:nvSpPr>
        <p:spPr>
          <a:xfrm>
            <a:off x="8477250" y="4514850"/>
            <a:ext cx="2819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larger data did not improve real-validation score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7893A1-0BC5-428A-92E7-9456E50496A7}"/>
              </a:ext>
            </a:extLst>
          </p:cNvPr>
          <p:cNvSpPr>
            <a:spLocks noGrp="1"/>
          </p:cNvSpPr>
          <p:nvPr/>
        </p:nvSpPr>
        <p:spPr>
          <a:xfrm>
            <a:off x="6762750" y="4953000"/>
            <a:ext cx="4572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5DB94C-7911-44D0-87CA-A0BE65FF3658}"/>
              </a:ext>
            </a:extLst>
          </p:cNvPr>
          <p:cNvSpPr>
            <a:spLocks noGrp="1"/>
          </p:cNvSpPr>
          <p:nvPr/>
        </p:nvSpPr>
        <p:spPr>
          <a:xfrm>
            <a:off x="6762750" y="4953000"/>
            <a:ext cx="4572000" cy="5143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44EB3C-C80E-4BFD-93BE-B9AE14653C00}"/>
              </a:ext>
            </a:extLst>
          </p:cNvPr>
          <p:cNvSpPr>
            <a:spLocks noGrp="1"/>
          </p:cNvSpPr>
          <p:nvPr/>
        </p:nvSpPr>
        <p:spPr>
          <a:xfrm>
            <a:off x="6858000" y="5029200"/>
            <a:ext cx="1485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B7C4B0-5341-4486-8412-C5AFF2F2F083}"/>
              </a:ext>
            </a:extLst>
          </p:cNvPr>
          <p:cNvSpPr>
            <a:spLocks noGrp="1"/>
          </p:cNvSpPr>
          <p:nvPr/>
        </p:nvSpPr>
        <p:spPr>
          <a:xfrm>
            <a:off x="8477250" y="5029200"/>
            <a:ext cx="2819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pipeline useful, distribution mismatch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2F7B84-3F53-495E-93C3-448FFBE54EC5}"/>
              </a:ext>
            </a:extLst>
          </p:cNvPr>
          <p:cNvSpPr>
            <a:spLocks noGrp="1"/>
          </p:cNvSpPr>
          <p:nvPr/>
        </p:nvSpPr>
        <p:spPr>
          <a:xfrm>
            <a:off x="6762750" y="5467350"/>
            <a:ext cx="4572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4D38DF-BF25-4801-9DE3-A72895C8661A}"/>
              </a:ext>
            </a:extLst>
          </p:cNvPr>
          <p:cNvSpPr>
            <a:spLocks noGrp="1"/>
          </p:cNvSpPr>
          <p:nvPr/>
        </p:nvSpPr>
        <p:spPr>
          <a:xfrm>
            <a:off x="6858000" y="5543550"/>
            <a:ext cx="1485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23B65F-36FF-4029-B195-83D8F01D5917}"/>
              </a:ext>
            </a:extLst>
          </p:cNvPr>
          <p:cNvSpPr>
            <a:spLocks noGrp="1"/>
          </p:cNvSpPr>
          <p:nvPr/>
        </p:nvSpPr>
        <p:spPr>
          <a:xfrm>
            <a:off x="8477250" y="5543550"/>
            <a:ext cx="2819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path worked but was blockier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5E6A4A-E9CA-4B6E-A574-676A821A020D}"/>
              </a:ext>
            </a:extLst>
          </p:cNvPr>
          <p:cNvSpPr>
            <a:spLocks noGrp="1"/>
          </p:cNvSpPr>
          <p:nvPr/>
        </p:nvSpPr>
        <p:spPr>
          <a:xfrm>
            <a:off x="704850" y="4991100"/>
            <a:ext cx="533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lang="tr-TR" sz="1275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</a:t>
            </a:r>
            <a:r>
              <a:rPr sz="1275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ore refinement and more data were not automatically better in this low-resolution palette-token regime.</a:t>
            </a:r>
          </a:p>
        </p:txBody>
      </p:sp>
    </p:spTree>
    <p:extLst>
      <p:ext uri="{BB962C8B-B14F-4D97-AF65-F5344CB8AC3E}">
        <p14:creationId xmlns:p14="http://schemas.microsoft.com/office/powerpoint/2010/main" val="1072817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E7AF988D-6FE0-46AC-9800-984D73CA79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C464DF-81AE-444C-99F3-B41E1D3EB6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marker">
            <a:extLst>
              <a:ext uri="{FF2B5EF4-FFF2-40B4-BE49-F238E27FC236}">
                <a16:creationId xmlns:a16="http://schemas.microsoft.com/office/drawing/2014/main" id="{FB081245-2360-473D-A8EA-DA89C20362C1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0-label">
            <a:extLst>
              <a:ext uri="{FF2B5EF4-FFF2-40B4-BE49-F238E27FC236}">
                <a16:creationId xmlns:a16="http://schemas.microsoft.com/office/drawing/2014/main" id="{DA995901-D445-4E96-9B7E-69AEAF3D2B7D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PIXEL-ART DOMAIN METRICS: FULL INTERNAL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21810-D596-446B-B9D0-289B2777D2C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Palette consistency is perfect by construction; structure and exact-match metrics carry more interpretive weight.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15E9D0-AFB7-4E79-B5D6-519F620D894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EAD2BA-574D-4327-B604-CDFBD1F020EB}"/>
              </a:ext>
            </a:extLst>
          </p:cNvPr>
          <p:cNvSpPr>
            <a:spLocks noGrp="1"/>
          </p:cNvSpPr>
          <p:nvPr/>
        </p:nvSpPr>
        <p:spPr>
          <a:xfrm>
            <a:off x="419100" y="1638298"/>
            <a:ext cx="11239500" cy="23812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526F8-F3C7-4B15-B6E3-C985438E3E96}"/>
              </a:ext>
            </a:extLst>
          </p:cNvPr>
          <p:cNvSpPr>
            <a:spLocks noGrp="1"/>
          </p:cNvSpPr>
          <p:nvPr/>
        </p:nvSpPr>
        <p:spPr>
          <a:xfrm>
            <a:off x="514350" y="1714498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DD6C6-AD26-404D-BFA0-32C77779EB09}"/>
              </a:ext>
            </a:extLst>
          </p:cNvPr>
          <p:cNvSpPr>
            <a:spLocks noGrp="1"/>
          </p:cNvSpPr>
          <p:nvPr/>
        </p:nvSpPr>
        <p:spPr>
          <a:xfrm>
            <a:off x="2228850" y="171449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CFCC9-2ED1-41FB-BE3D-265BB08FF984}"/>
              </a:ext>
            </a:extLst>
          </p:cNvPr>
          <p:cNvSpPr>
            <a:spLocks noGrp="1"/>
          </p:cNvSpPr>
          <p:nvPr/>
        </p:nvSpPr>
        <p:spPr>
          <a:xfrm>
            <a:off x="3181350" y="1714498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FB384E-9413-4EF9-A313-05E6E8AA08DB}"/>
              </a:ext>
            </a:extLst>
          </p:cNvPr>
          <p:cNvSpPr>
            <a:spLocks noGrp="1"/>
          </p:cNvSpPr>
          <p:nvPr/>
        </p:nvSpPr>
        <p:spPr>
          <a:xfrm>
            <a:off x="4181475" y="1714498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opaque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4A867-00C2-41B5-A77B-863C15484F50}"/>
              </a:ext>
            </a:extLst>
          </p:cNvPr>
          <p:cNvSpPr>
            <a:spLocks noGrp="1"/>
          </p:cNvSpPr>
          <p:nvPr/>
        </p:nvSpPr>
        <p:spPr>
          <a:xfrm>
            <a:off x="5181600" y="1714498"/>
            <a:ext cx="7715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F78D04-A2A1-400A-BBD1-F83CBC3F453F}"/>
              </a:ext>
            </a:extLst>
          </p:cNvPr>
          <p:cNvSpPr>
            <a:spLocks noGrp="1"/>
          </p:cNvSpPr>
          <p:nvPr/>
        </p:nvSpPr>
        <p:spPr>
          <a:xfrm>
            <a:off x="6086475" y="1714498"/>
            <a:ext cx="7715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edge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06D311-24A1-4EEA-8AE1-72220D349A3C}"/>
              </a:ext>
            </a:extLst>
          </p:cNvPr>
          <p:cNvSpPr>
            <a:spLocks noGrp="1"/>
          </p:cNvSpPr>
          <p:nvPr/>
        </p:nvSpPr>
        <p:spPr>
          <a:xfrm>
            <a:off x="6991350" y="1714498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Unique colors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B055F3-38D8-4C77-906D-E2674C010A90}"/>
              </a:ext>
            </a:extLst>
          </p:cNvPr>
          <p:cNvSpPr>
            <a:spLocks noGrp="1"/>
          </p:cNvSpPr>
          <p:nvPr/>
        </p:nvSpPr>
        <p:spPr>
          <a:xfrm>
            <a:off x="8324850" y="1714498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 NN L2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070842-1D48-482F-BA12-DF03F1C4E4AE}"/>
              </a:ext>
            </a:extLst>
          </p:cNvPr>
          <p:cNvSpPr>
            <a:spLocks noGrp="1"/>
          </p:cNvSpPr>
          <p:nvPr/>
        </p:nvSpPr>
        <p:spPr>
          <a:xfrm>
            <a:off x="9563100" y="1714498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EF91E7-CD6B-41AB-BE7D-95A98071647F}"/>
              </a:ext>
            </a:extLst>
          </p:cNvPr>
          <p:cNvSpPr>
            <a:spLocks noGrp="1"/>
          </p:cNvSpPr>
          <p:nvPr/>
        </p:nvSpPr>
        <p:spPr>
          <a:xfrm>
            <a:off x="419100" y="1962148"/>
            <a:ext cx="11239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AC832D-980F-4080-8EA7-B1CB2ABEF8DF}"/>
              </a:ext>
            </a:extLst>
          </p:cNvPr>
          <p:cNvSpPr>
            <a:spLocks noGrp="1"/>
          </p:cNvSpPr>
          <p:nvPr/>
        </p:nvSpPr>
        <p:spPr>
          <a:xfrm>
            <a:off x="514350" y="2038348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FE5679-6210-406C-B441-66FE1056DCB4}"/>
              </a:ext>
            </a:extLst>
          </p:cNvPr>
          <p:cNvSpPr>
            <a:spLocks noGrp="1"/>
          </p:cNvSpPr>
          <p:nvPr/>
        </p:nvSpPr>
        <p:spPr>
          <a:xfrm>
            <a:off x="2228850" y="2038348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14860A-04AD-4B35-8C7B-2154DC5489AC}"/>
              </a:ext>
            </a:extLst>
          </p:cNvPr>
          <p:cNvSpPr>
            <a:spLocks noGrp="1"/>
          </p:cNvSpPr>
          <p:nvPr/>
        </p:nvSpPr>
        <p:spPr>
          <a:xfrm>
            <a:off x="3181350" y="203834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9F7BAB-CC1C-44B9-8DD1-EA8B9F311111}"/>
              </a:ext>
            </a:extLst>
          </p:cNvPr>
          <p:cNvSpPr>
            <a:spLocks noGrp="1"/>
          </p:cNvSpPr>
          <p:nvPr/>
        </p:nvSpPr>
        <p:spPr>
          <a:xfrm>
            <a:off x="4181475" y="203834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E72DE0-F229-4FDA-B78F-359BFF45AE57}"/>
              </a:ext>
            </a:extLst>
          </p:cNvPr>
          <p:cNvSpPr>
            <a:spLocks noGrp="1"/>
          </p:cNvSpPr>
          <p:nvPr/>
        </p:nvSpPr>
        <p:spPr>
          <a:xfrm>
            <a:off x="5181600" y="203834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427B1C-F0EE-43C3-A599-5C8B9F44126B}"/>
              </a:ext>
            </a:extLst>
          </p:cNvPr>
          <p:cNvSpPr>
            <a:spLocks noGrp="1"/>
          </p:cNvSpPr>
          <p:nvPr/>
        </p:nvSpPr>
        <p:spPr>
          <a:xfrm>
            <a:off x="6086475" y="203834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30062-9B97-48E9-9148-9BFC62D5D546}"/>
              </a:ext>
            </a:extLst>
          </p:cNvPr>
          <p:cNvSpPr>
            <a:spLocks noGrp="1"/>
          </p:cNvSpPr>
          <p:nvPr/>
        </p:nvSpPr>
        <p:spPr>
          <a:xfrm>
            <a:off x="6991350" y="2038348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11.9294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4AD9F6-1342-4D26-858A-83FDC6116C87}"/>
              </a:ext>
            </a:extLst>
          </p:cNvPr>
          <p:cNvSpPr>
            <a:spLocks noGrp="1"/>
          </p:cNvSpPr>
          <p:nvPr/>
        </p:nvSpPr>
        <p:spPr>
          <a:xfrm>
            <a:off x="8324850" y="203834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5.2384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9E53B1-13C2-4735-93DB-43FA696F4A24}"/>
              </a:ext>
            </a:extLst>
          </p:cNvPr>
          <p:cNvSpPr>
            <a:spLocks noGrp="1"/>
          </p:cNvSpPr>
          <p:nvPr/>
        </p:nvSpPr>
        <p:spPr>
          <a:xfrm>
            <a:off x="9563100" y="203834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0.000732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F2C253-8ADC-464F-B1C3-5F2C899D8FD2}"/>
              </a:ext>
            </a:extLst>
          </p:cNvPr>
          <p:cNvSpPr>
            <a:spLocks noGrp="1"/>
          </p:cNvSpPr>
          <p:nvPr/>
        </p:nvSpPr>
        <p:spPr>
          <a:xfrm>
            <a:off x="419100" y="2476498"/>
            <a:ext cx="11239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F286D3-DB47-4270-AEDE-F42CDBCF7E33}"/>
              </a:ext>
            </a:extLst>
          </p:cNvPr>
          <p:cNvSpPr>
            <a:spLocks noGrp="1"/>
          </p:cNvSpPr>
          <p:nvPr/>
        </p:nvSpPr>
        <p:spPr>
          <a:xfrm>
            <a:off x="419100" y="2476498"/>
            <a:ext cx="11239500" cy="5143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CB4E38-81CC-4121-A4B5-52BCECD1857A}"/>
              </a:ext>
            </a:extLst>
          </p:cNvPr>
          <p:cNvSpPr>
            <a:spLocks noGrp="1"/>
          </p:cNvSpPr>
          <p:nvPr/>
        </p:nvSpPr>
        <p:spPr>
          <a:xfrm>
            <a:off x="514350" y="2552698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3A03D4-D30C-4EB0-A9BB-3726C9AF92BC}"/>
              </a:ext>
            </a:extLst>
          </p:cNvPr>
          <p:cNvSpPr>
            <a:spLocks noGrp="1"/>
          </p:cNvSpPr>
          <p:nvPr/>
        </p:nvSpPr>
        <p:spPr>
          <a:xfrm>
            <a:off x="2228850" y="2552698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2AB758-A486-4093-9BD4-48BB0C1304C6}"/>
              </a:ext>
            </a:extLst>
          </p:cNvPr>
          <p:cNvSpPr>
            <a:spLocks noGrp="1"/>
          </p:cNvSpPr>
          <p:nvPr/>
        </p:nvSpPr>
        <p:spPr>
          <a:xfrm>
            <a:off x="3181350" y="255269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678C33-AD26-4219-B313-06282054D042}"/>
              </a:ext>
            </a:extLst>
          </p:cNvPr>
          <p:cNvSpPr>
            <a:spLocks noGrp="1"/>
          </p:cNvSpPr>
          <p:nvPr/>
        </p:nvSpPr>
        <p:spPr>
          <a:xfrm>
            <a:off x="4181475" y="255269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52B2DB-AC68-4566-8390-C52DCFE93316}"/>
              </a:ext>
            </a:extLst>
          </p:cNvPr>
          <p:cNvSpPr>
            <a:spLocks noGrp="1"/>
          </p:cNvSpPr>
          <p:nvPr/>
        </p:nvSpPr>
        <p:spPr>
          <a:xfrm>
            <a:off x="5181600" y="255269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C810E5-8538-4B5F-9BE9-602882FBDAF7}"/>
              </a:ext>
            </a:extLst>
          </p:cNvPr>
          <p:cNvSpPr>
            <a:spLocks noGrp="1"/>
          </p:cNvSpPr>
          <p:nvPr/>
        </p:nvSpPr>
        <p:spPr>
          <a:xfrm>
            <a:off x="6086475" y="255269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57A8C2-794A-4243-A3AC-967E2BC4B59F}"/>
              </a:ext>
            </a:extLst>
          </p:cNvPr>
          <p:cNvSpPr>
            <a:spLocks noGrp="1"/>
          </p:cNvSpPr>
          <p:nvPr/>
        </p:nvSpPr>
        <p:spPr>
          <a:xfrm>
            <a:off x="6991350" y="2552698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11.8301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134A24-989F-4DB1-81E2-EBC711F03531}"/>
              </a:ext>
            </a:extLst>
          </p:cNvPr>
          <p:cNvSpPr>
            <a:spLocks noGrp="1"/>
          </p:cNvSpPr>
          <p:nvPr/>
        </p:nvSpPr>
        <p:spPr>
          <a:xfrm>
            <a:off x="8324850" y="255269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5.2180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7EA9D7-6116-47E3-86B4-8EE2D05DA2DD}"/>
              </a:ext>
            </a:extLst>
          </p:cNvPr>
          <p:cNvSpPr>
            <a:spLocks noGrp="1"/>
          </p:cNvSpPr>
          <p:nvPr/>
        </p:nvSpPr>
        <p:spPr>
          <a:xfrm>
            <a:off x="9563100" y="255269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0.000488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F8C18C-75DA-44E1-8969-D8F057697216}"/>
              </a:ext>
            </a:extLst>
          </p:cNvPr>
          <p:cNvSpPr>
            <a:spLocks noGrp="1"/>
          </p:cNvSpPr>
          <p:nvPr/>
        </p:nvSpPr>
        <p:spPr>
          <a:xfrm>
            <a:off x="419100" y="2990848"/>
            <a:ext cx="11239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7FA181-855F-4B6B-B6C7-0415098A4CAE}"/>
              </a:ext>
            </a:extLst>
          </p:cNvPr>
          <p:cNvSpPr>
            <a:spLocks noGrp="1"/>
          </p:cNvSpPr>
          <p:nvPr/>
        </p:nvSpPr>
        <p:spPr>
          <a:xfrm>
            <a:off x="514350" y="3067048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4D7B6B-5750-4A59-8313-EE3764CAC47F}"/>
              </a:ext>
            </a:extLst>
          </p:cNvPr>
          <p:cNvSpPr>
            <a:spLocks noGrp="1"/>
          </p:cNvSpPr>
          <p:nvPr/>
        </p:nvSpPr>
        <p:spPr>
          <a:xfrm>
            <a:off x="2228850" y="3067048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45EF990-5525-4168-A36C-B6027DA429B8}"/>
              </a:ext>
            </a:extLst>
          </p:cNvPr>
          <p:cNvSpPr>
            <a:spLocks noGrp="1"/>
          </p:cNvSpPr>
          <p:nvPr/>
        </p:nvSpPr>
        <p:spPr>
          <a:xfrm>
            <a:off x="3181350" y="306704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0.2321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3156C0-1086-4825-9535-BD7A5CFCB43F}"/>
              </a:ext>
            </a:extLst>
          </p:cNvPr>
          <p:cNvSpPr>
            <a:spLocks noGrp="1"/>
          </p:cNvSpPr>
          <p:nvPr/>
        </p:nvSpPr>
        <p:spPr>
          <a:xfrm>
            <a:off x="4181475" y="306704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C5D3AF-048D-40DB-8DC9-653F4DF1AA45}"/>
              </a:ext>
            </a:extLst>
          </p:cNvPr>
          <p:cNvSpPr>
            <a:spLocks noGrp="1"/>
          </p:cNvSpPr>
          <p:nvPr/>
        </p:nvSpPr>
        <p:spPr>
          <a:xfrm>
            <a:off x="5181600" y="306704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E127165-4496-471F-92F7-006F8C9D3152}"/>
              </a:ext>
            </a:extLst>
          </p:cNvPr>
          <p:cNvSpPr>
            <a:spLocks noGrp="1"/>
          </p:cNvSpPr>
          <p:nvPr/>
        </p:nvSpPr>
        <p:spPr>
          <a:xfrm>
            <a:off x="6086475" y="306704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4799FE-8F7D-4FEB-8979-6516C6373E88}"/>
              </a:ext>
            </a:extLst>
          </p:cNvPr>
          <p:cNvSpPr>
            <a:spLocks noGrp="1"/>
          </p:cNvSpPr>
          <p:nvPr/>
        </p:nvSpPr>
        <p:spPr>
          <a:xfrm>
            <a:off x="6991350" y="3067048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11.0378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7E95561-FB64-47B9-A03B-74B4E0B791D7}"/>
              </a:ext>
            </a:extLst>
          </p:cNvPr>
          <p:cNvSpPr>
            <a:spLocks noGrp="1"/>
          </p:cNvSpPr>
          <p:nvPr/>
        </p:nvSpPr>
        <p:spPr>
          <a:xfrm>
            <a:off x="8324850" y="306704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3.4928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C71B7F-1F2D-45EC-AD25-52877B64D290}"/>
              </a:ext>
            </a:extLst>
          </p:cNvPr>
          <p:cNvSpPr>
            <a:spLocks noGrp="1"/>
          </p:cNvSpPr>
          <p:nvPr/>
        </p:nvSpPr>
        <p:spPr>
          <a:xfrm>
            <a:off x="9563100" y="306704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0.011230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9F1805-77B1-41AD-AEF9-CC7D064D3D72}"/>
              </a:ext>
            </a:extLst>
          </p:cNvPr>
          <p:cNvSpPr>
            <a:spLocks noGrp="1"/>
          </p:cNvSpPr>
          <p:nvPr/>
        </p:nvSpPr>
        <p:spPr>
          <a:xfrm>
            <a:off x="419100" y="3505198"/>
            <a:ext cx="11239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396007-DCBF-408C-AAFF-7C7453481D03}"/>
              </a:ext>
            </a:extLst>
          </p:cNvPr>
          <p:cNvSpPr>
            <a:spLocks noGrp="1"/>
          </p:cNvSpPr>
          <p:nvPr/>
        </p:nvSpPr>
        <p:spPr>
          <a:xfrm>
            <a:off x="419100" y="3505198"/>
            <a:ext cx="11239500" cy="5143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521481-B650-4C78-B18A-5EF84C15101A}"/>
              </a:ext>
            </a:extLst>
          </p:cNvPr>
          <p:cNvSpPr>
            <a:spLocks noGrp="1"/>
          </p:cNvSpPr>
          <p:nvPr/>
        </p:nvSpPr>
        <p:spPr>
          <a:xfrm>
            <a:off x="514350" y="3581398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69F3E8-036D-4B9B-880B-370B095F60ED}"/>
              </a:ext>
            </a:extLst>
          </p:cNvPr>
          <p:cNvSpPr>
            <a:spLocks noGrp="1"/>
          </p:cNvSpPr>
          <p:nvPr/>
        </p:nvSpPr>
        <p:spPr>
          <a:xfrm>
            <a:off x="2228850" y="3581398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C2F13BE-D977-4F22-A03B-355EBB7FA57C}"/>
              </a:ext>
            </a:extLst>
          </p:cNvPr>
          <p:cNvSpPr>
            <a:spLocks noGrp="1"/>
          </p:cNvSpPr>
          <p:nvPr/>
        </p:nvSpPr>
        <p:spPr>
          <a:xfrm>
            <a:off x="3181350" y="358139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0.1942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E8165AC-6DE4-4B5A-891A-46120612550B}"/>
              </a:ext>
            </a:extLst>
          </p:cNvPr>
          <p:cNvSpPr>
            <a:spLocks noGrp="1"/>
          </p:cNvSpPr>
          <p:nvPr/>
        </p:nvSpPr>
        <p:spPr>
          <a:xfrm>
            <a:off x="4181475" y="3581398"/>
            <a:ext cx="8667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C68BE3E-877B-442F-A811-D20B98A94553}"/>
              </a:ext>
            </a:extLst>
          </p:cNvPr>
          <p:cNvSpPr>
            <a:spLocks noGrp="1"/>
          </p:cNvSpPr>
          <p:nvPr/>
        </p:nvSpPr>
        <p:spPr>
          <a:xfrm>
            <a:off x="5181600" y="358139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0.1631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CFD7D62-7EB4-4817-9B02-CC19431E0864}"/>
              </a:ext>
            </a:extLst>
          </p:cNvPr>
          <p:cNvSpPr>
            <a:spLocks noGrp="1"/>
          </p:cNvSpPr>
          <p:nvPr/>
        </p:nvSpPr>
        <p:spPr>
          <a:xfrm>
            <a:off x="6086475" y="3581398"/>
            <a:ext cx="7715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E28A588-2120-46AE-B177-2E30B531A3DB}"/>
              </a:ext>
            </a:extLst>
          </p:cNvPr>
          <p:cNvSpPr>
            <a:spLocks noGrp="1"/>
          </p:cNvSpPr>
          <p:nvPr/>
        </p:nvSpPr>
        <p:spPr>
          <a:xfrm>
            <a:off x="6991350" y="3581398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11.8718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2FB3F40-460E-4297-A857-92BBF2DAE3BB}"/>
              </a:ext>
            </a:extLst>
          </p:cNvPr>
          <p:cNvSpPr>
            <a:spLocks noGrp="1"/>
          </p:cNvSpPr>
          <p:nvPr/>
        </p:nvSpPr>
        <p:spPr>
          <a:xfrm>
            <a:off x="8324850" y="358139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9.5599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D9977FF-94DD-4949-B7D6-672017264F4C}"/>
              </a:ext>
            </a:extLst>
          </p:cNvPr>
          <p:cNvSpPr>
            <a:spLocks noGrp="1"/>
          </p:cNvSpPr>
          <p:nvPr/>
        </p:nvSpPr>
        <p:spPr>
          <a:xfrm>
            <a:off x="9563100" y="3581398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0.000000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62E583A-3EFC-49EF-B717-DDC875D30DE6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9906000" cy="11239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8D3B457-AC42-4303-A1E4-2B55AA377333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9906000" cy="57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7D8D696-550D-4AC5-A8D7-CBA22389B6C5}"/>
              </a:ext>
            </a:extLst>
          </p:cNvPr>
          <p:cNvSpPr>
            <a:spLocks noGrp="1"/>
          </p:cNvSpPr>
          <p:nvPr/>
        </p:nvSpPr>
        <p:spPr>
          <a:xfrm>
            <a:off x="876300" y="4676777"/>
            <a:ext cx="9601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match reference edge density closely. Flat AR has great-looking metrics partly because it reproduces data. </a:t>
            </a:r>
            <a:r>
              <a:rPr sz="1600" b="0" dirty="0" err="1">
                <a:solidFill>
                  <a:srgbClr val="BDB6A7"/>
                </a:solidFill>
                <a:latin typeface="Aptos"/>
                <a:ea typeface="Aptos"/>
                <a:cs typeface="Aptos"/>
              </a:rPr>
              <a:t>MaskGIT</a:t>
            </a:r>
            <a:r>
              <a:rPr sz="1600" b="0" dirty="0">
                <a:solidFill>
                  <a:srgbClr val="BDB6A7"/>
                </a:solidFill>
                <a:latin typeface="Aptos"/>
                <a:ea typeface="Aptos"/>
                <a:cs typeface="Aptos"/>
              </a:rPr>
              <a:t> under-fills sprites and loses coverage.</a:t>
            </a:r>
          </a:p>
        </p:txBody>
      </p:sp>
    </p:spTree>
    <p:extLst>
      <p:ext uri="{BB962C8B-B14F-4D97-AF65-F5344CB8AC3E}">
        <p14:creationId xmlns:p14="http://schemas.microsoft.com/office/powerpoint/2010/main" val="623790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FAE16AC7-047B-4CF3-B8F5-533786FE76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5CDB2-F5B6-4846-8A11-695499FB77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1-marker">
            <a:extLst>
              <a:ext uri="{FF2B5EF4-FFF2-40B4-BE49-F238E27FC236}">
                <a16:creationId xmlns:a16="http://schemas.microsoft.com/office/drawing/2014/main" id="{8FBD05DF-C510-431C-B095-DB8054CDBC03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1-label">
            <a:extLst>
              <a:ext uri="{FF2B5EF4-FFF2-40B4-BE49-F238E27FC236}">
                <a16:creationId xmlns:a16="http://schemas.microsoft.com/office/drawing/2014/main" id="{3CA98CBC-9EE0-448A-A485-B430531C7362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KNOWN IMAGE METRICS: FULL INTERNAL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39BE2E-0831-4737-8755-2FE60C57363D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Inception metrics favor Flat AR, but that result is not trustworthy without the audit.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0D7A8C-6E9C-49D4-8B52-E3957D9484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2E07B9-ABC0-4F4C-B224-BD70BCC2F8D1}"/>
              </a:ext>
            </a:extLst>
          </p:cNvPr>
          <p:cNvSpPr>
            <a:spLocks noGrp="1"/>
          </p:cNvSpPr>
          <p:nvPr/>
        </p:nvSpPr>
        <p:spPr>
          <a:xfrm>
            <a:off x="457200" y="1583634"/>
            <a:ext cx="11049000" cy="22288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88D4D7-06D5-47B1-B00E-60EFCF4ABF05}"/>
              </a:ext>
            </a:extLst>
          </p:cNvPr>
          <p:cNvSpPr>
            <a:spLocks noGrp="1"/>
          </p:cNvSpPr>
          <p:nvPr/>
        </p:nvSpPr>
        <p:spPr>
          <a:xfrm>
            <a:off x="552450" y="1659834"/>
            <a:ext cx="1676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C49D26-8EB8-4F07-9BD0-A0FD705EAD00}"/>
              </a:ext>
            </a:extLst>
          </p:cNvPr>
          <p:cNvSpPr>
            <a:spLocks noGrp="1"/>
          </p:cNvSpPr>
          <p:nvPr/>
        </p:nvSpPr>
        <p:spPr>
          <a:xfrm>
            <a:off x="2362200" y="1659834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17B751-F038-4973-B74E-2EF5471D8063}"/>
              </a:ext>
            </a:extLst>
          </p:cNvPr>
          <p:cNvSpPr>
            <a:spLocks noGrp="1"/>
          </p:cNvSpPr>
          <p:nvPr/>
        </p:nvSpPr>
        <p:spPr>
          <a:xfrm>
            <a:off x="3409950" y="1659834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88F981-EFC1-48C7-BECF-CA426A129C92}"/>
              </a:ext>
            </a:extLst>
          </p:cNvPr>
          <p:cNvSpPr>
            <a:spLocks noGrp="1"/>
          </p:cNvSpPr>
          <p:nvPr/>
        </p:nvSpPr>
        <p:spPr>
          <a:xfrm>
            <a:off x="4552950" y="1659834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C48E3-1857-45D0-9C63-58127C5630F2}"/>
              </a:ext>
            </a:extLst>
          </p:cNvPr>
          <p:cNvSpPr>
            <a:spLocks noGrp="1"/>
          </p:cNvSpPr>
          <p:nvPr/>
        </p:nvSpPr>
        <p:spPr>
          <a:xfrm>
            <a:off x="5553075" y="1659834"/>
            <a:ext cx="8667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624D1F-8609-426C-BA91-142DC7CB6014}"/>
              </a:ext>
            </a:extLst>
          </p:cNvPr>
          <p:cNvSpPr>
            <a:spLocks noGrp="1"/>
          </p:cNvSpPr>
          <p:nvPr/>
        </p:nvSpPr>
        <p:spPr>
          <a:xfrm>
            <a:off x="6553200" y="1659834"/>
            <a:ext cx="962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Density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D94FE1-0A5D-49E8-9DB3-D24E72566D69}"/>
              </a:ext>
            </a:extLst>
          </p:cNvPr>
          <p:cNvSpPr>
            <a:spLocks noGrp="1"/>
          </p:cNvSpPr>
          <p:nvPr/>
        </p:nvSpPr>
        <p:spPr>
          <a:xfrm>
            <a:off x="7648575" y="1659834"/>
            <a:ext cx="962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DF6F4B-9291-4450-BE0D-43E0E319CE75}"/>
              </a:ext>
            </a:extLst>
          </p:cNvPr>
          <p:cNvSpPr>
            <a:spLocks noGrp="1"/>
          </p:cNvSpPr>
          <p:nvPr/>
        </p:nvSpPr>
        <p:spPr>
          <a:xfrm>
            <a:off x="8743950" y="1659834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46F75-C2D3-4568-8885-137E13035479}"/>
              </a:ext>
            </a:extLst>
          </p:cNvPr>
          <p:cNvSpPr>
            <a:spLocks noGrp="1"/>
          </p:cNvSpPr>
          <p:nvPr/>
        </p:nvSpPr>
        <p:spPr>
          <a:xfrm>
            <a:off x="9982200" y="1659834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9B790-151C-43D7-A6F9-4E492C1ADE52}"/>
              </a:ext>
            </a:extLst>
          </p:cNvPr>
          <p:cNvSpPr>
            <a:spLocks noGrp="1"/>
          </p:cNvSpPr>
          <p:nvPr/>
        </p:nvSpPr>
        <p:spPr>
          <a:xfrm>
            <a:off x="457200" y="1907484"/>
            <a:ext cx="11049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B829C7-D7F8-4AF2-836A-FDE58732204C}"/>
              </a:ext>
            </a:extLst>
          </p:cNvPr>
          <p:cNvSpPr>
            <a:spLocks noGrp="1"/>
          </p:cNvSpPr>
          <p:nvPr/>
        </p:nvSpPr>
        <p:spPr>
          <a:xfrm>
            <a:off x="552450" y="1983684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CCD8-A3FA-4A64-9383-692EA7298451}"/>
              </a:ext>
            </a:extLst>
          </p:cNvPr>
          <p:cNvSpPr>
            <a:spLocks noGrp="1"/>
          </p:cNvSpPr>
          <p:nvPr/>
        </p:nvSpPr>
        <p:spPr>
          <a:xfrm>
            <a:off x="2362200" y="1983684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9.3558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5CCA94-252B-4885-BE4B-8477E01D6A30}"/>
              </a:ext>
            </a:extLst>
          </p:cNvPr>
          <p:cNvSpPr>
            <a:spLocks noGrp="1"/>
          </p:cNvSpPr>
          <p:nvPr/>
        </p:nvSpPr>
        <p:spPr>
          <a:xfrm>
            <a:off x="3409950" y="1983684"/>
            <a:ext cx="100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0.002975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65B63-9D20-4725-BC19-D9B52CBE48EE}"/>
              </a:ext>
            </a:extLst>
          </p:cNvPr>
          <p:cNvSpPr>
            <a:spLocks noGrp="1"/>
          </p:cNvSpPr>
          <p:nvPr/>
        </p:nvSpPr>
        <p:spPr>
          <a:xfrm>
            <a:off x="4552950" y="198368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59B7E-57F1-46F9-B549-0C44F1D36726}"/>
              </a:ext>
            </a:extLst>
          </p:cNvPr>
          <p:cNvSpPr>
            <a:spLocks noGrp="1"/>
          </p:cNvSpPr>
          <p:nvPr/>
        </p:nvSpPr>
        <p:spPr>
          <a:xfrm>
            <a:off x="5553075" y="198368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CB85E7-7094-4CE8-AF82-0AFB2B27D6E2}"/>
              </a:ext>
            </a:extLst>
          </p:cNvPr>
          <p:cNvSpPr>
            <a:spLocks noGrp="1"/>
          </p:cNvSpPr>
          <p:nvPr/>
        </p:nvSpPr>
        <p:spPr>
          <a:xfrm>
            <a:off x="6553200" y="198368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0.7654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61262A-F577-4ADA-ABAB-ACA2AB43B74A}"/>
              </a:ext>
            </a:extLst>
          </p:cNvPr>
          <p:cNvSpPr>
            <a:spLocks noGrp="1"/>
          </p:cNvSpPr>
          <p:nvPr/>
        </p:nvSpPr>
        <p:spPr>
          <a:xfrm>
            <a:off x="7648575" y="198368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FFB33B-D57F-428A-8ACE-0B1D294EE727}"/>
              </a:ext>
            </a:extLst>
          </p:cNvPr>
          <p:cNvSpPr>
            <a:spLocks noGrp="1"/>
          </p:cNvSpPr>
          <p:nvPr/>
        </p:nvSpPr>
        <p:spPr>
          <a:xfrm>
            <a:off x="8743950" y="198368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25D136-B493-46D3-8079-6501C8A3DF26}"/>
              </a:ext>
            </a:extLst>
          </p:cNvPr>
          <p:cNvSpPr>
            <a:spLocks noGrp="1"/>
          </p:cNvSpPr>
          <p:nvPr/>
        </p:nvSpPr>
        <p:spPr>
          <a:xfrm>
            <a:off x="9982200" y="198368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6E4310-DA1E-43B1-A44A-752206EE981C}"/>
              </a:ext>
            </a:extLst>
          </p:cNvPr>
          <p:cNvSpPr>
            <a:spLocks noGrp="1"/>
          </p:cNvSpPr>
          <p:nvPr/>
        </p:nvSpPr>
        <p:spPr>
          <a:xfrm>
            <a:off x="457200" y="2383734"/>
            <a:ext cx="11049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AF4314-3665-4EF1-A332-D3B5D81EC7AE}"/>
              </a:ext>
            </a:extLst>
          </p:cNvPr>
          <p:cNvSpPr>
            <a:spLocks noGrp="1"/>
          </p:cNvSpPr>
          <p:nvPr/>
        </p:nvSpPr>
        <p:spPr>
          <a:xfrm>
            <a:off x="457200" y="2383734"/>
            <a:ext cx="11049000" cy="4762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8FF160-82AA-483F-A057-56A8914DB482}"/>
              </a:ext>
            </a:extLst>
          </p:cNvPr>
          <p:cNvSpPr>
            <a:spLocks noGrp="1"/>
          </p:cNvSpPr>
          <p:nvPr/>
        </p:nvSpPr>
        <p:spPr>
          <a:xfrm>
            <a:off x="552450" y="2459934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C91DB2-4E20-4C2A-A028-1682BFE70E5B}"/>
              </a:ext>
            </a:extLst>
          </p:cNvPr>
          <p:cNvSpPr>
            <a:spLocks noGrp="1"/>
          </p:cNvSpPr>
          <p:nvPr/>
        </p:nvSpPr>
        <p:spPr>
          <a:xfrm>
            <a:off x="2362200" y="2459934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12.6555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23F58F-871E-4A21-8EC4-2259D2D95172}"/>
              </a:ext>
            </a:extLst>
          </p:cNvPr>
          <p:cNvSpPr>
            <a:spLocks noGrp="1"/>
          </p:cNvSpPr>
          <p:nvPr/>
        </p:nvSpPr>
        <p:spPr>
          <a:xfrm>
            <a:off x="3409950" y="2459934"/>
            <a:ext cx="100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0.005209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F66756-071E-4C3F-B652-E5CAB31FEB8F}"/>
              </a:ext>
            </a:extLst>
          </p:cNvPr>
          <p:cNvSpPr>
            <a:spLocks noGrp="1"/>
          </p:cNvSpPr>
          <p:nvPr/>
        </p:nvSpPr>
        <p:spPr>
          <a:xfrm>
            <a:off x="4552950" y="245993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F5D837-5C03-465E-8993-5F1927BAADC6}"/>
              </a:ext>
            </a:extLst>
          </p:cNvPr>
          <p:cNvSpPr>
            <a:spLocks noGrp="1"/>
          </p:cNvSpPr>
          <p:nvPr/>
        </p:nvSpPr>
        <p:spPr>
          <a:xfrm>
            <a:off x="5553075" y="245993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8FB75B-F503-4DA1-8D08-23517A4A1B53}"/>
              </a:ext>
            </a:extLst>
          </p:cNvPr>
          <p:cNvSpPr>
            <a:spLocks noGrp="1"/>
          </p:cNvSpPr>
          <p:nvPr/>
        </p:nvSpPr>
        <p:spPr>
          <a:xfrm>
            <a:off x="6553200" y="245993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0.4136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C61A66-6110-4730-B4E7-4293E2DDEC1C}"/>
              </a:ext>
            </a:extLst>
          </p:cNvPr>
          <p:cNvSpPr>
            <a:spLocks noGrp="1"/>
          </p:cNvSpPr>
          <p:nvPr/>
        </p:nvSpPr>
        <p:spPr>
          <a:xfrm>
            <a:off x="7648575" y="245993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F3C6CD-6334-4091-AAFB-4D7F0A9BB133}"/>
              </a:ext>
            </a:extLst>
          </p:cNvPr>
          <p:cNvSpPr>
            <a:spLocks noGrp="1"/>
          </p:cNvSpPr>
          <p:nvPr/>
        </p:nvSpPr>
        <p:spPr>
          <a:xfrm>
            <a:off x="8743950" y="245993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0.8309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FC9DD5-8D17-4DB9-B14B-627AB132B54A}"/>
              </a:ext>
            </a:extLst>
          </p:cNvPr>
          <p:cNvSpPr>
            <a:spLocks noGrp="1"/>
          </p:cNvSpPr>
          <p:nvPr/>
        </p:nvSpPr>
        <p:spPr>
          <a:xfrm>
            <a:off x="9982200" y="245993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D0B4EA-1562-441F-AE96-5F98D7662DB8}"/>
              </a:ext>
            </a:extLst>
          </p:cNvPr>
          <p:cNvSpPr>
            <a:spLocks noGrp="1"/>
          </p:cNvSpPr>
          <p:nvPr/>
        </p:nvSpPr>
        <p:spPr>
          <a:xfrm>
            <a:off x="457200" y="2859984"/>
            <a:ext cx="11049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CA3E52-A4BA-480E-9251-5F1FBF71A93F}"/>
              </a:ext>
            </a:extLst>
          </p:cNvPr>
          <p:cNvSpPr>
            <a:spLocks noGrp="1"/>
          </p:cNvSpPr>
          <p:nvPr/>
        </p:nvSpPr>
        <p:spPr>
          <a:xfrm>
            <a:off x="552450" y="2936184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DB13B2-B884-4AF7-9DA0-BFD30473CA84}"/>
              </a:ext>
            </a:extLst>
          </p:cNvPr>
          <p:cNvSpPr>
            <a:spLocks noGrp="1"/>
          </p:cNvSpPr>
          <p:nvPr/>
        </p:nvSpPr>
        <p:spPr>
          <a:xfrm>
            <a:off x="2362200" y="2936184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13.2516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3AEE95-9DEF-4B29-9FBF-DA3DB7B016C5}"/>
              </a:ext>
            </a:extLst>
          </p:cNvPr>
          <p:cNvSpPr>
            <a:spLocks noGrp="1"/>
          </p:cNvSpPr>
          <p:nvPr/>
        </p:nvSpPr>
        <p:spPr>
          <a:xfrm>
            <a:off x="3409950" y="2936184"/>
            <a:ext cx="100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18DE23-F58A-479F-A0ED-DE8610B1CD92}"/>
              </a:ext>
            </a:extLst>
          </p:cNvPr>
          <p:cNvSpPr>
            <a:spLocks noGrp="1"/>
          </p:cNvSpPr>
          <p:nvPr/>
        </p:nvSpPr>
        <p:spPr>
          <a:xfrm>
            <a:off x="4552950" y="293618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0.6406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2D8A81-EF83-4716-BF0C-DAFCD117C70F}"/>
              </a:ext>
            </a:extLst>
          </p:cNvPr>
          <p:cNvSpPr>
            <a:spLocks noGrp="1"/>
          </p:cNvSpPr>
          <p:nvPr/>
        </p:nvSpPr>
        <p:spPr>
          <a:xfrm>
            <a:off x="5553075" y="293618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9DA73F-C658-49CD-9589-5D9473CFAF94}"/>
              </a:ext>
            </a:extLst>
          </p:cNvPr>
          <p:cNvSpPr>
            <a:spLocks noGrp="1"/>
          </p:cNvSpPr>
          <p:nvPr/>
        </p:nvSpPr>
        <p:spPr>
          <a:xfrm>
            <a:off x="6553200" y="293618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0.4093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928BBF-2DDB-450E-9B58-FB723DD06DE9}"/>
              </a:ext>
            </a:extLst>
          </p:cNvPr>
          <p:cNvSpPr>
            <a:spLocks noGrp="1"/>
          </p:cNvSpPr>
          <p:nvPr/>
        </p:nvSpPr>
        <p:spPr>
          <a:xfrm>
            <a:off x="7648575" y="293618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EACEDF-07AD-401F-A794-5E436B1FAAB9}"/>
              </a:ext>
            </a:extLst>
          </p:cNvPr>
          <p:cNvSpPr>
            <a:spLocks noGrp="1"/>
          </p:cNvSpPr>
          <p:nvPr/>
        </p:nvSpPr>
        <p:spPr>
          <a:xfrm>
            <a:off x="8743950" y="293618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1C3A29-68CC-4FD3-AD18-96F3C5018CAB}"/>
              </a:ext>
            </a:extLst>
          </p:cNvPr>
          <p:cNvSpPr>
            <a:spLocks noGrp="1"/>
          </p:cNvSpPr>
          <p:nvPr/>
        </p:nvSpPr>
        <p:spPr>
          <a:xfrm>
            <a:off x="9982200" y="293618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6E815DE-853A-4F8B-8C7E-F518472B5037}"/>
              </a:ext>
            </a:extLst>
          </p:cNvPr>
          <p:cNvSpPr>
            <a:spLocks noGrp="1"/>
          </p:cNvSpPr>
          <p:nvPr/>
        </p:nvSpPr>
        <p:spPr>
          <a:xfrm>
            <a:off x="457200" y="3336234"/>
            <a:ext cx="11049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7F6D9CF-D33D-448F-B5C8-4ABFC1315076}"/>
              </a:ext>
            </a:extLst>
          </p:cNvPr>
          <p:cNvSpPr>
            <a:spLocks noGrp="1"/>
          </p:cNvSpPr>
          <p:nvPr/>
        </p:nvSpPr>
        <p:spPr>
          <a:xfrm>
            <a:off x="457200" y="3336234"/>
            <a:ext cx="11049000" cy="4762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DEF7EE-E416-4814-9D0E-2725CB0F3C86}"/>
              </a:ext>
            </a:extLst>
          </p:cNvPr>
          <p:cNvSpPr>
            <a:spLocks noGrp="1"/>
          </p:cNvSpPr>
          <p:nvPr/>
        </p:nvSpPr>
        <p:spPr>
          <a:xfrm>
            <a:off x="552450" y="3412434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4A5EE4-5D27-48A7-9B6B-46D56496A355}"/>
              </a:ext>
            </a:extLst>
          </p:cNvPr>
          <p:cNvSpPr>
            <a:spLocks noGrp="1"/>
          </p:cNvSpPr>
          <p:nvPr/>
        </p:nvSpPr>
        <p:spPr>
          <a:xfrm>
            <a:off x="2362200" y="3412434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67.3908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5EFF0FF-3A5E-4926-83B2-C859C36C7A2A}"/>
              </a:ext>
            </a:extLst>
          </p:cNvPr>
          <p:cNvSpPr>
            <a:spLocks noGrp="1"/>
          </p:cNvSpPr>
          <p:nvPr/>
        </p:nvSpPr>
        <p:spPr>
          <a:xfrm>
            <a:off x="3409950" y="3412434"/>
            <a:ext cx="1009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0.061825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2263F16-DA42-450F-83EA-56D1F4C45D09}"/>
              </a:ext>
            </a:extLst>
          </p:cNvPr>
          <p:cNvSpPr>
            <a:spLocks noGrp="1"/>
          </p:cNvSpPr>
          <p:nvPr/>
        </p:nvSpPr>
        <p:spPr>
          <a:xfrm>
            <a:off x="4552950" y="341243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0.1545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98C48F-585B-40C9-B4A3-37BB75187018}"/>
              </a:ext>
            </a:extLst>
          </p:cNvPr>
          <p:cNvSpPr>
            <a:spLocks noGrp="1"/>
          </p:cNvSpPr>
          <p:nvPr/>
        </p:nvSpPr>
        <p:spPr>
          <a:xfrm>
            <a:off x="5553075" y="3412434"/>
            <a:ext cx="8667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14E3A05-EA71-496E-9F6B-1CC3D311B4A6}"/>
              </a:ext>
            </a:extLst>
          </p:cNvPr>
          <p:cNvSpPr>
            <a:spLocks noGrp="1"/>
          </p:cNvSpPr>
          <p:nvPr/>
        </p:nvSpPr>
        <p:spPr>
          <a:xfrm>
            <a:off x="6553200" y="341243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CEB04F0-35A2-44C9-A985-EA63BD725B24}"/>
              </a:ext>
            </a:extLst>
          </p:cNvPr>
          <p:cNvSpPr>
            <a:spLocks noGrp="1"/>
          </p:cNvSpPr>
          <p:nvPr/>
        </p:nvSpPr>
        <p:spPr>
          <a:xfrm>
            <a:off x="7648575" y="3412434"/>
            <a:ext cx="962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E767408-2957-4EF7-BCA8-776C14F98F25}"/>
              </a:ext>
            </a:extLst>
          </p:cNvPr>
          <p:cNvSpPr>
            <a:spLocks noGrp="1"/>
          </p:cNvSpPr>
          <p:nvPr/>
        </p:nvSpPr>
        <p:spPr>
          <a:xfrm>
            <a:off x="8743950" y="341243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0.9426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28879C6-5517-4618-AB2D-2BC08A40EC27}"/>
              </a:ext>
            </a:extLst>
          </p:cNvPr>
          <p:cNvSpPr>
            <a:spLocks noGrp="1"/>
          </p:cNvSpPr>
          <p:nvPr/>
        </p:nvSpPr>
        <p:spPr>
          <a:xfrm>
            <a:off x="9982200" y="3412434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54175E-4962-455F-A195-D1E2D87471D6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4762500" cy="158115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5492" y="4229100"/>
            <a:ext cx="2665016" cy="150495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4EAFA51E-1968-4739-BC9E-B3D26A168730}"/>
              </a:ext>
            </a:extLst>
          </p:cNvPr>
          <p:cNvSpPr>
            <a:spLocks noGrp="1"/>
          </p:cNvSpPr>
          <p:nvPr/>
        </p:nvSpPr>
        <p:spPr>
          <a:xfrm>
            <a:off x="6153150" y="4191000"/>
            <a:ext cx="4762500" cy="158115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23509" y="4229100"/>
            <a:ext cx="2821781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4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A5BEE89-C65F-45C4-9C70-CB4714BD77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5B4711-78E4-42C9-9D8B-F74B880C96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2-marker">
            <a:extLst>
              <a:ext uri="{FF2B5EF4-FFF2-40B4-BE49-F238E27FC236}">
                <a16:creationId xmlns:a16="http://schemas.microsoft.com/office/drawing/2014/main" id="{ED601229-C045-4E0E-BFC8-70A3421FA678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2-label">
            <a:extLst>
              <a:ext uri="{FF2B5EF4-FFF2-40B4-BE49-F238E27FC236}">
                <a16:creationId xmlns:a16="http://schemas.microsoft.com/office/drawing/2014/main" id="{1C8B3BD3-CA13-4E16-AD82-3EF789162DAA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METRICS + AUDIT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7C3BF4-4B1A-4CAE-BFFF-83A10BB9E4C5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FID would pick Flat AR; the exact-match audit changes the conclusion.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8A2DC-8218-4996-8BA3-67D0A7722C1B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B423-8579-46E2-9CDA-A80C9AA652C0}"/>
              </a:ext>
            </a:extLst>
          </p:cNvPr>
          <p:cNvSpPr>
            <a:spLocks noGrp="1"/>
          </p:cNvSpPr>
          <p:nvPr/>
        </p:nvSpPr>
        <p:spPr>
          <a:xfrm>
            <a:off x="514350" y="1572866"/>
            <a:ext cx="4762500" cy="26289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5397" y="1610966"/>
            <a:ext cx="4520406" cy="25527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377445-A9F5-46BE-9D2A-DF8506DACDB5}"/>
              </a:ext>
            </a:extLst>
          </p:cNvPr>
          <p:cNvSpPr>
            <a:spLocks noGrp="1"/>
          </p:cNvSpPr>
          <p:nvPr/>
        </p:nvSpPr>
        <p:spPr>
          <a:xfrm>
            <a:off x="5905500" y="1572866"/>
            <a:ext cx="4953000" cy="26289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84570" y="1610966"/>
            <a:ext cx="4594860" cy="25527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A39703E-9610-4ED0-8EAE-EF1B5A4471D9}"/>
              </a:ext>
            </a:extLst>
          </p:cNvPr>
          <p:cNvSpPr>
            <a:spLocks noGrp="1"/>
          </p:cNvSpPr>
          <p:nvPr/>
        </p:nvSpPr>
        <p:spPr>
          <a:xfrm>
            <a:off x="1485900" y="4400550"/>
            <a:ext cx="8572500" cy="16192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690695-067E-4FF4-B3C1-DA3C095FD41D}"/>
              </a:ext>
            </a:extLst>
          </p:cNvPr>
          <p:cNvSpPr>
            <a:spLocks noGrp="1"/>
          </p:cNvSpPr>
          <p:nvPr/>
        </p:nvSpPr>
        <p:spPr>
          <a:xfrm>
            <a:off x="1581150" y="44767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93AAA1-56D4-4095-A4CB-E85A8628C058}"/>
              </a:ext>
            </a:extLst>
          </p:cNvPr>
          <p:cNvSpPr>
            <a:spLocks noGrp="1"/>
          </p:cNvSpPr>
          <p:nvPr/>
        </p:nvSpPr>
        <p:spPr>
          <a:xfrm>
            <a:off x="3676650" y="44767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D0A283-2B24-41DE-A53D-F33BB662198D}"/>
              </a:ext>
            </a:extLst>
          </p:cNvPr>
          <p:cNvSpPr>
            <a:spLocks noGrp="1"/>
          </p:cNvSpPr>
          <p:nvPr/>
        </p:nvSpPr>
        <p:spPr>
          <a:xfrm>
            <a:off x="4533900" y="44767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D8A76-FA5A-427C-9624-A54D9A3D8625}"/>
              </a:ext>
            </a:extLst>
          </p:cNvPr>
          <p:cNvSpPr>
            <a:spLocks noGrp="1"/>
          </p:cNvSpPr>
          <p:nvPr/>
        </p:nvSpPr>
        <p:spPr>
          <a:xfrm>
            <a:off x="5486400" y="447675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DAC43A-B308-4A85-82BA-1CDBA93674FE}"/>
              </a:ext>
            </a:extLst>
          </p:cNvPr>
          <p:cNvSpPr>
            <a:spLocks noGrp="1"/>
          </p:cNvSpPr>
          <p:nvPr/>
        </p:nvSpPr>
        <p:spPr>
          <a:xfrm>
            <a:off x="6438900" y="4476750"/>
            <a:ext cx="3581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Audit-adjusted read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61B08-9E71-4E67-B7DD-43B382A3EA3F}"/>
              </a:ext>
            </a:extLst>
          </p:cNvPr>
          <p:cNvSpPr>
            <a:spLocks noGrp="1"/>
          </p:cNvSpPr>
          <p:nvPr/>
        </p:nvSpPr>
        <p:spPr>
          <a:xfrm>
            <a:off x="1485900" y="4724400"/>
            <a:ext cx="8572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0C1E36-2649-4F45-9187-ACC739025D54}"/>
              </a:ext>
            </a:extLst>
          </p:cNvPr>
          <p:cNvSpPr>
            <a:spLocks noGrp="1"/>
          </p:cNvSpPr>
          <p:nvPr/>
        </p:nvSpPr>
        <p:spPr>
          <a:xfrm>
            <a:off x="1581150" y="4800600"/>
            <a:ext cx="1962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EDDD6-BCC2-453C-9E12-0094A13D1078}"/>
              </a:ext>
            </a:extLst>
          </p:cNvPr>
          <p:cNvSpPr>
            <a:spLocks noGrp="1"/>
          </p:cNvSpPr>
          <p:nvPr/>
        </p:nvSpPr>
        <p:spPr>
          <a:xfrm>
            <a:off x="3676650" y="4800600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CC1B9B-5CE8-42D9-A98B-E1B2BDA5E18D}"/>
              </a:ext>
            </a:extLst>
          </p:cNvPr>
          <p:cNvSpPr>
            <a:spLocks noGrp="1"/>
          </p:cNvSpPr>
          <p:nvPr/>
        </p:nvSpPr>
        <p:spPr>
          <a:xfrm>
            <a:off x="4533900" y="480060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332E45-1F90-4C2F-9EAC-677DB8FDF6FB}"/>
              </a:ext>
            </a:extLst>
          </p:cNvPr>
          <p:cNvSpPr>
            <a:spLocks noGrp="1"/>
          </p:cNvSpPr>
          <p:nvPr/>
        </p:nvSpPr>
        <p:spPr>
          <a:xfrm>
            <a:off x="5486400" y="480060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1992FC-7DAF-472B-B1C9-9E230DA2CB98}"/>
              </a:ext>
            </a:extLst>
          </p:cNvPr>
          <p:cNvSpPr>
            <a:spLocks noGrp="1"/>
          </p:cNvSpPr>
          <p:nvPr/>
        </p:nvSpPr>
        <p:spPr>
          <a:xfrm>
            <a:off x="6438900" y="4800600"/>
            <a:ext cx="3581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7C0221-BEB5-4E09-B215-BF12EE353B59}"/>
              </a:ext>
            </a:extLst>
          </p:cNvPr>
          <p:cNvSpPr>
            <a:spLocks noGrp="1"/>
          </p:cNvSpPr>
          <p:nvPr/>
        </p:nvSpPr>
        <p:spPr>
          <a:xfrm>
            <a:off x="1485900" y="5048250"/>
            <a:ext cx="8572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D5CA13-3F0C-462D-8677-CF3A0C138436}"/>
              </a:ext>
            </a:extLst>
          </p:cNvPr>
          <p:cNvSpPr>
            <a:spLocks noGrp="1"/>
          </p:cNvSpPr>
          <p:nvPr/>
        </p:nvSpPr>
        <p:spPr>
          <a:xfrm>
            <a:off x="1485900" y="5048250"/>
            <a:ext cx="8572500" cy="3238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EFECAB-B7C1-4117-A7F8-0498D7AD7222}"/>
              </a:ext>
            </a:extLst>
          </p:cNvPr>
          <p:cNvSpPr>
            <a:spLocks noGrp="1"/>
          </p:cNvSpPr>
          <p:nvPr/>
        </p:nvSpPr>
        <p:spPr>
          <a:xfrm>
            <a:off x="1581150" y="5124450"/>
            <a:ext cx="1962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7EFB7A-D53F-4334-A4BD-133C6EC581B9}"/>
              </a:ext>
            </a:extLst>
          </p:cNvPr>
          <p:cNvSpPr>
            <a:spLocks noGrp="1"/>
          </p:cNvSpPr>
          <p:nvPr/>
        </p:nvSpPr>
        <p:spPr>
          <a:xfrm>
            <a:off x="3676650" y="5124450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37E602-E2AE-49DA-B93A-895CF0159A8E}"/>
              </a:ext>
            </a:extLst>
          </p:cNvPr>
          <p:cNvSpPr>
            <a:spLocks noGrp="1"/>
          </p:cNvSpPr>
          <p:nvPr/>
        </p:nvSpPr>
        <p:spPr>
          <a:xfrm>
            <a:off x="4533900" y="51244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31C759-A2CD-4FD4-BB54-32BE796AE746}"/>
              </a:ext>
            </a:extLst>
          </p:cNvPr>
          <p:cNvSpPr>
            <a:spLocks noGrp="1"/>
          </p:cNvSpPr>
          <p:nvPr/>
        </p:nvSpPr>
        <p:spPr>
          <a:xfrm>
            <a:off x="5486400" y="51244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5B321-6B42-4354-93B8-3B56FC74EA0B}"/>
              </a:ext>
            </a:extLst>
          </p:cNvPr>
          <p:cNvSpPr>
            <a:spLocks noGrp="1"/>
          </p:cNvSpPr>
          <p:nvPr/>
        </p:nvSpPr>
        <p:spPr>
          <a:xfrm>
            <a:off x="6438900" y="5124450"/>
            <a:ext cx="3581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8CB30D-D4E5-4DA7-B73C-A9027FF7F121}"/>
              </a:ext>
            </a:extLst>
          </p:cNvPr>
          <p:cNvSpPr>
            <a:spLocks noGrp="1"/>
          </p:cNvSpPr>
          <p:nvPr/>
        </p:nvSpPr>
        <p:spPr>
          <a:xfrm>
            <a:off x="1485900" y="5372100"/>
            <a:ext cx="8572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044BA1-95E9-4B35-A89D-7E507911CFE1}"/>
              </a:ext>
            </a:extLst>
          </p:cNvPr>
          <p:cNvSpPr>
            <a:spLocks noGrp="1"/>
          </p:cNvSpPr>
          <p:nvPr/>
        </p:nvSpPr>
        <p:spPr>
          <a:xfrm>
            <a:off x="1581150" y="5448300"/>
            <a:ext cx="1962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EB119F-2FCA-4768-AE1B-1AAE5E163E99}"/>
              </a:ext>
            </a:extLst>
          </p:cNvPr>
          <p:cNvSpPr>
            <a:spLocks noGrp="1"/>
          </p:cNvSpPr>
          <p:nvPr/>
        </p:nvSpPr>
        <p:spPr>
          <a:xfrm>
            <a:off x="3676650" y="5448300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A8CE0B-CF9D-416A-9781-05282CFFF5B7}"/>
              </a:ext>
            </a:extLst>
          </p:cNvPr>
          <p:cNvSpPr>
            <a:spLocks noGrp="1"/>
          </p:cNvSpPr>
          <p:nvPr/>
        </p:nvSpPr>
        <p:spPr>
          <a:xfrm>
            <a:off x="4533900" y="544830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AD9C6B-7E64-45EC-8B9D-BEE63F69ADBF}"/>
              </a:ext>
            </a:extLst>
          </p:cNvPr>
          <p:cNvSpPr>
            <a:spLocks noGrp="1"/>
          </p:cNvSpPr>
          <p:nvPr/>
        </p:nvSpPr>
        <p:spPr>
          <a:xfrm>
            <a:off x="5486400" y="544830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0C3FD-8E23-4D4E-BD23-9FDBB6100362}"/>
              </a:ext>
            </a:extLst>
          </p:cNvPr>
          <p:cNvSpPr>
            <a:spLocks noGrp="1"/>
          </p:cNvSpPr>
          <p:nvPr/>
        </p:nvSpPr>
        <p:spPr>
          <a:xfrm>
            <a:off x="6438900" y="5448300"/>
            <a:ext cx="3581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main result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B3043-485C-49C6-BC3E-DCD1561C6818}"/>
              </a:ext>
            </a:extLst>
          </p:cNvPr>
          <p:cNvSpPr>
            <a:spLocks noGrp="1"/>
          </p:cNvSpPr>
          <p:nvPr/>
        </p:nvSpPr>
        <p:spPr>
          <a:xfrm>
            <a:off x="1485900" y="5695950"/>
            <a:ext cx="85725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EF03FC-F0C1-43F8-A710-58FC06C3F198}"/>
              </a:ext>
            </a:extLst>
          </p:cNvPr>
          <p:cNvSpPr>
            <a:spLocks noGrp="1"/>
          </p:cNvSpPr>
          <p:nvPr/>
        </p:nvSpPr>
        <p:spPr>
          <a:xfrm>
            <a:off x="1485900" y="5695950"/>
            <a:ext cx="8572500" cy="3238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022B6C-66CE-498C-ADA2-78F4BED98408}"/>
              </a:ext>
            </a:extLst>
          </p:cNvPr>
          <p:cNvSpPr>
            <a:spLocks noGrp="1"/>
          </p:cNvSpPr>
          <p:nvPr/>
        </p:nvSpPr>
        <p:spPr>
          <a:xfrm>
            <a:off x="1581150" y="5772150"/>
            <a:ext cx="1962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0DE7A-6147-47A9-AB70-DF3B25EF884E}"/>
              </a:ext>
            </a:extLst>
          </p:cNvPr>
          <p:cNvSpPr>
            <a:spLocks noGrp="1"/>
          </p:cNvSpPr>
          <p:nvPr/>
        </p:nvSpPr>
        <p:spPr>
          <a:xfrm>
            <a:off x="3676650" y="5772150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14535F-2936-4E5F-99F1-E6015892A232}"/>
              </a:ext>
            </a:extLst>
          </p:cNvPr>
          <p:cNvSpPr>
            <a:spLocks noGrp="1"/>
          </p:cNvSpPr>
          <p:nvPr/>
        </p:nvSpPr>
        <p:spPr>
          <a:xfrm>
            <a:off x="4533900" y="57721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9932D4-55CD-473F-BA16-FB3D5A2E5F4A}"/>
              </a:ext>
            </a:extLst>
          </p:cNvPr>
          <p:cNvSpPr>
            <a:spLocks noGrp="1"/>
          </p:cNvSpPr>
          <p:nvPr/>
        </p:nvSpPr>
        <p:spPr>
          <a:xfrm>
            <a:off x="5486400" y="57721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714FE0-E070-4FA8-B8B9-7AF4378D318F}"/>
              </a:ext>
            </a:extLst>
          </p:cNvPr>
          <p:cNvSpPr>
            <a:spLocks noGrp="1"/>
          </p:cNvSpPr>
          <p:nvPr/>
        </p:nvSpPr>
        <p:spPr>
          <a:xfrm>
            <a:off x="6438900" y="5772150"/>
            <a:ext cx="3581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</p:spTree>
    <p:extLst>
      <p:ext uri="{BB962C8B-B14F-4D97-AF65-F5344CB8AC3E}">
        <p14:creationId xmlns:p14="http://schemas.microsoft.com/office/powerpoint/2010/main" val="998391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F5A24DCD-D3C2-4BAC-A17D-77D1FA05A8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243876-3755-461A-8A5F-7D6139953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3-marker">
            <a:extLst>
              <a:ext uri="{FF2B5EF4-FFF2-40B4-BE49-F238E27FC236}">
                <a16:creationId xmlns:a16="http://schemas.microsoft.com/office/drawing/2014/main" id="{B79A6C37-C292-4DC7-AB57-2DB28B9E25BA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3-label">
            <a:extLst>
              <a:ext uri="{FF2B5EF4-FFF2-40B4-BE49-F238E27FC236}">
                <a16:creationId xmlns:a16="http://schemas.microsoft.com/office/drawing/2014/main" id="{178A0BCA-BC16-4059-BA04-22CD07FDC134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EXPANDED METRIC SCOREBOARD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15CF3-48A5-44E3-B8C5-D8617ED82F5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D653C5-4E07-43FF-B287-6D6B690A5160}"/>
              </a:ext>
            </a:extLst>
          </p:cNvPr>
          <p:cNvSpPr>
            <a:spLocks noGrp="1"/>
          </p:cNvSpPr>
          <p:nvPr/>
        </p:nvSpPr>
        <p:spPr>
          <a:xfrm>
            <a:off x="400050" y="843999"/>
            <a:ext cx="11334750" cy="20002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726EF-C3B1-4F5B-AD9C-BDC8A9EEB71A}"/>
              </a:ext>
            </a:extLst>
          </p:cNvPr>
          <p:cNvSpPr>
            <a:spLocks noGrp="1"/>
          </p:cNvSpPr>
          <p:nvPr/>
        </p:nvSpPr>
        <p:spPr>
          <a:xfrm>
            <a:off x="495300" y="920199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0A86DB-6774-4AB0-A5E6-E21170D2FE0B}"/>
              </a:ext>
            </a:extLst>
          </p:cNvPr>
          <p:cNvSpPr>
            <a:spLocks noGrp="1"/>
          </p:cNvSpPr>
          <p:nvPr/>
        </p:nvSpPr>
        <p:spPr>
          <a:xfrm>
            <a:off x="1924050" y="920199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346E72-2408-476D-BE25-B6AFD2EE5634}"/>
              </a:ext>
            </a:extLst>
          </p:cNvPr>
          <p:cNvSpPr>
            <a:spLocks noGrp="1"/>
          </p:cNvSpPr>
          <p:nvPr/>
        </p:nvSpPr>
        <p:spPr>
          <a:xfrm>
            <a:off x="2533650" y="920199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EBB5F-7467-4183-A3A8-9D8BB132D133}"/>
              </a:ext>
            </a:extLst>
          </p:cNvPr>
          <p:cNvSpPr>
            <a:spLocks noGrp="1"/>
          </p:cNvSpPr>
          <p:nvPr/>
        </p:nvSpPr>
        <p:spPr>
          <a:xfrm>
            <a:off x="3124200" y="920199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3C5CEF-89E7-4242-A610-6C8740986457}"/>
              </a:ext>
            </a:extLst>
          </p:cNvPr>
          <p:cNvSpPr>
            <a:spLocks noGrp="1"/>
          </p:cNvSpPr>
          <p:nvPr/>
        </p:nvSpPr>
        <p:spPr>
          <a:xfrm>
            <a:off x="3848100" y="920199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20F14-A019-4011-BD86-89E1E827B65F}"/>
              </a:ext>
            </a:extLst>
          </p:cNvPr>
          <p:cNvSpPr>
            <a:spLocks noGrp="1"/>
          </p:cNvSpPr>
          <p:nvPr/>
        </p:nvSpPr>
        <p:spPr>
          <a:xfrm>
            <a:off x="4457700" y="920199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4782D4-E4EC-4E16-9D91-35BED7133E2D}"/>
              </a:ext>
            </a:extLst>
          </p:cNvPr>
          <p:cNvSpPr>
            <a:spLocks noGrp="1"/>
          </p:cNvSpPr>
          <p:nvPr/>
        </p:nvSpPr>
        <p:spPr>
          <a:xfrm>
            <a:off x="5067300" y="920199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2AB3C-8A24-45F5-9F81-DCD6FBA2C072}"/>
              </a:ext>
            </a:extLst>
          </p:cNvPr>
          <p:cNvSpPr>
            <a:spLocks noGrp="1"/>
          </p:cNvSpPr>
          <p:nvPr/>
        </p:nvSpPr>
        <p:spPr>
          <a:xfrm>
            <a:off x="5676900" y="920199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810B5D-EDC6-4285-87D9-5EF4D5358A28}"/>
              </a:ext>
            </a:extLst>
          </p:cNvPr>
          <p:cNvSpPr>
            <a:spLocks noGrp="1"/>
          </p:cNvSpPr>
          <p:nvPr/>
        </p:nvSpPr>
        <p:spPr>
          <a:xfrm>
            <a:off x="6248400" y="920199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463CD3-D3A9-4223-97A1-DE06BE597B12}"/>
              </a:ext>
            </a:extLst>
          </p:cNvPr>
          <p:cNvSpPr>
            <a:spLocks noGrp="1"/>
          </p:cNvSpPr>
          <p:nvPr/>
        </p:nvSpPr>
        <p:spPr>
          <a:xfrm>
            <a:off x="7867650" y="920199"/>
            <a:ext cx="3829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0181D-3BCA-4069-ADE4-8E16A2148DBE}"/>
              </a:ext>
            </a:extLst>
          </p:cNvPr>
          <p:cNvSpPr>
            <a:spLocks noGrp="1"/>
          </p:cNvSpPr>
          <p:nvPr/>
        </p:nvSpPr>
        <p:spPr>
          <a:xfrm>
            <a:off x="400050" y="1167849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4232F9-CC7E-4AA5-8560-33BA5A4B6C90}"/>
              </a:ext>
            </a:extLst>
          </p:cNvPr>
          <p:cNvSpPr>
            <a:spLocks noGrp="1"/>
          </p:cNvSpPr>
          <p:nvPr/>
        </p:nvSpPr>
        <p:spPr>
          <a:xfrm>
            <a:off x="495300" y="1244049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5423F0-A1C7-4865-A904-4469D9A7178A}"/>
              </a:ext>
            </a:extLst>
          </p:cNvPr>
          <p:cNvSpPr>
            <a:spLocks noGrp="1"/>
          </p:cNvSpPr>
          <p:nvPr/>
        </p:nvSpPr>
        <p:spPr>
          <a:xfrm>
            <a:off x="1924050" y="12440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EA07CD-8D33-4EE9-855F-21A6028E2B4E}"/>
              </a:ext>
            </a:extLst>
          </p:cNvPr>
          <p:cNvSpPr>
            <a:spLocks noGrp="1"/>
          </p:cNvSpPr>
          <p:nvPr/>
        </p:nvSpPr>
        <p:spPr>
          <a:xfrm>
            <a:off x="2533650" y="1244049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1514A4-A9D4-45F5-9347-963BFD8FEC2A}"/>
              </a:ext>
            </a:extLst>
          </p:cNvPr>
          <p:cNvSpPr>
            <a:spLocks noGrp="1"/>
          </p:cNvSpPr>
          <p:nvPr/>
        </p:nvSpPr>
        <p:spPr>
          <a:xfrm>
            <a:off x="3124200" y="1244049"/>
            <a:ext cx="590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AB2595-C44E-49B5-BC1B-81C69F3A176C}"/>
              </a:ext>
            </a:extLst>
          </p:cNvPr>
          <p:cNvSpPr>
            <a:spLocks noGrp="1"/>
          </p:cNvSpPr>
          <p:nvPr/>
        </p:nvSpPr>
        <p:spPr>
          <a:xfrm>
            <a:off x="3848100" y="12440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D6C295-C085-4EC7-8EE0-2D5D609E16BD}"/>
              </a:ext>
            </a:extLst>
          </p:cNvPr>
          <p:cNvSpPr>
            <a:spLocks noGrp="1"/>
          </p:cNvSpPr>
          <p:nvPr/>
        </p:nvSpPr>
        <p:spPr>
          <a:xfrm>
            <a:off x="4457700" y="12440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301586-DB3C-46C1-BA0F-8D88F935EBE4}"/>
              </a:ext>
            </a:extLst>
          </p:cNvPr>
          <p:cNvSpPr>
            <a:spLocks noGrp="1"/>
          </p:cNvSpPr>
          <p:nvPr/>
        </p:nvSpPr>
        <p:spPr>
          <a:xfrm>
            <a:off x="5067300" y="12440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1F33D6-65A8-4854-B144-A0FA356C2AF8}"/>
              </a:ext>
            </a:extLst>
          </p:cNvPr>
          <p:cNvSpPr>
            <a:spLocks noGrp="1"/>
          </p:cNvSpPr>
          <p:nvPr/>
        </p:nvSpPr>
        <p:spPr>
          <a:xfrm>
            <a:off x="5676900" y="1244049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242D1B-5F75-4172-BF8C-DEBFAA3D4277}"/>
              </a:ext>
            </a:extLst>
          </p:cNvPr>
          <p:cNvSpPr>
            <a:spLocks noGrp="1"/>
          </p:cNvSpPr>
          <p:nvPr/>
        </p:nvSpPr>
        <p:spPr>
          <a:xfrm>
            <a:off x="6248400" y="1244049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 val / 11 test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CBD05C-74F7-458E-8D9E-26F5411DE078}"/>
              </a:ext>
            </a:extLst>
          </p:cNvPr>
          <p:cNvSpPr>
            <a:spLocks noGrp="1"/>
          </p:cNvSpPr>
          <p:nvPr/>
        </p:nvSpPr>
        <p:spPr>
          <a:xfrm>
            <a:off x="7867650" y="1244049"/>
            <a:ext cx="3829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selected branch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0F0F3D-8B2B-4E99-8624-779EB881B31D}"/>
              </a:ext>
            </a:extLst>
          </p:cNvPr>
          <p:cNvSpPr>
            <a:spLocks noGrp="1"/>
          </p:cNvSpPr>
          <p:nvPr/>
        </p:nvSpPr>
        <p:spPr>
          <a:xfrm>
            <a:off x="400050" y="1586949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710EA3-1799-4657-921E-6841A2A6360E}"/>
              </a:ext>
            </a:extLst>
          </p:cNvPr>
          <p:cNvSpPr>
            <a:spLocks noGrp="1"/>
          </p:cNvSpPr>
          <p:nvPr/>
        </p:nvSpPr>
        <p:spPr>
          <a:xfrm>
            <a:off x="400050" y="1586949"/>
            <a:ext cx="11334750" cy="41910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2B6614-56DC-481D-8B7F-8E867B72CB39}"/>
              </a:ext>
            </a:extLst>
          </p:cNvPr>
          <p:cNvSpPr>
            <a:spLocks noGrp="1"/>
          </p:cNvSpPr>
          <p:nvPr/>
        </p:nvSpPr>
        <p:spPr>
          <a:xfrm>
            <a:off x="495300" y="1663149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CE15AE-051E-46AF-B356-E3D02BD23651}"/>
              </a:ext>
            </a:extLst>
          </p:cNvPr>
          <p:cNvSpPr>
            <a:spLocks noGrp="1"/>
          </p:cNvSpPr>
          <p:nvPr/>
        </p:nvSpPr>
        <p:spPr>
          <a:xfrm>
            <a:off x="1924050" y="16631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3E0496-9EE1-41F8-9FF3-7A347FA649E3}"/>
              </a:ext>
            </a:extLst>
          </p:cNvPr>
          <p:cNvSpPr>
            <a:spLocks noGrp="1"/>
          </p:cNvSpPr>
          <p:nvPr/>
        </p:nvSpPr>
        <p:spPr>
          <a:xfrm>
            <a:off x="2533650" y="1663149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B3A787-3B1B-4D22-AD0E-B165ADDD6AC0}"/>
              </a:ext>
            </a:extLst>
          </p:cNvPr>
          <p:cNvSpPr>
            <a:spLocks noGrp="1"/>
          </p:cNvSpPr>
          <p:nvPr/>
        </p:nvSpPr>
        <p:spPr>
          <a:xfrm>
            <a:off x="3124200" y="1663149"/>
            <a:ext cx="590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7DED95-2984-42B6-8B96-5CEBF2A45F28}"/>
              </a:ext>
            </a:extLst>
          </p:cNvPr>
          <p:cNvSpPr>
            <a:spLocks noGrp="1"/>
          </p:cNvSpPr>
          <p:nvPr/>
        </p:nvSpPr>
        <p:spPr>
          <a:xfrm>
            <a:off x="3848100" y="16631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5C6226-5B31-4345-B680-4E5C30B8745C}"/>
              </a:ext>
            </a:extLst>
          </p:cNvPr>
          <p:cNvSpPr>
            <a:spLocks noGrp="1"/>
          </p:cNvSpPr>
          <p:nvPr/>
        </p:nvSpPr>
        <p:spPr>
          <a:xfrm>
            <a:off x="4457700" y="16631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298478-29D8-4217-8CF1-955EA54BCCE3}"/>
              </a:ext>
            </a:extLst>
          </p:cNvPr>
          <p:cNvSpPr>
            <a:spLocks noGrp="1"/>
          </p:cNvSpPr>
          <p:nvPr/>
        </p:nvSpPr>
        <p:spPr>
          <a:xfrm>
            <a:off x="5067300" y="16631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44EB53-33E9-44F6-BEB6-3C3A89A91CA4}"/>
              </a:ext>
            </a:extLst>
          </p:cNvPr>
          <p:cNvSpPr>
            <a:spLocks noGrp="1"/>
          </p:cNvSpPr>
          <p:nvPr/>
        </p:nvSpPr>
        <p:spPr>
          <a:xfrm>
            <a:off x="5676900" y="1663149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AFF625-8715-422A-BA28-338FBAD15A0D}"/>
              </a:ext>
            </a:extLst>
          </p:cNvPr>
          <p:cNvSpPr>
            <a:spLocks noGrp="1"/>
          </p:cNvSpPr>
          <p:nvPr/>
        </p:nvSpPr>
        <p:spPr>
          <a:xfrm>
            <a:off x="6248400" y="1663149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 val / 22 test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542F31-746E-4B19-AA01-3979A08B8277}"/>
              </a:ext>
            </a:extLst>
          </p:cNvPr>
          <p:cNvSpPr>
            <a:spLocks noGrp="1"/>
          </p:cNvSpPr>
          <p:nvPr/>
        </p:nvSpPr>
        <p:spPr>
          <a:xfrm>
            <a:off x="7867650" y="1663149"/>
            <a:ext cx="3829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close non-memorizing branch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B650FD-491C-49C9-B9E5-CE512237CB42}"/>
              </a:ext>
            </a:extLst>
          </p:cNvPr>
          <p:cNvSpPr>
            <a:spLocks noGrp="1"/>
          </p:cNvSpPr>
          <p:nvPr/>
        </p:nvSpPr>
        <p:spPr>
          <a:xfrm>
            <a:off x="400050" y="2006049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88685B-2B5E-47AE-A438-255939F8E0FE}"/>
              </a:ext>
            </a:extLst>
          </p:cNvPr>
          <p:cNvSpPr>
            <a:spLocks noGrp="1"/>
          </p:cNvSpPr>
          <p:nvPr/>
        </p:nvSpPr>
        <p:spPr>
          <a:xfrm>
            <a:off x="495300" y="2082249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707042-F113-4D35-A571-757129CA9B5F}"/>
              </a:ext>
            </a:extLst>
          </p:cNvPr>
          <p:cNvSpPr>
            <a:spLocks noGrp="1"/>
          </p:cNvSpPr>
          <p:nvPr/>
        </p:nvSpPr>
        <p:spPr>
          <a:xfrm>
            <a:off x="1924050" y="20822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E2C97E-8677-48B5-A424-32CDAD5C6744}"/>
              </a:ext>
            </a:extLst>
          </p:cNvPr>
          <p:cNvSpPr>
            <a:spLocks noGrp="1"/>
          </p:cNvSpPr>
          <p:nvPr/>
        </p:nvSpPr>
        <p:spPr>
          <a:xfrm>
            <a:off x="2533650" y="2082249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FCA5AB-1962-4197-8713-BFEB814B4FA3}"/>
              </a:ext>
            </a:extLst>
          </p:cNvPr>
          <p:cNvSpPr>
            <a:spLocks noGrp="1"/>
          </p:cNvSpPr>
          <p:nvPr/>
        </p:nvSpPr>
        <p:spPr>
          <a:xfrm>
            <a:off x="3124200" y="2082249"/>
            <a:ext cx="590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0.00298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F30F2F-2A4B-40F5-8F13-E62C49DC645E}"/>
              </a:ext>
            </a:extLst>
          </p:cNvPr>
          <p:cNvSpPr>
            <a:spLocks noGrp="1"/>
          </p:cNvSpPr>
          <p:nvPr/>
        </p:nvSpPr>
        <p:spPr>
          <a:xfrm>
            <a:off x="3848100" y="20822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E08E02-FD7E-41B2-BFF0-E0E051DDBEBF}"/>
              </a:ext>
            </a:extLst>
          </p:cNvPr>
          <p:cNvSpPr>
            <a:spLocks noGrp="1"/>
          </p:cNvSpPr>
          <p:nvPr/>
        </p:nvSpPr>
        <p:spPr>
          <a:xfrm>
            <a:off x="4457700" y="20822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C1729F-A576-4966-8332-9EE7A2A49A1C}"/>
              </a:ext>
            </a:extLst>
          </p:cNvPr>
          <p:cNvSpPr>
            <a:spLocks noGrp="1"/>
          </p:cNvSpPr>
          <p:nvPr/>
        </p:nvSpPr>
        <p:spPr>
          <a:xfrm>
            <a:off x="5067300" y="20822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BD1662-104C-47F0-AE72-B248B47E5D78}"/>
              </a:ext>
            </a:extLst>
          </p:cNvPr>
          <p:cNvSpPr>
            <a:spLocks noGrp="1"/>
          </p:cNvSpPr>
          <p:nvPr/>
        </p:nvSpPr>
        <p:spPr>
          <a:xfrm>
            <a:off x="5676900" y="2082249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5DCC9B2-A23F-41BC-95CD-A3C205A7201F}"/>
              </a:ext>
            </a:extLst>
          </p:cNvPr>
          <p:cNvSpPr>
            <a:spLocks noGrp="1"/>
          </p:cNvSpPr>
          <p:nvPr/>
        </p:nvSpPr>
        <p:spPr>
          <a:xfrm>
            <a:off x="6248400" y="2082249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 train; 365 val; 333 test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1888B9-BDA4-4444-A6E0-CA9D66871FD5}"/>
              </a:ext>
            </a:extLst>
          </p:cNvPr>
          <p:cNvSpPr>
            <a:spLocks noGrp="1"/>
          </p:cNvSpPr>
          <p:nvPr/>
        </p:nvSpPr>
        <p:spPr>
          <a:xfrm>
            <a:off x="7867650" y="2082249"/>
            <a:ext cx="3829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raw-metric winner, audit failure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A3FD38-D843-42E7-B210-1DA30D90B099}"/>
              </a:ext>
            </a:extLst>
          </p:cNvPr>
          <p:cNvSpPr>
            <a:spLocks noGrp="1"/>
          </p:cNvSpPr>
          <p:nvPr/>
        </p:nvSpPr>
        <p:spPr>
          <a:xfrm>
            <a:off x="400050" y="2425149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B2BAE2-DFAD-414E-8454-A544132E34DB}"/>
              </a:ext>
            </a:extLst>
          </p:cNvPr>
          <p:cNvSpPr>
            <a:spLocks noGrp="1"/>
          </p:cNvSpPr>
          <p:nvPr/>
        </p:nvSpPr>
        <p:spPr>
          <a:xfrm>
            <a:off x="400050" y="2425149"/>
            <a:ext cx="11334750" cy="41910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CBEFE7E-4D09-4DA8-94CC-8DFFB24EAB4C}"/>
              </a:ext>
            </a:extLst>
          </p:cNvPr>
          <p:cNvSpPr>
            <a:spLocks noGrp="1"/>
          </p:cNvSpPr>
          <p:nvPr/>
        </p:nvSpPr>
        <p:spPr>
          <a:xfrm>
            <a:off x="495300" y="2501349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C7E893-AC99-4EFD-AE4C-7D3DC4155670}"/>
              </a:ext>
            </a:extLst>
          </p:cNvPr>
          <p:cNvSpPr>
            <a:spLocks noGrp="1"/>
          </p:cNvSpPr>
          <p:nvPr/>
        </p:nvSpPr>
        <p:spPr>
          <a:xfrm>
            <a:off x="1924050" y="25013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710855-6739-4AEF-99F5-16670AB515C8}"/>
              </a:ext>
            </a:extLst>
          </p:cNvPr>
          <p:cNvSpPr>
            <a:spLocks noGrp="1"/>
          </p:cNvSpPr>
          <p:nvPr/>
        </p:nvSpPr>
        <p:spPr>
          <a:xfrm>
            <a:off x="2533650" y="2501349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1B69C44-CB83-4028-9E16-2A38911E9487}"/>
              </a:ext>
            </a:extLst>
          </p:cNvPr>
          <p:cNvSpPr>
            <a:spLocks noGrp="1"/>
          </p:cNvSpPr>
          <p:nvPr/>
        </p:nvSpPr>
        <p:spPr>
          <a:xfrm>
            <a:off x="3124200" y="2501349"/>
            <a:ext cx="590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3701E1-2DB6-466B-9EAF-C0526F78BEAB}"/>
              </a:ext>
            </a:extLst>
          </p:cNvPr>
          <p:cNvSpPr>
            <a:spLocks noGrp="1"/>
          </p:cNvSpPr>
          <p:nvPr/>
        </p:nvSpPr>
        <p:spPr>
          <a:xfrm>
            <a:off x="3848100" y="25013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D1F184-AC35-4767-B0E5-04FF0ECDF46D}"/>
              </a:ext>
            </a:extLst>
          </p:cNvPr>
          <p:cNvSpPr>
            <a:spLocks noGrp="1"/>
          </p:cNvSpPr>
          <p:nvPr/>
        </p:nvSpPr>
        <p:spPr>
          <a:xfrm>
            <a:off x="4457700" y="25013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EC2A67-DC7B-48FF-B63D-7669766F3768}"/>
              </a:ext>
            </a:extLst>
          </p:cNvPr>
          <p:cNvSpPr>
            <a:spLocks noGrp="1"/>
          </p:cNvSpPr>
          <p:nvPr/>
        </p:nvSpPr>
        <p:spPr>
          <a:xfrm>
            <a:off x="5067300" y="2501349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03A62A-5EC0-449B-94D7-62FD47E14FC1}"/>
              </a:ext>
            </a:extLst>
          </p:cNvPr>
          <p:cNvSpPr>
            <a:spLocks noGrp="1"/>
          </p:cNvSpPr>
          <p:nvPr/>
        </p:nvSpPr>
        <p:spPr>
          <a:xfrm>
            <a:off x="5676900" y="2501349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AC77C93-2967-41FB-9D80-BBEAE8D5276C}"/>
              </a:ext>
            </a:extLst>
          </p:cNvPr>
          <p:cNvSpPr>
            <a:spLocks noGrp="1"/>
          </p:cNvSpPr>
          <p:nvPr/>
        </p:nvSpPr>
        <p:spPr>
          <a:xfrm>
            <a:off x="6248400" y="2501349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 exact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C362EE-5788-4295-AC5F-471C469EB639}"/>
              </a:ext>
            </a:extLst>
          </p:cNvPr>
          <p:cNvSpPr>
            <a:spLocks noGrp="1"/>
          </p:cNvSpPr>
          <p:nvPr/>
        </p:nvSpPr>
        <p:spPr>
          <a:xfrm>
            <a:off x="7867650" y="2501349"/>
            <a:ext cx="3829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1D421E-3CB3-4299-BDE0-86B96F1459A7}"/>
              </a:ext>
            </a:extLst>
          </p:cNvPr>
          <p:cNvSpPr>
            <a:spLocks noGrp="1"/>
          </p:cNvSpPr>
          <p:nvPr/>
        </p:nvSpPr>
        <p:spPr>
          <a:xfrm>
            <a:off x="400050" y="3121718"/>
            <a:ext cx="11334750" cy="19240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8F27818-0A6E-4EB8-B913-202BE5C63097}"/>
              </a:ext>
            </a:extLst>
          </p:cNvPr>
          <p:cNvSpPr>
            <a:spLocks noGrp="1"/>
          </p:cNvSpPr>
          <p:nvPr/>
        </p:nvSpPr>
        <p:spPr>
          <a:xfrm>
            <a:off x="495300" y="3197918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row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1240BC5-1201-44C4-8271-A6AC5FBEE90B}"/>
              </a:ext>
            </a:extLst>
          </p:cNvPr>
          <p:cNvSpPr>
            <a:spLocks noGrp="1"/>
          </p:cNvSpPr>
          <p:nvPr/>
        </p:nvSpPr>
        <p:spPr>
          <a:xfrm>
            <a:off x="2114550" y="3197918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EF54B3D-6827-409A-BD7F-04638A2306D2}"/>
              </a:ext>
            </a:extLst>
          </p:cNvPr>
          <p:cNvSpPr>
            <a:spLocks noGrp="1"/>
          </p:cNvSpPr>
          <p:nvPr/>
        </p:nvSpPr>
        <p:spPr>
          <a:xfrm>
            <a:off x="2552700" y="3197918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987C6F-7E5F-4D7B-859B-D689B34B8380}"/>
              </a:ext>
            </a:extLst>
          </p:cNvPr>
          <p:cNvSpPr>
            <a:spLocks noGrp="1"/>
          </p:cNvSpPr>
          <p:nvPr/>
        </p:nvSpPr>
        <p:spPr>
          <a:xfrm>
            <a:off x="3219450" y="3197918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D2A625-4F8D-40D3-9637-355BCAF0D8B7}"/>
              </a:ext>
            </a:extLst>
          </p:cNvPr>
          <p:cNvSpPr>
            <a:spLocks noGrp="1"/>
          </p:cNvSpPr>
          <p:nvPr/>
        </p:nvSpPr>
        <p:spPr>
          <a:xfrm>
            <a:off x="4000500" y="3197918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3D852C0-5101-4BFE-B18B-8303E52B3725}"/>
              </a:ext>
            </a:extLst>
          </p:cNvPr>
          <p:cNvSpPr>
            <a:spLocks noGrp="1"/>
          </p:cNvSpPr>
          <p:nvPr/>
        </p:nvSpPr>
        <p:spPr>
          <a:xfrm>
            <a:off x="4648200" y="3197918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FB2648A-30AC-495C-94E0-25EC7DD70292}"/>
              </a:ext>
            </a:extLst>
          </p:cNvPr>
          <p:cNvSpPr>
            <a:spLocks noGrp="1"/>
          </p:cNvSpPr>
          <p:nvPr/>
        </p:nvSpPr>
        <p:spPr>
          <a:xfrm>
            <a:off x="5295900" y="3197918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CC2F643-B78A-4B1F-A5E2-B48D9EC40DF9}"/>
              </a:ext>
            </a:extLst>
          </p:cNvPr>
          <p:cNvSpPr>
            <a:spLocks noGrp="1"/>
          </p:cNvSpPr>
          <p:nvPr/>
        </p:nvSpPr>
        <p:spPr>
          <a:xfrm>
            <a:off x="5943600" y="3197918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3457104-C5E6-44B9-B1AA-2728FCD2C27D}"/>
              </a:ext>
            </a:extLst>
          </p:cNvPr>
          <p:cNvSpPr>
            <a:spLocks noGrp="1"/>
          </p:cNvSpPr>
          <p:nvPr/>
        </p:nvSpPr>
        <p:spPr>
          <a:xfrm>
            <a:off x="6515100" y="3197918"/>
            <a:ext cx="518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DF0C9E0-0F7E-4288-B63D-64D0CB05C2B0}"/>
              </a:ext>
            </a:extLst>
          </p:cNvPr>
          <p:cNvSpPr>
            <a:spLocks noGrp="1"/>
          </p:cNvSpPr>
          <p:nvPr/>
        </p:nvSpPr>
        <p:spPr>
          <a:xfrm>
            <a:off x="400050" y="3445568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6A3180C-BBD7-4EA4-92C8-12021A0B2CA0}"/>
              </a:ext>
            </a:extLst>
          </p:cNvPr>
          <p:cNvSpPr>
            <a:spLocks noGrp="1"/>
          </p:cNvSpPr>
          <p:nvPr/>
        </p:nvSpPr>
        <p:spPr>
          <a:xfrm>
            <a:off x="495300" y="3521768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 dirty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paired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84B5869-0245-4CBB-8CCE-40F795E77AEF}"/>
              </a:ext>
            </a:extLst>
          </p:cNvPr>
          <p:cNvSpPr>
            <a:spLocks noGrp="1"/>
          </p:cNvSpPr>
          <p:nvPr/>
        </p:nvSpPr>
        <p:spPr>
          <a:xfrm>
            <a:off x="2114550" y="3521768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A82367E-242C-4A64-956F-6955516F7A29}"/>
              </a:ext>
            </a:extLst>
          </p:cNvPr>
          <p:cNvSpPr>
            <a:spLocks noGrp="1"/>
          </p:cNvSpPr>
          <p:nvPr/>
        </p:nvSpPr>
        <p:spPr>
          <a:xfrm>
            <a:off x="2552700" y="3521768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46.48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F6EE1-5E05-4A81-B951-D45C61E0806C}"/>
              </a:ext>
            </a:extLst>
          </p:cNvPr>
          <p:cNvSpPr>
            <a:spLocks noGrp="1"/>
          </p:cNvSpPr>
          <p:nvPr/>
        </p:nvSpPr>
        <p:spPr>
          <a:xfrm>
            <a:off x="3219450" y="3521768"/>
            <a:ext cx="647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AD0AE9A-CF62-4BAA-9B9E-8DCEAB04C6BB}"/>
              </a:ext>
            </a:extLst>
          </p:cNvPr>
          <p:cNvSpPr>
            <a:spLocks noGrp="1"/>
          </p:cNvSpPr>
          <p:nvPr/>
        </p:nvSpPr>
        <p:spPr>
          <a:xfrm>
            <a:off x="4000500" y="352176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F5F9B6A-F2E2-4DD0-9E8D-4B4FB8300D47}"/>
              </a:ext>
            </a:extLst>
          </p:cNvPr>
          <p:cNvSpPr>
            <a:spLocks noGrp="1"/>
          </p:cNvSpPr>
          <p:nvPr/>
        </p:nvSpPr>
        <p:spPr>
          <a:xfrm>
            <a:off x="4648200" y="352176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07D6D22-4B65-44F4-B6B4-2808F27A9E30}"/>
              </a:ext>
            </a:extLst>
          </p:cNvPr>
          <p:cNvSpPr>
            <a:spLocks noGrp="1"/>
          </p:cNvSpPr>
          <p:nvPr/>
        </p:nvSpPr>
        <p:spPr>
          <a:xfrm>
            <a:off x="5295900" y="352176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F46C457-1038-4D7D-830B-A7EAAA01F4B1}"/>
              </a:ext>
            </a:extLst>
          </p:cNvPr>
          <p:cNvSpPr>
            <a:spLocks noGrp="1"/>
          </p:cNvSpPr>
          <p:nvPr/>
        </p:nvSpPr>
        <p:spPr>
          <a:xfrm>
            <a:off x="5943600" y="3521768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18BBE74-0287-435D-926A-57759A39C637}"/>
              </a:ext>
            </a:extLst>
          </p:cNvPr>
          <p:cNvSpPr>
            <a:spLocks noGrp="1"/>
          </p:cNvSpPr>
          <p:nvPr/>
        </p:nvSpPr>
        <p:spPr>
          <a:xfrm>
            <a:off x="6515100" y="3521768"/>
            <a:ext cx="518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same sample count reference row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0E2A9BA-1E79-4C92-92FE-CBC327D35E06}"/>
              </a:ext>
            </a:extLst>
          </p:cNvPr>
          <p:cNvSpPr>
            <a:spLocks noGrp="1"/>
          </p:cNvSpPr>
          <p:nvPr/>
        </p:nvSpPr>
        <p:spPr>
          <a:xfrm>
            <a:off x="400050" y="3845618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132D111-3342-426A-ADB0-F1C0B5CE0B1D}"/>
              </a:ext>
            </a:extLst>
          </p:cNvPr>
          <p:cNvSpPr>
            <a:spLocks noGrp="1"/>
          </p:cNvSpPr>
          <p:nvPr/>
        </p:nvSpPr>
        <p:spPr>
          <a:xfrm>
            <a:off x="400050" y="3845618"/>
            <a:ext cx="11334750" cy="4000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EBD1AB2-1151-42B5-9088-850E73C9323B}"/>
              </a:ext>
            </a:extLst>
          </p:cNvPr>
          <p:cNvSpPr>
            <a:spLocks noGrp="1"/>
          </p:cNvSpPr>
          <p:nvPr/>
        </p:nvSpPr>
        <p:spPr>
          <a:xfrm>
            <a:off x="495300" y="3921818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F946718-F9BD-4F91-8BE8-D534CC5D9569}"/>
              </a:ext>
            </a:extLst>
          </p:cNvPr>
          <p:cNvSpPr>
            <a:spLocks noGrp="1"/>
          </p:cNvSpPr>
          <p:nvPr/>
        </p:nvSpPr>
        <p:spPr>
          <a:xfrm>
            <a:off x="2114550" y="3921818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6407012-91ED-40E3-A62F-661E1B7C2736}"/>
              </a:ext>
            </a:extLst>
          </p:cNvPr>
          <p:cNvSpPr>
            <a:spLocks noGrp="1"/>
          </p:cNvSpPr>
          <p:nvPr/>
        </p:nvSpPr>
        <p:spPr>
          <a:xfrm>
            <a:off x="2552700" y="3921818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154.02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1757EA6-DC4D-4D62-9634-D683B77C4E41}"/>
              </a:ext>
            </a:extLst>
          </p:cNvPr>
          <p:cNvSpPr>
            <a:spLocks noGrp="1"/>
          </p:cNvSpPr>
          <p:nvPr/>
        </p:nvSpPr>
        <p:spPr>
          <a:xfrm>
            <a:off x="3219450" y="3921818"/>
            <a:ext cx="647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0.13659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75DA98A-3F53-4345-89EC-487E64F25C0D}"/>
              </a:ext>
            </a:extLst>
          </p:cNvPr>
          <p:cNvSpPr>
            <a:spLocks noGrp="1"/>
          </p:cNvSpPr>
          <p:nvPr/>
        </p:nvSpPr>
        <p:spPr>
          <a:xfrm>
            <a:off x="4000500" y="392181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C2DF1C6-6D15-4E36-9913-A8DD504ABFCA}"/>
              </a:ext>
            </a:extLst>
          </p:cNvPr>
          <p:cNvSpPr>
            <a:spLocks noGrp="1"/>
          </p:cNvSpPr>
          <p:nvPr/>
        </p:nvSpPr>
        <p:spPr>
          <a:xfrm>
            <a:off x="4648200" y="392181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2EBE2F9-9DE2-491E-B30D-83BEED07A018}"/>
              </a:ext>
            </a:extLst>
          </p:cNvPr>
          <p:cNvSpPr>
            <a:spLocks noGrp="1"/>
          </p:cNvSpPr>
          <p:nvPr/>
        </p:nvSpPr>
        <p:spPr>
          <a:xfrm>
            <a:off x="5295900" y="392181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3F42575-F912-4F4E-AFA8-9117E184DF28}"/>
              </a:ext>
            </a:extLst>
          </p:cNvPr>
          <p:cNvSpPr>
            <a:spLocks noGrp="1"/>
          </p:cNvSpPr>
          <p:nvPr/>
        </p:nvSpPr>
        <p:spPr>
          <a:xfrm>
            <a:off x="5943600" y="3921818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0.542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C2B491-414A-428F-8354-DCED96006D2F}"/>
              </a:ext>
            </a:extLst>
          </p:cNvPr>
          <p:cNvSpPr>
            <a:spLocks noGrp="1"/>
          </p:cNvSpPr>
          <p:nvPr/>
        </p:nvSpPr>
        <p:spPr>
          <a:xfrm>
            <a:off x="6515100" y="3921818"/>
            <a:ext cx="518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practical external visual row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12F7EAF-F2F8-44DF-8B7D-C790DE559731}"/>
              </a:ext>
            </a:extLst>
          </p:cNvPr>
          <p:cNvSpPr>
            <a:spLocks noGrp="1"/>
          </p:cNvSpPr>
          <p:nvPr/>
        </p:nvSpPr>
        <p:spPr>
          <a:xfrm>
            <a:off x="400050" y="4245668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38F82F8-101B-49BC-AFEF-2147CF243EE9}"/>
              </a:ext>
            </a:extLst>
          </p:cNvPr>
          <p:cNvSpPr>
            <a:spLocks noGrp="1"/>
          </p:cNvSpPr>
          <p:nvPr/>
        </p:nvSpPr>
        <p:spPr>
          <a:xfrm>
            <a:off x="495300" y="4321868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25D8246-67A4-457E-9CF4-CFEB8F78063A}"/>
              </a:ext>
            </a:extLst>
          </p:cNvPr>
          <p:cNvSpPr>
            <a:spLocks noGrp="1"/>
          </p:cNvSpPr>
          <p:nvPr/>
        </p:nvSpPr>
        <p:spPr>
          <a:xfrm>
            <a:off x="2114550" y="4321868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50B083E-9839-41A4-B426-759EF4413D6D}"/>
              </a:ext>
            </a:extLst>
          </p:cNvPr>
          <p:cNvSpPr>
            <a:spLocks noGrp="1"/>
          </p:cNvSpPr>
          <p:nvPr/>
        </p:nvSpPr>
        <p:spPr>
          <a:xfrm>
            <a:off x="2552700" y="4321868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9D1BCC7-EFB3-4BE0-832C-EE73E1E60E0A}"/>
              </a:ext>
            </a:extLst>
          </p:cNvPr>
          <p:cNvSpPr>
            <a:spLocks noGrp="1"/>
          </p:cNvSpPr>
          <p:nvPr/>
        </p:nvSpPr>
        <p:spPr>
          <a:xfrm>
            <a:off x="3219450" y="4321868"/>
            <a:ext cx="647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66D9B2A-A313-426C-B93F-1BBC6F7776A6}"/>
              </a:ext>
            </a:extLst>
          </p:cNvPr>
          <p:cNvSpPr>
            <a:spLocks noGrp="1"/>
          </p:cNvSpPr>
          <p:nvPr/>
        </p:nvSpPr>
        <p:spPr>
          <a:xfrm>
            <a:off x="4000500" y="432186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B70D6D-4CA7-46C9-A03C-69BC40768F2E}"/>
              </a:ext>
            </a:extLst>
          </p:cNvPr>
          <p:cNvSpPr>
            <a:spLocks noGrp="1"/>
          </p:cNvSpPr>
          <p:nvPr/>
        </p:nvSpPr>
        <p:spPr>
          <a:xfrm>
            <a:off x="4648200" y="432186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1150CE7-964B-44BC-8F3B-C5DBB1E97BB0}"/>
              </a:ext>
            </a:extLst>
          </p:cNvPr>
          <p:cNvSpPr>
            <a:spLocks noGrp="1"/>
          </p:cNvSpPr>
          <p:nvPr/>
        </p:nvSpPr>
        <p:spPr>
          <a:xfrm>
            <a:off x="5295900" y="432186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EFEE592-6146-4B93-B5AA-F64D06A75236}"/>
              </a:ext>
            </a:extLst>
          </p:cNvPr>
          <p:cNvSpPr>
            <a:spLocks noGrp="1"/>
          </p:cNvSpPr>
          <p:nvPr/>
        </p:nvSpPr>
        <p:spPr>
          <a:xfrm>
            <a:off x="5943600" y="4321868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0.411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1AB9405-17B4-416E-BB44-4E0B85153456}"/>
              </a:ext>
            </a:extLst>
          </p:cNvPr>
          <p:cNvSpPr>
            <a:spLocks noGrp="1"/>
          </p:cNvSpPr>
          <p:nvPr/>
        </p:nvSpPr>
        <p:spPr>
          <a:xfrm>
            <a:off x="6515100" y="4321868"/>
            <a:ext cx="518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recognizable sometimes, low precision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A7B3DA2-564D-4503-AD54-B67CD6C5941D}"/>
              </a:ext>
            </a:extLst>
          </p:cNvPr>
          <p:cNvSpPr>
            <a:spLocks noGrp="1"/>
          </p:cNvSpPr>
          <p:nvPr/>
        </p:nvSpPr>
        <p:spPr>
          <a:xfrm>
            <a:off x="400050" y="4645718"/>
            <a:ext cx="1133475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0C84EB3-39B2-4823-BF18-191EFA729DB8}"/>
              </a:ext>
            </a:extLst>
          </p:cNvPr>
          <p:cNvSpPr>
            <a:spLocks noGrp="1"/>
          </p:cNvSpPr>
          <p:nvPr/>
        </p:nvSpPr>
        <p:spPr>
          <a:xfrm>
            <a:off x="400050" y="4645718"/>
            <a:ext cx="11334750" cy="400050"/>
          </a:xfrm>
          <a:prstGeom prst="rect">
            <a:avLst/>
          </a:prstGeom>
          <a:solidFill>
            <a:srgbClr val="2021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8647911-F8F1-48C1-84FA-29EE5666CC86}"/>
              </a:ext>
            </a:extLst>
          </p:cNvPr>
          <p:cNvSpPr>
            <a:spLocks noGrp="1"/>
          </p:cNvSpPr>
          <p:nvPr/>
        </p:nvSpPr>
        <p:spPr>
          <a:xfrm>
            <a:off x="495300" y="4721918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405ED0C-BCF1-4083-8865-08206528AD3A}"/>
              </a:ext>
            </a:extLst>
          </p:cNvPr>
          <p:cNvSpPr>
            <a:spLocks noGrp="1"/>
          </p:cNvSpPr>
          <p:nvPr/>
        </p:nvSpPr>
        <p:spPr>
          <a:xfrm>
            <a:off x="2114550" y="4721918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F1CAB7C-41EA-4E8B-A134-37727BE28289}"/>
              </a:ext>
            </a:extLst>
          </p:cNvPr>
          <p:cNvSpPr>
            <a:spLocks noGrp="1"/>
          </p:cNvSpPr>
          <p:nvPr/>
        </p:nvSpPr>
        <p:spPr>
          <a:xfrm>
            <a:off x="2552700" y="4721918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497.71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19C41F-3657-4B4C-821A-31C53F0044DD}"/>
              </a:ext>
            </a:extLst>
          </p:cNvPr>
          <p:cNvSpPr>
            <a:spLocks noGrp="1"/>
          </p:cNvSpPr>
          <p:nvPr/>
        </p:nvSpPr>
        <p:spPr>
          <a:xfrm>
            <a:off x="3219450" y="4721918"/>
            <a:ext cx="647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0.51765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99CE59C-81F1-431E-B173-08FFB4BA078F}"/>
              </a:ext>
            </a:extLst>
          </p:cNvPr>
          <p:cNvSpPr>
            <a:spLocks noGrp="1"/>
          </p:cNvSpPr>
          <p:nvPr/>
        </p:nvSpPr>
        <p:spPr>
          <a:xfrm>
            <a:off x="4000500" y="472191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9E0A852-6D1B-4E7C-A455-A42348E02567}"/>
              </a:ext>
            </a:extLst>
          </p:cNvPr>
          <p:cNvSpPr>
            <a:spLocks noGrp="1"/>
          </p:cNvSpPr>
          <p:nvPr/>
        </p:nvSpPr>
        <p:spPr>
          <a:xfrm>
            <a:off x="4648200" y="472191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7E5A21A-D548-4350-8F7F-6C83218B2553}"/>
              </a:ext>
            </a:extLst>
          </p:cNvPr>
          <p:cNvSpPr>
            <a:spLocks noGrp="1"/>
          </p:cNvSpPr>
          <p:nvPr/>
        </p:nvSpPr>
        <p:spPr>
          <a:xfrm>
            <a:off x="5295900" y="472191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7318E93-6E84-491D-BC51-3AB9115A7D25}"/>
              </a:ext>
            </a:extLst>
          </p:cNvPr>
          <p:cNvSpPr>
            <a:spLocks noGrp="1"/>
          </p:cNvSpPr>
          <p:nvPr/>
        </p:nvSpPr>
        <p:spPr>
          <a:xfrm>
            <a:off x="5943600" y="4721918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FD2E362-C8FB-4D6F-A336-B81549E3A41F}"/>
              </a:ext>
            </a:extLst>
          </p:cNvPr>
          <p:cNvSpPr>
            <a:spLocks noGrp="1"/>
          </p:cNvSpPr>
          <p:nvPr/>
        </p:nvSpPr>
        <p:spPr>
          <a:xfrm>
            <a:off x="6515100" y="4721918"/>
            <a:ext cx="518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targeted attempt, failed adapted protocol</a:t>
            </a:r>
          </a:p>
        </p:txBody>
      </p:sp>
    </p:spTree>
    <p:extLst>
      <p:ext uri="{BB962C8B-B14F-4D97-AF65-F5344CB8AC3E}">
        <p14:creationId xmlns:p14="http://schemas.microsoft.com/office/powerpoint/2010/main" val="2123957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0C15FB98-D355-43AE-972B-83CA7E5440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C30EFB-30CE-4273-B375-85D0E69747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4-marker">
            <a:extLst>
              <a:ext uri="{FF2B5EF4-FFF2-40B4-BE49-F238E27FC236}">
                <a16:creationId xmlns:a16="http://schemas.microsoft.com/office/drawing/2014/main" id="{737AE6F6-9107-4309-8E15-28A66D4816D1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4-label">
            <a:extLst>
              <a:ext uri="{FF2B5EF4-FFF2-40B4-BE49-F238E27FC236}">
                <a16:creationId xmlns:a16="http://schemas.microsoft.com/office/drawing/2014/main" id="{FD7443AF-1616-45D7-9128-8F5EEE529B59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64885-4938-4577-958F-FAB20B6ECCC1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generators failed the normalized 32x32 sprite protocol.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1FCB7-BA69-4A0E-B8A0-286EBBB36612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477F41-048B-EF8F-5907-ACE360624ED8}"/>
              </a:ext>
            </a:extLst>
          </p:cNvPr>
          <p:cNvSpPr txBox="1"/>
          <p:nvPr/>
        </p:nvSpPr>
        <p:spPr>
          <a:xfrm>
            <a:off x="546100" y="1498600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DEE8F5"/>
                </a:solidFill>
                <a:latin typeface="Aptos" panose="020B0004020202020204" pitchFamily="34" charset="0"/>
              </a:rPr>
              <a:t>Known metrics under the same normalized output protocol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0C97D4-CE40-6EAE-7D10-D8C15556338F}"/>
              </a:ext>
            </a:extLst>
          </p:cNvPr>
          <p:cNvSpPr txBox="1"/>
          <p:nvPr/>
        </p:nvSpPr>
        <p:spPr>
          <a:xfrm>
            <a:off x="546100" y="18415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DEE8F5"/>
                </a:solidFill>
                <a:latin typeface="Aptos" panose="020B0004020202020204" pitchFamily="34" charset="0"/>
              </a:rPr>
              <a:t>FID lower is better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E81306-2027-877F-E516-DD6715F5E4F7}"/>
              </a:ext>
            </a:extLst>
          </p:cNvPr>
          <p:cNvSpPr txBox="1"/>
          <p:nvPr/>
        </p:nvSpPr>
        <p:spPr>
          <a:xfrm>
            <a:off x="685800" y="2133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PixelVAR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57417F6-C8E7-7030-8CBF-0ED00CDD6CD8}"/>
              </a:ext>
            </a:extLst>
          </p:cNvPr>
          <p:cNvSpPr/>
          <p:nvPr/>
        </p:nvSpPr>
        <p:spPr>
          <a:xfrm>
            <a:off x="2184400" y="21971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182C52-F6D4-C378-C934-49D5BCFD368C}"/>
              </a:ext>
            </a:extLst>
          </p:cNvPr>
          <p:cNvSpPr/>
          <p:nvPr/>
        </p:nvSpPr>
        <p:spPr>
          <a:xfrm>
            <a:off x="2184400" y="2197100"/>
            <a:ext cx="231379" cy="1270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6FD3FA-62FA-3BD1-21E5-A4C334F575A6}"/>
              </a:ext>
            </a:extLst>
          </p:cNvPr>
          <p:cNvSpPr txBox="1"/>
          <p:nvPr/>
        </p:nvSpPr>
        <p:spPr>
          <a:xfrm>
            <a:off x="4787900" y="21336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46.5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720E72-A09A-0F3F-2F5C-3F62E390F855}"/>
              </a:ext>
            </a:extLst>
          </p:cNvPr>
          <p:cNvSpPr txBox="1"/>
          <p:nvPr/>
        </p:nvSpPr>
        <p:spPr>
          <a:xfrm>
            <a:off x="685800" y="2501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Pokemon LoRA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B50A364-85B5-751B-CA4E-2480A9182F03}"/>
              </a:ext>
            </a:extLst>
          </p:cNvPr>
          <p:cNvSpPr/>
          <p:nvPr/>
        </p:nvSpPr>
        <p:spPr>
          <a:xfrm>
            <a:off x="2184400" y="25654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550AB7-28FF-EFCE-9F33-445E591351FA}"/>
              </a:ext>
            </a:extLst>
          </p:cNvPr>
          <p:cNvSpPr/>
          <p:nvPr/>
        </p:nvSpPr>
        <p:spPr>
          <a:xfrm>
            <a:off x="2184400" y="2565400"/>
            <a:ext cx="766287" cy="127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664B88-D115-0C2C-432D-81DA1EA8E82A}"/>
              </a:ext>
            </a:extLst>
          </p:cNvPr>
          <p:cNvSpPr txBox="1"/>
          <p:nvPr/>
        </p:nvSpPr>
        <p:spPr>
          <a:xfrm>
            <a:off x="4787900" y="25019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154.0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56C3FA-1211-FD35-C6A5-F8291F6D8BA8}"/>
              </a:ext>
            </a:extLst>
          </p:cNvPr>
          <p:cNvSpPr txBox="1"/>
          <p:nvPr/>
        </p:nvSpPr>
        <p:spPr>
          <a:xfrm>
            <a:off x="685800" y="2870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SSD-1B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148F99-A1FB-A3E1-8FF6-8F604A6682B6}"/>
              </a:ext>
            </a:extLst>
          </p:cNvPr>
          <p:cNvSpPr/>
          <p:nvPr/>
        </p:nvSpPr>
        <p:spPr>
          <a:xfrm>
            <a:off x="2184400" y="29337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AC6DE6-8181-65FC-3B00-0FD09FB3A5C3}"/>
              </a:ext>
            </a:extLst>
          </p:cNvPr>
          <p:cNvSpPr/>
          <p:nvPr/>
        </p:nvSpPr>
        <p:spPr>
          <a:xfrm>
            <a:off x="2184400" y="2933700"/>
            <a:ext cx="789176" cy="127000"/>
          </a:xfrm>
          <a:prstGeom prst="rect">
            <a:avLst/>
          </a:prstGeom>
          <a:solidFill>
            <a:srgbClr val="F97316"/>
          </a:solidFill>
          <a:ln w="9525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34BD70-0BDF-D49D-6C09-3048EC7FBEF1}"/>
              </a:ext>
            </a:extLst>
          </p:cNvPr>
          <p:cNvSpPr txBox="1"/>
          <p:nvPr/>
        </p:nvSpPr>
        <p:spPr>
          <a:xfrm>
            <a:off x="4787900" y="28702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158.6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93B5A3-A07B-3895-E57A-C4A04A000A12}"/>
              </a:ext>
            </a:extLst>
          </p:cNvPr>
          <p:cNvSpPr txBox="1"/>
          <p:nvPr/>
        </p:nvSpPr>
        <p:spPr>
          <a:xfrm>
            <a:off x="685800" y="3238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SD-piXL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1DCA17B-64DB-9525-BEB5-065299F6014E}"/>
              </a:ext>
            </a:extLst>
          </p:cNvPr>
          <p:cNvSpPr/>
          <p:nvPr/>
        </p:nvSpPr>
        <p:spPr>
          <a:xfrm>
            <a:off x="2184400" y="33020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296D86-0117-6D98-1DE5-69CD1503519E}"/>
              </a:ext>
            </a:extLst>
          </p:cNvPr>
          <p:cNvSpPr/>
          <p:nvPr/>
        </p:nvSpPr>
        <p:spPr>
          <a:xfrm>
            <a:off x="2184400" y="3302000"/>
            <a:ext cx="2476500" cy="1270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DDCCD1-5A7E-FCB0-6721-97A2BF858575}"/>
              </a:ext>
            </a:extLst>
          </p:cNvPr>
          <p:cNvSpPr txBox="1"/>
          <p:nvPr/>
        </p:nvSpPr>
        <p:spPr>
          <a:xfrm>
            <a:off x="4787900" y="32385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497.7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06B2B8-3037-269D-C6AE-0CAF6A94D1B6}"/>
              </a:ext>
            </a:extLst>
          </p:cNvPr>
          <p:cNvSpPr txBox="1"/>
          <p:nvPr/>
        </p:nvSpPr>
        <p:spPr>
          <a:xfrm>
            <a:off x="546100" y="3937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DEE8F5"/>
                </a:solidFill>
                <a:latin typeface="Aptos" panose="020B0004020202020204" pitchFamily="34" charset="0"/>
              </a:rPr>
              <a:t>Coverage higher is better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984B49-272F-8896-D35E-85F438FE4DDE}"/>
              </a:ext>
            </a:extLst>
          </p:cNvPr>
          <p:cNvSpPr txBox="1"/>
          <p:nvPr/>
        </p:nvSpPr>
        <p:spPr>
          <a:xfrm>
            <a:off x="685800" y="4229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PixelVAR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1D5E9B-60AE-D3F1-FC36-CF628995A977}"/>
              </a:ext>
            </a:extLst>
          </p:cNvPr>
          <p:cNvSpPr/>
          <p:nvPr/>
        </p:nvSpPr>
        <p:spPr>
          <a:xfrm>
            <a:off x="2184400" y="42926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1ADA5AA-D768-6ABD-81B6-7CB9814C9E83}"/>
              </a:ext>
            </a:extLst>
          </p:cNvPr>
          <p:cNvSpPr/>
          <p:nvPr/>
        </p:nvSpPr>
        <p:spPr>
          <a:xfrm>
            <a:off x="2184400" y="4292600"/>
            <a:ext cx="2476500" cy="1270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4D56E5-1AF6-B246-F330-AD207DB73A3C}"/>
              </a:ext>
            </a:extLst>
          </p:cNvPr>
          <p:cNvSpPr txBox="1"/>
          <p:nvPr/>
        </p:nvSpPr>
        <p:spPr>
          <a:xfrm>
            <a:off x="4787900" y="42291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0.891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8C6D29-2F8B-6BBB-EA4E-A8E0923E8834}"/>
              </a:ext>
            </a:extLst>
          </p:cNvPr>
          <p:cNvSpPr txBox="1"/>
          <p:nvPr/>
        </p:nvSpPr>
        <p:spPr>
          <a:xfrm>
            <a:off x="685800" y="4597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Pokemon LoRA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559C429-B0A3-61D9-EA54-40E70B3C428B}"/>
              </a:ext>
            </a:extLst>
          </p:cNvPr>
          <p:cNvSpPr/>
          <p:nvPr/>
        </p:nvSpPr>
        <p:spPr>
          <a:xfrm>
            <a:off x="2184400" y="46609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BBFB4E9-A4E6-754B-B320-D638E1D6A5B9}"/>
              </a:ext>
            </a:extLst>
          </p:cNvPr>
          <p:cNvSpPr/>
          <p:nvPr/>
        </p:nvSpPr>
        <p:spPr>
          <a:xfrm>
            <a:off x="2184400" y="4660900"/>
            <a:ext cx="141753" cy="127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DF771A-C97A-A8CF-8B1D-B1ED2D9200EC}"/>
              </a:ext>
            </a:extLst>
          </p:cNvPr>
          <p:cNvSpPr txBox="1"/>
          <p:nvPr/>
        </p:nvSpPr>
        <p:spPr>
          <a:xfrm>
            <a:off x="4787900" y="45974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0.051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4D86CF-A74C-87E7-0144-3CCCE2794622}"/>
              </a:ext>
            </a:extLst>
          </p:cNvPr>
          <p:cNvSpPr txBox="1"/>
          <p:nvPr/>
        </p:nvSpPr>
        <p:spPr>
          <a:xfrm>
            <a:off x="685800" y="49657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SSD-1B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17B9F42-2582-439D-98AB-B2DA291B304F}"/>
              </a:ext>
            </a:extLst>
          </p:cNvPr>
          <p:cNvSpPr/>
          <p:nvPr/>
        </p:nvSpPr>
        <p:spPr>
          <a:xfrm>
            <a:off x="2184400" y="50292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505F8BB-A2BE-9959-BD36-40C08B4ECB11}"/>
              </a:ext>
            </a:extLst>
          </p:cNvPr>
          <p:cNvSpPr/>
          <p:nvPr/>
        </p:nvSpPr>
        <p:spPr>
          <a:xfrm>
            <a:off x="2184400" y="5029200"/>
            <a:ext cx="97281" cy="127000"/>
          </a:xfrm>
          <a:prstGeom prst="rect">
            <a:avLst/>
          </a:prstGeom>
          <a:solidFill>
            <a:srgbClr val="F97316"/>
          </a:solidFill>
          <a:ln w="9525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0AF6D93-F2EF-B246-463F-21D58849EDAE}"/>
              </a:ext>
            </a:extLst>
          </p:cNvPr>
          <p:cNvSpPr txBox="1"/>
          <p:nvPr/>
        </p:nvSpPr>
        <p:spPr>
          <a:xfrm>
            <a:off x="4787900" y="49657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0.035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A6C151-3F0A-D0B8-E6DA-097414E9702A}"/>
              </a:ext>
            </a:extLst>
          </p:cNvPr>
          <p:cNvSpPr txBox="1"/>
          <p:nvPr/>
        </p:nvSpPr>
        <p:spPr>
          <a:xfrm>
            <a:off x="685800" y="5334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8D5E4"/>
                </a:solidFill>
                <a:latin typeface="Aptos" panose="020B0004020202020204" pitchFamily="34" charset="0"/>
              </a:rPr>
              <a:t>SD-piXL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C029769-9502-860C-C1FA-43FFCD77868E}"/>
              </a:ext>
            </a:extLst>
          </p:cNvPr>
          <p:cNvSpPr/>
          <p:nvPr/>
        </p:nvSpPr>
        <p:spPr>
          <a:xfrm>
            <a:off x="2184400" y="5397500"/>
            <a:ext cx="2476500" cy="127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2FA3D8A-20D3-1455-ADFD-CBC4F346740E}"/>
              </a:ext>
            </a:extLst>
          </p:cNvPr>
          <p:cNvSpPr/>
          <p:nvPr/>
        </p:nvSpPr>
        <p:spPr>
          <a:xfrm>
            <a:off x="2184400" y="5397500"/>
            <a:ext cx="19050" cy="1270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A258A6-A157-195A-5328-1093A6996E61}"/>
              </a:ext>
            </a:extLst>
          </p:cNvPr>
          <p:cNvSpPr txBox="1"/>
          <p:nvPr/>
        </p:nvSpPr>
        <p:spPr>
          <a:xfrm>
            <a:off x="4787900" y="53340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b="1">
                <a:solidFill>
                  <a:srgbClr val="E6EEF8"/>
                </a:solidFill>
                <a:latin typeface="Aptos" panose="020B0004020202020204" pitchFamily="34" charset="0"/>
              </a:rPr>
              <a:t>0.000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4213C57-27AD-3A63-C372-4BCF92C0F519}"/>
              </a:ext>
            </a:extLst>
          </p:cNvPr>
          <p:cNvSpPr/>
          <p:nvPr/>
        </p:nvSpPr>
        <p:spPr>
          <a:xfrm>
            <a:off x="4978400" y="1473200"/>
            <a:ext cx="6654800" cy="41402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D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1DB33F3F-3DEF-9038-15E5-ABB23380B7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00" y="1651000"/>
            <a:ext cx="6299200" cy="37846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A53426FA-BECD-4C5B-9895-7907B793192B}"/>
              </a:ext>
            </a:extLst>
          </p:cNvPr>
          <p:cNvSpPr txBox="1"/>
          <p:nvPr/>
        </p:nvSpPr>
        <p:spPr>
          <a:xfrm>
            <a:off x="5041900" y="5791200"/>
            <a:ext cx="660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DEE8F5"/>
                </a:solidFill>
                <a:latin typeface="Aptos" panose="020B0004020202020204" pitchFamily="34" charset="0"/>
              </a:rPr>
              <a:t>External generators are useful pressure tests, not broad SOTA evidence: all rows are normalized to 32x32 RGBA before scoring.</a:t>
            </a:r>
          </a:p>
        </p:txBody>
      </p:sp>
    </p:spTree>
    <p:extLst>
      <p:ext uri="{BB962C8B-B14F-4D97-AF65-F5344CB8AC3E}">
        <p14:creationId xmlns:p14="http://schemas.microsoft.com/office/powerpoint/2010/main" val="1760377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084FB3C-5136-495C-B4F2-BF4E0BDE19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10584-D91D-46B2-9334-F3B0AC0C06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5-marker">
            <a:extLst>
              <a:ext uri="{FF2B5EF4-FFF2-40B4-BE49-F238E27FC236}">
                <a16:creationId xmlns:a16="http://schemas.microsoft.com/office/drawing/2014/main" id="{FC711CEA-CFA7-447F-AB68-924CCE233030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5-label">
            <a:extLst>
              <a:ext uri="{FF2B5EF4-FFF2-40B4-BE49-F238E27FC236}">
                <a16:creationId xmlns:a16="http://schemas.microsoft.com/office/drawing/2014/main" id="{2D4C92E9-B12D-417B-8B4F-166D0FC26B38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 SAMPLE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0750B2-A7CA-4C57-AC56-8B200C32AF91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visuals explain why the metric table needs audit and task-fit caveats.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88B4E-CE55-4961-A4E0-B8F56A09B81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97F06C-6CD9-8F1F-265D-EA2C60478963}"/>
              </a:ext>
            </a:extLst>
          </p:cNvPr>
          <p:cNvSpPr/>
          <p:nvPr/>
        </p:nvSpPr>
        <p:spPr>
          <a:xfrm>
            <a:off x="558800" y="1511300"/>
            <a:ext cx="11074400" cy="39497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D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C2ECF24-4F2B-EA9B-18B9-A3A4925747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1714500"/>
            <a:ext cx="10642600" cy="35433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A996509-61DA-9F3C-5CA2-298419E66304}"/>
              </a:ext>
            </a:extLst>
          </p:cNvPr>
          <p:cNvSpPr txBox="1"/>
          <p:nvPr/>
        </p:nvSpPr>
        <p:spPr>
          <a:xfrm>
            <a:off x="698500" y="5715000"/>
            <a:ext cx="1079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20">
                <a:solidFill>
                  <a:srgbClr val="DEE8F5"/>
                </a:solidFill>
                <a:latin typeface="Aptos" panose="020B0004020202020204" pitchFamily="34" charset="0"/>
              </a:rPr>
              <a:t>Visual quality alone is not enough: Flat AR can look plausible, but the exact-match audit exposes memorization; Flat MaskGIT repeats forms and loses coverage.</a:t>
            </a:r>
          </a:p>
        </p:txBody>
      </p:sp>
    </p:spTree>
    <p:extLst>
      <p:ext uri="{BB962C8B-B14F-4D97-AF65-F5344CB8AC3E}">
        <p14:creationId xmlns:p14="http://schemas.microsoft.com/office/powerpoint/2010/main" val="22755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0906E1B-9AAE-4419-87FC-B033F4F2C5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C711FB-D27F-4D18-8AC9-A5563C8477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6-marker">
            <a:extLst>
              <a:ext uri="{FF2B5EF4-FFF2-40B4-BE49-F238E27FC236}">
                <a16:creationId xmlns:a16="http://schemas.microsoft.com/office/drawing/2014/main" id="{7418073D-61DF-4B03-9A43-5AA3695F0A37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6-label">
            <a:extLst>
              <a:ext uri="{FF2B5EF4-FFF2-40B4-BE49-F238E27FC236}">
                <a16:creationId xmlns:a16="http://schemas.microsoft.com/office/drawing/2014/main" id="{337CD819-EA52-4A31-81CC-859E11E82115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92C7DC-7FDC-4FFA-B61B-DCA9EE31EA28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009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170K generation pass shows the sampler remained stable at proposal scale.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3B180-79AA-4C44-BC46-211AD6BEDBF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5C5062-983C-4C19-8A5A-903B6DE772D8}"/>
              </a:ext>
            </a:extLst>
          </p:cNvPr>
          <p:cNvSpPr>
            <a:spLocks noGrp="1"/>
          </p:cNvSpPr>
          <p:nvPr/>
        </p:nvSpPr>
        <p:spPr>
          <a:xfrm>
            <a:off x="742950" y="1869382"/>
            <a:ext cx="2190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4F51A6-36BA-498D-A6ED-5BD8EBAD67AA}"/>
              </a:ext>
            </a:extLst>
          </p:cNvPr>
          <p:cNvSpPr>
            <a:spLocks noGrp="1"/>
          </p:cNvSpPr>
          <p:nvPr/>
        </p:nvSpPr>
        <p:spPr>
          <a:xfrm>
            <a:off x="742950" y="1869382"/>
            <a:ext cx="47625" cy="819150"/>
          </a:xfrm>
          <a:prstGeom prst="rect">
            <a:avLst/>
          </a:prstGeom>
          <a:solidFill>
            <a:srgbClr val="6AC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530AC3-3046-450C-A1B6-841CE442CB54}"/>
              </a:ext>
            </a:extLst>
          </p:cNvPr>
          <p:cNvSpPr>
            <a:spLocks noGrp="1"/>
          </p:cNvSpPr>
          <p:nvPr/>
        </p:nvSpPr>
        <p:spPr>
          <a:xfrm>
            <a:off x="914400" y="1974157"/>
            <a:ext cx="1885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FB6F-CCF2-44ED-82DB-EC5D67A48CEB}"/>
              </a:ext>
            </a:extLst>
          </p:cNvPr>
          <p:cNvSpPr>
            <a:spLocks noGrp="1"/>
          </p:cNvSpPr>
          <p:nvPr/>
        </p:nvSpPr>
        <p:spPr>
          <a:xfrm>
            <a:off x="914400" y="2307532"/>
            <a:ext cx="1885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26608C-A8D2-400D-B342-6C4C2E7AFBE5}"/>
              </a:ext>
            </a:extLst>
          </p:cNvPr>
          <p:cNvSpPr>
            <a:spLocks noGrp="1"/>
          </p:cNvSpPr>
          <p:nvPr/>
        </p:nvSpPr>
        <p:spPr>
          <a:xfrm>
            <a:off x="3238500" y="1869382"/>
            <a:ext cx="2190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86C0E7-0406-48B8-A581-13E0E106B604}"/>
              </a:ext>
            </a:extLst>
          </p:cNvPr>
          <p:cNvSpPr>
            <a:spLocks noGrp="1"/>
          </p:cNvSpPr>
          <p:nvPr/>
        </p:nvSpPr>
        <p:spPr>
          <a:xfrm>
            <a:off x="3238500" y="1869382"/>
            <a:ext cx="47625" cy="819150"/>
          </a:xfrm>
          <a:prstGeom prst="rect">
            <a:avLst/>
          </a:prstGeom>
          <a:solidFill>
            <a:srgbClr val="91C7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098B9-C918-46A4-9667-524CCEC371DA}"/>
              </a:ext>
            </a:extLst>
          </p:cNvPr>
          <p:cNvSpPr>
            <a:spLocks noGrp="1"/>
          </p:cNvSpPr>
          <p:nvPr/>
        </p:nvSpPr>
        <p:spPr>
          <a:xfrm>
            <a:off x="3409950" y="1974157"/>
            <a:ext cx="1885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E85BF2-2E27-4677-910E-5405AF40D66B}"/>
              </a:ext>
            </a:extLst>
          </p:cNvPr>
          <p:cNvSpPr>
            <a:spLocks noGrp="1"/>
          </p:cNvSpPr>
          <p:nvPr/>
        </p:nvSpPr>
        <p:spPr>
          <a:xfrm>
            <a:off x="3409950" y="2307532"/>
            <a:ext cx="1885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836CEC-0B2A-4946-B398-34CC5757F5B3}"/>
              </a:ext>
            </a:extLst>
          </p:cNvPr>
          <p:cNvSpPr>
            <a:spLocks noGrp="1"/>
          </p:cNvSpPr>
          <p:nvPr/>
        </p:nvSpPr>
        <p:spPr>
          <a:xfrm>
            <a:off x="3409950" y="2459932"/>
            <a:ext cx="1885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EF7287-9B84-4263-B68B-E141B3A85FF1}"/>
              </a:ext>
            </a:extLst>
          </p:cNvPr>
          <p:cNvSpPr>
            <a:spLocks noGrp="1"/>
          </p:cNvSpPr>
          <p:nvPr/>
        </p:nvSpPr>
        <p:spPr>
          <a:xfrm>
            <a:off x="5734050" y="1869382"/>
            <a:ext cx="2190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0DEBC-2DEB-4053-8682-91F75BED679C}"/>
              </a:ext>
            </a:extLst>
          </p:cNvPr>
          <p:cNvSpPr>
            <a:spLocks noGrp="1"/>
          </p:cNvSpPr>
          <p:nvPr/>
        </p:nvSpPr>
        <p:spPr>
          <a:xfrm>
            <a:off x="5734050" y="1869382"/>
            <a:ext cx="47625" cy="81915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6D17B2-94EC-4995-8CB0-B0FB09C65BC0}"/>
              </a:ext>
            </a:extLst>
          </p:cNvPr>
          <p:cNvSpPr>
            <a:spLocks noGrp="1"/>
          </p:cNvSpPr>
          <p:nvPr/>
        </p:nvSpPr>
        <p:spPr>
          <a:xfrm>
            <a:off x="5905500" y="1974157"/>
            <a:ext cx="1885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180FF7-4A13-458D-A077-9402680668D3}"/>
              </a:ext>
            </a:extLst>
          </p:cNvPr>
          <p:cNvSpPr>
            <a:spLocks noGrp="1"/>
          </p:cNvSpPr>
          <p:nvPr/>
        </p:nvSpPr>
        <p:spPr>
          <a:xfrm>
            <a:off x="5905500" y="2307532"/>
            <a:ext cx="1885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77DFFC-D125-4065-862D-DE529459E208}"/>
              </a:ext>
            </a:extLst>
          </p:cNvPr>
          <p:cNvSpPr>
            <a:spLocks noGrp="1"/>
          </p:cNvSpPr>
          <p:nvPr/>
        </p:nvSpPr>
        <p:spPr>
          <a:xfrm>
            <a:off x="5905500" y="2459932"/>
            <a:ext cx="1885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CE23F-FC37-42AF-9244-9EDDA08A92B1}"/>
              </a:ext>
            </a:extLst>
          </p:cNvPr>
          <p:cNvSpPr>
            <a:spLocks noGrp="1"/>
          </p:cNvSpPr>
          <p:nvPr/>
        </p:nvSpPr>
        <p:spPr>
          <a:xfrm>
            <a:off x="8229600" y="1869382"/>
            <a:ext cx="2190750" cy="819150"/>
          </a:xfrm>
          <a:prstGeom prst="rect">
            <a:avLst/>
          </a:prstGeom>
          <a:solidFill>
            <a:srgbClr val="1C1D20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53DC19-9F3F-4F12-8DD1-36A8D697936A}"/>
              </a:ext>
            </a:extLst>
          </p:cNvPr>
          <p:cNvSpPr>
            <a:spLocks noGrp="1"/>
          </p:cNvSpPr>
          <p:nvPr/>
        </p:nvSpPr>
        <p:spPr>
          <a:xfrm>
            <a:off x="8229600" y="1869382"/>
            <a:ext cx="47625" cy="819150"/>
          </a:xfrm>
          <a:prstGeom prst="rect">
            <a:avLst/>
          </a:prstGeom>
          <a:solidFill>
            <a:srgbClr val="E85D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FB8DC6-7D4D-4B10-8969-53EBB17CCA17}"/>
              </a:ext>
            </a:extLst>
          </p:cNvPr>
          <p:cNvSpPr>
            <a:spLocks noGrp="1"/>
          </p:cNvSpPr>
          <p:nvPr/>
        </p:nvSpPr>
        <p:spPr>
          <a:xfrm>
            <a:off x="8401050" y="1974157"/>
            <a:ext cx="1885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2F833D-9202-478D-AB2E-2D6FA50547E6}"/>
              </a:ext>
            </a:extLst>
          </p:cNvPr>
          <p:cNvSpPr>
            <a:spLocks noGrp="1"/>
          </p:cNvSpPr>
          <p:nvPr/>
        </p:nvSpPr>
        <p:spPr>
          <a:xfrm>
            <a:off x="8401050" y="2307532"/>
            <a:ext cx="18859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B26234-A11A-4122-8348-89938DF00FF8}"/>
              </a:ext>
            </a:extLst>
          </p:cNvPr>
          <p:cNvSpPr>
            <a:spLocks noGrp="1"/>
          </p:cNvSpPr>
          <p:nvPr/>
        </p:nvSpPr>
        <p:spPr>
          <a:xfrm>
            <a:off x="8401050" y="2459932"/>
            <a:ext cx="1885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30C7F0-E46D-417D-A45B-FF2C4F2C8123}"/>
              </a:ext>
            </a:extLst>
          </p:cNvPr>
          <p:cNvSpPr>
            <a:spLocks noGrp="1"/>
          </p:cNvSpPr>
          <p:nvPr/>
        </p:nvSpPr>
        <p:spPr>
          <a:xfrm>
            <a:off x="685800" y="3404148"/>
            <a:ext cx="3048000" cy="16764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 t="23077" b="23077"/>
          <a:stretch>
            <a:fillRect/>
          </a:stretch>
        </p:blipFill>
        <p:spPr>
          <a:xfrm>
            <a:off x="723900" y="3442248"/>
            <a:ext cx="2971800" cy="16002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3C85EB6-7D93-461F-8991-32EDD294FA39}"/>
              </a:ext>
            </a:extLst>
          </p:cNvPr>
          <p:cNvSpPr>
            <a:spLocks noGrp="1"/>
          </p:cNvSpPr>
          <p:nvPr/>
        </p:nvSpPr>
        <p:spPr>
          <a:xfrm>
            <a:off x="4324350" y="3404148"/>
            <a:ext cx="3048000" cy="16764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rcRect t="23077" b="23077"/>
          <a:stretch>
            <a:fillRect/>
          </a:stretch>
        </p:blipFill>
        <p:spPr>
          <a:xfrm>
            <a:off x="4362450" y="3442248"/>
            <a:ext cx="2971800" cy="1600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CA0AF52-A4F8-4B7C-BE6B-187DE522EDFA}"/>
              </a:ext>
            </a:extLst>
          </p:cNvPr>
          <p:cNvSpPr>
            <a:spLocks noGrp="1"/>
          </p:cNvSpPr>
          <p:nvPr/>
        </p:nvSpPr>
        <p:spPr>
          <a:xfrm>
            <a:off x="7962900" y="3404148"/>
            <a:ext cx="2667000" cy="1676400"/>
          </a:xfrm>
          <a:prstGeom prst="rect">
            <a:avLst/>
          </a:prstGeom>
          <a:solidFill>
            <a:srgbClr val="26272B"/>
          </a:solidFill>
          <a:ln w="9525">
            <a:solidFill>
              <a:srgbClr val="5A58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01000" y="3756573"/>
            <a:ext cx="25908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B7288B9-FDBA-41B7-9C6C-F1C0D88AF7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97C0B0-8306-463B-81F1-727FA1C7AF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7-marker">
            <a:extLst>
              <a:ext uri="{FF2B5EF4-FFF2-40B4-BE49-F238E27FC236}">
                <a16:creationId xmlns:a16="http://schemas.microsoft.com/office/drawing/2014/main" id="{07AD70C0-D7CC-4667-838B-B0755B4C709B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38100"/>
          </a:xfrm>
          <a:prstGeom prst="rect">
            <a:avLst/>
          </a:prstGeom>
          <a:solidFill>
            <a:srgbClr val="E4B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-17-label">
            <a:extLst>
              <a:ext uri="{FF2B5EF4-FFF2-40B4-BE49-F238E27FC236}">
                <a16:creationId xmlns:a16="http://schemas.microsoft.com/office/drawing/2014/main" id="{25076049-20BE-453A-AB8E-1619184EA964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LIMITATIONS AND NEXT PROOF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1C2D1-EF59-4E5E-9A61-CDB700D0114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0668000" cy="9525"/>
          </a:xfrm>
          <a:prstGeom prst="rect">
            <a:avLst/>
          </a:prstGeom>
          <a:solidFill>
            <a:srgbClr val="5A58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37319-8FE3-B2B3-4ECF-7780654419CD}"/>
              </a:ext>
            </a:extLst>
          </p:cNvPr>
          <p:cNvSpPr txBox="1"/>
          <p:nvPr/>
        </p:nvSpPr>
        <p:spPr>
          <a:xfrm>
            <a:off x="514350" y="5905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F5F1E8"/>
                </a:solidFill>
                <a:latin typeface="Aptos" panose="020B0004020202020204" pitchFamily="34" charset="0"/>
              </a:rPr>
              <a:t>Final claim: PixelVAR works because the representation matches the domain.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60A5893-D8F3-B900-B844-FAA9C24B31FC}"/>
              </a:ext>
            </a:extLst>
          </p:cNvPr>
          <p:cNvSpPr/>
          <p:nvPr/>
        </p:nvSpPr>
        <p:spPr>
          <a:xfrm>
            <a:off x="546100" y="1816100"/>
            <a:ext cx="3327400" cy="184150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DA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A987FA-FF1E-FD86-683B-0CBB7DF92631}"/>
              </a:ext>
            </a:extLst>
          </p:cNvPr>
          <p:cNvSpPr/>
          <p:nvPr/>
        </p:nvSpPr>
        <p:spPr>
          <a:xfrm>
            <a:off x="546100" y="1816100"/>
            <a:ext cx="3327400" cy="508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AA17FA-D7DE-782A-2D02-18041330CAD7}"/>
              </a:ext>
            </a:extLst>
          </p:cNvPr>
          <p:cNvSpPr txBox="1"/>
          <p:nvPr/>
        </p:nvSpPr>
        <p:spPr>
          <a:xfrm>
            <a:off x="698500" y="20066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21826"/>
                </a:solidFill>
                <a:latin typeface="Aptos" panose="020B0004020202020204" pitchFamily="34" charset="0"/>
              </a:rPr>
              <a:t>Core result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B92640-766B-8676-64FE-14F2C251A5E4}"/>
              </a:ext>
            </a:extLst>
          </p:cNvPr>
          <p:cNvSpPr txBox="1"/>
          <p:nvPr/>
        </p:nvSpPr>
        <p:spPr>
          <a:xfrm>
            <a:off x="698500" y="2425700"/>
            <a:ext cx="30226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80">
                <a:solidFill>
                  <a:srgbClr val="464E5E"/>
                </a:solidFill>
                <a:latin typeface="Aptos" panose="020B0004020202020204" pitchFamily="34" charset="0"/>
              </a:rPr>
              <a:t>32x32, 16-color-plus-alpha sprites generated directly as palette tokens. Real-only VAR is the selected branch with sprite-feature score 0.00147.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C21E17-E65E-0D77-BB77-F8A6C0B20009}"/>
              </a:ext>
            </a:extLst>
          </p:cNvPr>
          <p:cNvSpPr/>
          <p:nvPr/>
        </p:nvSpPr>
        <p:spPr>
          <a:xfrm>
            <a:off x="4419600" y="1816100"/>
            <a:ext cx="3327400" cy="184150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DA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9515E1-56AE-EE30-90E7-4531E895C68B}"/>
              </a:ext>
            </a:extLst>
          </p:cNvPr>
          <p:cNvSpPr/>
          <p:nvPr/>
        </p:nvSpPr>
        <p:spPr>
          <a:xfrm>
            <a:off x="4419600" y="1816100"/>
            <a:ext cx="3327400" cy="508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C49A3D-B0EE-FBA3-55BB-5DE4F66B493A}"/>
              </a:ext>
            </a:extLst>
          </p:cNvPr>
          <p:cNvSpPr txBox="1"/>
          <p:nvPr/>
        </p:nvSpPr>
        <p:spPr>
          <a:xfrm>
            <a:off x="4572000" y="20066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21826"/>
                </a:solidFill>
                <a:latin typeface="Aptos" panose="020B0004020202020204" pitchFamily="34" charset="0"/>
              </a:rPr>
              <a:t>Audit result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23EC8-FF05-89E6-B94A-7DE50206BAF4}"/>
              </a:ext>
            </a:extLst>
          </p:cNvPr>
          <p:cNvSpPr txBox="1"/>
          <p:nvPr/>
        </p:nvSpPr>
        <p:spPr>
          <a:xfrm>
            <a:off x="4572000" y="2425700"/>
            <a:ext cx="30226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80">
                <a:solidFill>
                  <a:srgbClr val="464E5E"/>
                </a:solidFill>
                <a:latin typeface="Aptos" panose="020B0004020202020204" pitchFamily="34" charset="0"/>
              </a:rPr>
              <a:t>Raw FID favors Flat AR, but exact-match audit exposes memorization. The final conclusion is audit-aware, not leaderboard-only.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172BE2C-0769-C8ED-04A1-33D3C7011150}"/>
              </a:ext>
            </a:extLst>
          </p:cNvPr>
          <p:cNvSpPr/>
          <p:nvPr/>
        </p:nvSpPr>
        <p:spPr>
          <a:xfrm>
            <a:off x="8293100" y="1816100"/>
            <a:ext cx="3327400" cy="184150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DAE2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4A2D78-C748-3C20-DB77-359A6313E610}"/>
              </a:ext>
            </a:extLst>
          </p:cNvPr>
          <p:cNvSpPr/>
          <p:nvPr/>
        </p:nvSpPr>
        <p:spPr>
          <a:xfrm>
            <a:off x="8293100" y="1816100"/>
            <a:ext cx="3327400" cy="508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807DCA-4757-4607-BABB-29132625FAA5}"/>
              </a:ext>
            </a:extLst>
          </p:cNvPr>
          <p:cNvSpPr txBox="1"/>
          <p:nvPr/>
        </p:nvSpPr>
        <p:spPr>
          <a:xfrm>
            <a:off x="8445500" y="20066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21826"/>
                </a:solidFill>
                <a:latin typeface="Aptos" panose="020B0004020202020204" pitchFamily="34" charset="0"/>
              </a:rPr>
              <a:t>Scale evidence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6E099-4E36-3576-6B19-F6FD21C29ED0}"/>
              </a:ext>
            </a:extLst>
          </p:cNvPr>
          <p:cNvSpPr txBox="1"/>
          <p:nvPr/>
        </p:nvSpPr>
        <p:spPr>
          <a:xfrm>
            <a:off x="8445500" y="2425700"/>
            <a:ext cx="30226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80">
                <a:solidFill>
                  <a:srgbClr val="464E5E"/>
                </a:solidFill>
                <a:latin typeface="Aptos" panose="020B0004020202020204" pitchFamily="34" charset="0"/>
              </a:rPr>
              <a:t>170,000 generated samples; 161,479 passed the automatic gate with only 21 rejects, showing stable proposal-scale sampling.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6014354-5A18-9291-1DBF-E4D1969C876F}"/>
              </a:ext>
            </a:extLst>
          </p:cNvPr>
          <p:cNvSpPr/>
          <p:nvPr/>
        </p:nvSpPr>
        <p:spPr>
          <a:xfrm>
            <a:off x="546100" y="4038600"/>
            <a:ext cx="11074400" cy="9906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D44C11-2283-D782-B7FB-AC2CD9D45A57}"/>
              </a:ext>
            </a:extLst>
          </p:cNvPr>
          <p:cNvSpPr txBox="1"/>
          <p:nvPr/>
        </p:nvSpPr>
        <p:spPr>
          <a:xfrm>
            <a:off x="736600" y="4241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21826"/>
                </a:solidFill>
                <a:latin typeface="Aptos" panose="020B0004020202020204" pitchFamily="34" charset="0"/>
              </a:rPr>
              <a:t>Next proof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C33CB-5239-1033-2EEF-975F842725CB}"/>
              </a:ext>
            </a:extLst>
          </p:cNvPr>
          <p:cNvSpPr txBox="1"/>
          <p:nvPr/>
        </p:nvSpPr>
        <p:spPr>
          <a:xfrm>
            <a:off x="2387600" y="4241800"/>
            <a:ext cx="8953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464E5E"/>
                </a:solidFill>
                <a:latin typeface="Aptos" panose="020B0004020202020204" pitchFamily="34" charset="0"/>
              </a:rPr>
              <a:t>Complete the 8/32 palette and 4-scale ablation metrics, inspect sample sheets, then revisit 64x64 generation with a realistic compute budget.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95EED-023E-D95F-4083-A1A63B5D531F}"/>
              </a:ext>
            </a:extLst>
          </p:cNvPr>
          <p:cNvSpPr txBox="1"/>
          <p:nvPr/>
        </p:nvSpPr>
        <p:spPr>
          <a:xfrm>
            <a:off x="914400" y="5461000"/>
            <a:ext cx="10363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50" b="1">
                <a:solidFill>
                  <a:srgbClr val="BEE8F6"/>
                </a:solidFill>
                <a:latin typeface="Aptos" panose="020B0004020202020204" pitchFamily="34" charset="0"/>
              </a:rPr>
              <a:t>Bounded takeaway: coarse-to-fine palette-token generation is a defensible 32x32 transparent-sprite generator when evaluated with memorization-aware metrics.</a:t>
            </a:r>
          </a:p>
        </p:txBody>
      </p:sp>
    </p:spTree>
    <p:extLst>
      <p:ext uri="{BB962C8B-B14F-4D97-AF65-F5344CB8AC3E}">
        <p14:creationId xmlns:p14="http://schemas.microsoft.com/office/powerpoint/2010/main" val="15872868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1424</Words>
  <Application>Microsoft Office PowerPoint</Application>
  <DocSecurity>0</DocSecurity>
  <PresentationFormat>Widescreen</PresentationFormat>
  <Paragraphs>426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Aptos Light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EYUP AHMET BASARAN</cp:lastModifiedBy>
  <cp:revision>41</cp:revision>
  <dcterms:created xsi:type="dcterms:W3CDTF">2026-06-08T19:55:30Z</dcterms:created>
  <dcterms:modified xsi:type="dcterms:W3CDTF">2026-06-08T20:36:02Z</dcterms:modified>
</cp:coreProperties>
</file>