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5be439c061445d" /><Relationship Type="http://schemas.openxmlformats.org/officeDocument/2006/relationships/extended-properties" Target="/docProps/app.xml" Id="Rdfda4209bf68405a" /><Relationship Type="http://schemas.openxmlformats.org/officeDocument/2006/relationships/officeDocument" Target="/ppt/presentation.xml" Id="R5d92d571e9d343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bad0cddf0042ae"/>
  </p:sldMasterIdLst>
  <p:notesMasterIdLst>
    <p:notesMasterId xmlns:r="http://schemas.openxmlformats.org/officeDocument/2006/relationships" r:id="Rfdea0012c39e4230"/>
  </p:notesMasterIdLst>
  <p:sldIdLst>
    <p:sldId xmlns:r="http://schemas.openxmlformats.org/officeDocument/2006/relationships" id="256" r:id="R054ca0541db94b08"/>
    <p:sldId xmlns:r="http://schemas.openxmlformats.org/officeDocument/2006/relationships" id="257" r:id="R89fc64d820ee4026"/>
    <p:sldId xmlns:r="http://schemas.openxmlformats.org/officeDocument/2006/relationships" id="258" r:id="R24d521bf40c74dea"/>
    <p:sldId xmlns:r="http://schemas.openxmlformats.org/officeDocument/2006/relationships" id="259" r:id="Re4c0cf32054b49bb"/>
    <p:sldId xmlns:r="http://schemas.openxmlformats.org/officeDocument/2006/relationships" id="260" r:id="R8ca66c35af8f44c3"/>
    <p:sldId xmlns:r="http://schemas.openxmlformats.org/officeDocument/2006/relationships" id="261" r:id="R267256c60d8547b8"/>
    <p:sldId xmlns:r="http://schemas.openxmlformats.org/officeDocument/2006/relationships" id="262" r:id="R4bcb55490bc24d3d"/>
    <p:sldId xmlns:r="http://schemas.openxmlformats.org/officeDocument/2006/relationships" id="263" r:id="R820418a740ae4389"/>
    <p:sldId xmlns:r="http://schemas.openxmlformats.org/officeDocument/2006/relationships" id="264" r:id="R04c6d98c0cea4db1"/>
    <p:sldId xmlns:r="http://schemas.openxmlformats.org/officeDocument/2006/relationships" id="265" r:id="R3105d9efbc294e46"/>
    <p:sldId xmlns:r="http://schemas.openxmlformats.org/officeDocument/2006/relationships" id="266" r:id="Rc8adcfb7f17c48ef"/>
    <p:sldId xmlns:r="http://schemas.openxmlformats.org/officeDocument/2006/relationships" id="267" r:id="R9ede3bca400f4829"/>
    <p:sldId xmlns:r="http://schemas.openxmlformats.org/officeDocument/2006/relationships" id="268" r:id="Rc8208cff991b4b0e"/>
    <p:sldId xmlns:r="http://schemas.openxmlformats.org/officeDocument/2006/relationships" id="269" r:id="R0e31d8a738d9495a"/>
    <p:sldId xmlns:r="http://schemas.openxmlformats.org/officeDocument/2006/relationships" id="270" r:id="Re24575e06e264f9d"/>
    <p:sldId xmlns:r="http://schemas.openxmlformats.org/officeDocument/2006/relationships" id="271" r:id="Rbdd415c57dc4442e"/>
    <p:sldId xmlns:r="http://schemas.openxmlformats.org/officeDocument/2006/relationships" id="272" r:id="R85461faf4f7045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2009478f0944ba" /><Relationship Type="http://schemas.openxmlformats.org/officeDocument/2006/relationships/slideMaster" Target="/ppt/slideMasters/slideMaster1.xml" Id="Rd9bad0cddf0042ae" /><Relationship Type="http://schemas.openxmlformats.org/officeDocument/2006/relationships/notesMaster" Target="/ppt/notesMasters/notesMaster1.xml" Id="Rfdea0012c39e4230" /><Relationship Type="http://schemas.openxmlformats.org/officeDocument/2006/relationships/presProps" Target="/ppt/presProps.xml" Id="Re750f16ed5b84f70" /><Relationship Type="http://schemas.openxmlformats.org/officeDocument/2006/relationships/viewProps" Target="/ppt/viewProps.xml" Id="R78e9186a92a742bf" /><Relationship Type="http://schemas.openxmlformats.org/officeDocument/2006/relationships/tableStyles" Target="/ppt/tableStyles.xml" Id="Rd6223a0fa0b44cf6" /><Relationship Type="http://schemas.openxmlformats.org/officeDocument/2006/relationships/slide" Target="/ppt/slides/slide1.xml" Id="R054ca0541db94b08" /><Relationship Type="http://schemas.openxmlformats.org/officeDocument/2006/relationships/slide" Target="/ppt/slides/slide2.xml" Id="R89fc64d820ee4026" /><Relationship Type="http://schemas.openxmlformats.org/officeDocument/2006/relationships/slide" Target="/ppt/slides/slide3.xml" Id="R24d521bf40c74dea" /><Relationship Type="http://schemas.openxmlformats.org/officeDocument/2006/relationships/slide" Target="/ppt/slides/slide4.xml" Id="Re4c0cf32054b49bb" /><Relationship Type="http://schemas.openxmlformats.org/officeDocument/2006/relationships/slide" Target="/ppt/slides/slide5.xml" Id="R8ca66c35af8f44c3" /><Relationship Type="http://schemas.openxmlformats.org/officeDocument/2006/relationships/slide" Target="/ppt/slides/slide6.xml" Id="R267256c60d8547b8" /><Relationship Type="http://schemas.openxmlformats.org/officeDocument/2006/relationships/slide" Target="/ppt/slides/slide7.xml" Id="R4bcb55490bc24d3d" /><Relationship Type="http://schemas.openxmlformats.org/officeDocument/2006/relationships/slide" Target="/ppt/slides/slide8.xml" Id="R820418a740ae4389" /><Relationship Type="http://schemas.openxmlformats.org/officeDocument/2006/relationships/slide" Target="/ppt/slides/slide9.xml" Id="R04c6d98c0cea4db1" /><Relationship Type="http://schemas.openxmlformats.org/officeDocument/2006/relationships/slide" Target="/ppt/slides/slide10.xml" Id="R3105d9efbc294e46" /><Relationship Type="http://schemas.openxmlformats.org/officeDocument/2006/relationships/slide" Target="/ppt/slides/slide11.xml" Id="Rc8adcfb7f17c48ef" /><Relationship Type="http://schemas.openxmlformats.org/officeDocument/2006/relationships/slide" Target="/ppt/slides/slide12.xml" Id="R9ede3bca400f4829" /><Relationship Type="http://schemas.openxmlformats.org/officeDocument/2006/relationships/slide" Target="/ppt/slides/slide13.xml" Id="Rc8208cff991b4b0e" /><Relationship Type="http://schemas.openxmlformats.org/officeDocument/2006/relationships/slide" Target="/ppt/slides/slide14.xml" Id="R0e31d8a738d9495a" /><Relationship Type="http://schemas.openxmlformats.org/officeDocument/2006/relationships/slide" Target="/ppt/slides/slide15.xml" Id="Re24575e06e264f9d" /><Relationship Type="http://schemas.openxmlformats.org/officeDocument/2006/relationships/slide" Target="/ppt/slides/slide16.xml" Id="Rbdd415c57dc4442e" /><Relationship Type="http://schemas.openxmlformats.org/officeDocument/2006/relationships/slide" Target="/ppt/slides/slide17.xml" Id="R85461faf4f70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e1759c4b314b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f06d6bc1df49da" /><Relationship Type="http://schemas.openxmlformats.org/officeDocument/2006/relationships/notesMaster" Target="/ppt/notesMasters/notesMaster1.xml" Id="Rbb7f1678aa2b44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f422e81f264bf6" /><Relationship Type="http://schemas.openxmlformats.org/officeDocument/2006/relationships/notesMaster" Target="/ppt/notesMasters/notesMaster1.xml" Id="Rdf8f5f6edd6e46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53c095d01d4720" /><Relationship Type="http://schemas.openxmlformats.org/officeDocument/2006/relationships/notesMaster" Target="/ppt/notesMasters/notesMaster1.xml" Id="R50340f03127b4d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ea49f039a54c48" /><Relationship Type="http://schemas.openxmlformats.org/officeDocument/2006/relationships/notesMaster" Target="/ppt/notesMasters/notesMaster1.xml" Id="Rdf2e14be29de4c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bafa4a37e04903" /><Relationship Type="http://schemas.openxmlformats.org/officeDocument/2006/relationships/notesMaster" Target="/ppt/notesMasters/notesMaster1.xml" Id="R415225fafcbe4c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edf772b8674347" /><Relationship Type="http://schemas.openxmlformats.org/officeDocument/2006/relationships/notesMaster" Target="/ppt/notesMasters/notesMaster1.xml" Id="Rdbfc8bbd075546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b8cd85480a4d7c" /><Relationship Type="http://schemas.openxmlformats.org/officeDocument/2006/relationships/notesMaster" Target="/ppt/notesMasters/notesMaster1.xml" Id="Rf6b23597d5b84f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1fadd697ff4197" /><Relationship Type="http://schemas.openxmlformats.org/officeDocument/2006/relationships/notesMaster" Target="/ppt/notesMasters/notesMaster1.xml" Id="R022fca0b46af49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40cff08c5d4fc7" /><Relationship Type="http://schemas.openxmlformats.org/officeDocument/2006/relationships/notesMaster" Target="/ppt/notesMasters/notesMaster1.xml" Id="Rfdee8fe2a91347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d03518b1314723" /><Relationship Type="http://schemas.openxmlformats.org/officeDocument/2006/relationships/notesMaster" Target="/ppt/notesMasters/notesMaster1.xml" Id="Rf20556ac08ca41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3ca9ee571941a1" /><Relationship Type="http://schemas.openxmlformats.org/officeDocument/2006/relationships/notesMaster" Target="/ppt/notesMasters/notesMaster1.xml" Id="R2a4fe894d6b44d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774c20e67d4ba8" /><Relationship Type="http://schemas.openxmlformats.org/officeDocument/2006/relationships/notesMaster" Target="/ppt/notesMasters/notesMaster1.xml" Id="R5d3fcbc7a19140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d4fd4803ec402e" /><Relationship Type="http://schemas.openxmlformats.org/officeDocument/2006/relationships/notesMaster" Target="/ppt/notesMasters/notesMaster1.xml" Id="R4526777751a34f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5b750141ff4285" /><Relationship Type="http://schemas.openxmlformats.org/officeDocument/2006/relationships/notesMaster" Target="/ppt/notesMasters/notesMaster1.xml" Id="Rc898ce9bd3eb49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a6fdace4694f08" /><Relationship Type="http://schemas.openxmlformats.org/officeDocument/2006/relationships/notesMaster" Target="/ppt/notesMasters/notesMaster1.xml" Id="R42b89506be3749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8ddd2423f242ca" /><Relationship Type="http://schemas.openxmlformats.org/officeDocument/2006/relationships/notesMaster" Target="/ppt/notesMasters/notesMaster1.xml" Id="R619ea19e1ee24e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a7e03f112040bb" /><Relationship Type="http://schemas.openxmlformats.org/officeDocument/2006/relationships/notesMaster" Target="/ppt/notesMasters/notesMaster1.xml" Id="R1aa7cd229fb6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c0e6a918046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ddf7bf68dd46ce" /><Relationship Type="http://schemas.openxmlformats.org/officeDocument/2006/relationships/slideLayout" Target="/ppt/slideLayouts/slideLayout1.xml" Id="R4beeb1b2594f46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eb1b2594f46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56b500b6c4301" /><Relationship Type="http://schemas.openxmlformats.org/officeDocument/2006/relationships/image" Target="/ppt/media/image.png" Id="R470b49bf8cdb4283" /><Relationship Type="http://schemas.openxmlformats.org/officeDocument/2006/relationships/notesSlide" Target="/ppt/notesSlides/notesSlide1.xml" Id="R25c0afa561a3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06dd364b74477" /><Relationship Type="http://schemas.openxmlformats.org/officeDocument/2006/relationships/image" Target="/ppt/media/image2.png" Id="R5e0b1ec7184043ea" /><Relationship Type="http://schemas.openxmlformats.org/officeDocument/2006/relationships/notesSlide" Target="/ppt/notesSlides/notesSlide2.xml" Id="R1809cfdf341d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d6cc970654a2d" /><Relationship Type="http://schemas.openxmlformats.org/officeDocument/2006/relationships/notesSlide" Target="/ppt/notesSlides/notesSlide3.xml" Id="Rd8b1f801a19747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8ec13d87e49bf" /><Relationship Type="http://schemas.openxmlformats.org/officeDocument/2006/relationships/notesSlide" Target="/ppt/notesSlides/notesSlide4.xml" Id="R91d0d698b37b4c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34e4870b14dff" /><Relationship Type="http://schemas.openxmlformats.org/officeDocument/2006/relationships/notesSlide" Target="/ppt/notesSlides/notesSlide5.xml" Id="R76e6132bd87c41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b7a86b2764c5d" /><Relationship Type="http://schemas.openxmlformats.org/officeDocument/2006/relationships/notesSlide" Target="/ppt/notesSlides/notesSlide6.xml" Id="R17818447969b41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c704a966b4d2f" /><Relationship Type="http://schemas.openxmlformats.org/officeDocument/2006/relationships/image" Target="/ppt/media/image3.png" Id="R6e865ecdd2104a8b" /><Relationship Type="http://schemas.openxmlformats.org/officeDocument/2006/relationships/image" Target="/ppt/media/image4.png" Id="R0ae687af54bf45f8" /><Relationship Type="http://schemas.openxmlformats.org/officeDocument/2006/relationships/notesSlide" Target="/ppt/notesSlides/notesSlide7.xml" Id="R3a6f2caec2694f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0dd32faa0497e" /><Relationship Type="http://schemas.openxmlformats.org/officeDocument/2006/relationships/image" Target="/ppt/media/image5.png" Id="R61abbb1655a94d8b" /><Relationship Type="http://schemas.openxmlformats.org/officeDocument/2006/relationships/image" Target="/ppt/media/image6.png" Id="R2772a083b0754642" /><Relationship Type="http://schemas.openxmlformats.org/officeDocument/2006/relationships/image" Target="/ppt/media/image7.png" Id="Rd8c0f320423c4bfb" /><Relationship Type="http://schemas.openxmlformats.org/officeDocument/2006/relationships/image" Target="/ppt/media/image8.png" Id="R33f1e408862040ba" /><Relationship Type="http://schemas.openxmlformats.org/officeDocument/2006/relationships/image" Target="/ppt/media/image9.png" Id="R69c8f7d6e6a94812" /><Relationship Type="http://schemas.openxmlformats.org/officeDocument/2006/relationships/image" Target="/ppt/media/image10.png" Id="Rf5d81ae3fa9e4730" /><Relationship Type="http://schemas.openxmlformats.org/officeDocument/2006/relationships/notesSlide" Target="/ppt/notesSlides/notesSlide8.xml" Id="Raba7dacad0054d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2a89ecb6240fd" /><Relationship Type="http://schemas.openxmlformats.org/officeDocument/2006/relationships/image" Target="/ppt/media/image11.png" Id="Rb81400dc51484156" /><Relationship Type="http://schemas.openxmlformats.org/officeDocument/2006/relationships/notesSlide" Target="/ppt/notesSlides/notesSlide9.xml" Id="R15fa090b0d724c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1e551ae1b4169" /><Relationship Type="http://schemas.openxmlformats.org/officeDocument/2006/relationships/notesSlide" Target="/ppt/notesSlides/notesSlide10.xml" Id="Rdec50c76683b4b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1377b6a254152" /><Relationship Type="http://schemas.openxmlformats.org/officeDocument/2006/relationships/image" Target="/ppt/media/image12.png" Id="R0da032b4d84b4fbd" /><Relationship Type="http://schemas.openxmlformats.org/officeDocument/2006/relationships/image" Target="/ppt/media/image13.png" Id="R5070c014bea44d9a" /><Relationship Type="http://schemas.openxmlformats.org/officeDocument/2006/relationships/notesSlide" Target="/ppt/notesSlides/notesSlide11.xml" Id="R892310f7e17947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4f5aca04546c0" /><Relationship Type="http://schemas.openxmlformats.org/officeDocument/2006/relationships/image" Target="/ppt/media/image14.png" Id="Ra299894d620745f0" /><Relationship Type="http://schemas.openxmlformats.org/officeDocument/2006/relationships/image" Target="/ppt/media/image15.png" Id="R0f1a7ed8de784819" /><Relationship Type="http://schemas.openxmlformats.org/officeDocument/2006/relationships/notesSlide" Target="/ppt/notesSlides/notesSlide12.xml" Id="Rde62903635f54d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236bf36ad4552" /><Relationship Type="http://schemas.openxmlformats.org/officeDocument/2006/relationships/notesSlide" Target="/ppt/notesSlides/notesSlide13.xml" Id="R50b62ff928984e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c2113af8b41da" /><Relationship Type="http://schemas.openxmlformats.org/officeDocument/2006/relationships/image" Target="/ppt/media/image16.png" Id="R95a6cd3895c5480c" /><Relationship Type="http://schemas.openxmlformats.org/officeDocument/2006/relationships/image" Target="/ppt/media/image17.png" Id="Rff9929486ada4a3b" /><Relationship Type="http://schemas.openxmlformats.org/officeDocument/2006/relationships/image" Target="/ppt/media/image18.png" Id="Rbd18748bffca4db2" /><Relationship Type="http://schemas.openxmlformats.org/officeDocument/2006/relationships/notesSlide" Target="/ppt/notesSlides/notesSlide14.xml" Id="R7f05858cb30a4c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83d9f76284132" /><Relationship Type="http://schemas.openxmlformats.org/officeDocument/2006/relationships/image" Target="/ppt/media/image19.png" Id="Rb7d6619b17bb4d69" /><Relationship Type="http://schemas.openxmlformats.org/officeDocument/2006/relationships/image" Target="/ppt/media/image20.png" Id="Ra6292a6e90594981" /><Relationship Type="http://schemas.openxmlformats.org/officeDocument/2006/relationships/image" Target="/ppt/media/image21.png" Id="R517c5c34c0be4027" /><Relationship Type="http://schemas.openxmlformats.org/officeDocument/2006/relationships/image" Target="/ppt/media/image22.png" Id="R1a64618975e8463a" /><Relationship Type="http://schemas.openxmlformats.org/officeDocument/2006/relationships/notesSlide" Target="/ppt/notesSlides/notesSlide15.xml" Id="R7400624046db44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40d4fa5c64693" /><Relationship Type="http://schemas.openxmlformats.org/officeDocument/2006/relationships/image" Target="/ppt/media/image23.png" Id="Ra91bcd55c72345dd" /><Relationship Type="http://schemas.openxmlformats.org/officeDocument/2006/relationships/image" Target="/ppt/media/image24.png" Id="Re638769807824386" /><Relationship Type="http://schemas.openxmlformats.org/officeDocument/2006/relationships/image" Target="/ppt/media/image25.png" Id="R0593b52f234d411b" /><Relationship Type="http://schemas.openxmlformats.org/officeDocument/2006/relationships/notesSlide" Target="/ppt/notesSlides/notesSlide16.xml" Id="R4e815a03d0bd4c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e626f3fa948e7" /><Relationship Type="http://schemas.openxmlformats.org/officeDocument/2006/relationships/notesSlide" Target="/ppt/notesSlides/notesSlide17.xml" Id="R1e1f7e03764440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7C59B-F2C0-46FA-84F1-41EBAC4F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33FE0-8816-4094-90DB-92141627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0192B-110C-4634-89AF-984D161C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5F668-F164-4DF4-B449-C1F9AA6C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Coarse-to-fine pixel-art sprite generation via palette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0FD9A-77C0-4464-9330-8BB18EC9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Rubric-aligned final presentation | COMP547 Deep Unsupervised Learning |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152FF-A31D-4F47-8F3B-64ED434D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3619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b49bf8cdb4283"/>
          <a:stretch xmlns:a="http://schemas.openxmlformats.org/drawingml/2006/main"/>
        </p:blipFill>
        <p:spPr>
          <a:xfrm xmlns:a="http://schemas.openxmlformats.org/drawingml/2006/main">
            <a:off x="7467600" y="980405"/>
            <a:ext cx="3543300" cy="39446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30D9F-0F9B-423D-9F1F-E9B10BF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381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11F17-5B34-4A1F-9419-7A565FE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D14C2-E9D2-4FC1-83D0-4D11191D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76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A2288-9B13-4326-A5E4-65A5BAB7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76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F7F04-9647-4661-AC39-4C9B0DD5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F8B7F-59C2-4112-8747-2CDA9213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3AA23-7F3A-4D0E-A2DD-E19F4D9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16+alpha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213A5-B297-4186-91F6-E7DE1D15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palette-token vocab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BA1E0-CB98-4C5E-BCB8-1DEF752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98D77-6EFB-40FC-9E96-24393814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EF909-7EFD-47AD-BDFE-1B81843A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005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CD6E8-48C0-4FB2-A104-9ACBD82F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3390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best sprite-feature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FDC36-81BC-4DB3-8DF1-52BA86D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Thesis: generate transparent pixel-art sprites directly in discrete palette-index space, then evaluate honestly with baselines, ablations, and memorization audit.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F7777-D1AF-4EA9-B2C2-6F704049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C0492-7380-432C-80BA-B7FD0C10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3B755-DDC7-4E17-8156-2B6AD9E6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1/17 main</a:t>
            </a:r>
          </a:p>
        </p:txBody>
      </p:sp>
    </p:spTree>
    <p:extLst>
      <p:ext uri="{BB962C8B-B14F-4D97-AF65-F5344CB8AC3E}">
        <p14:creationId xmlns:p14="http://schemas.microsoft.com/office/powerpoint/2010/main" val="173839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38D58B-D247-4832-8C34-DA40457E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5AF3F-8B5F-43B6-B46F-03BB5893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12809F65-69A4-496E-A53D-FE196D89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FD1CD49B-EBB1-49AE-8DFC-02E29F95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PROBLEM + 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3536D-D0A2-4053-BB79-635B958F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 art is not just low-resolution RGB.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A284A-CB96-4F4D-B2E4-29A41D67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F2547-F3AA-4731-A412-13E6F620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problem statement and motivation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E8316-36DA-462F-8BAB-187183D9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39ABC-C8F4-46CD-AC5E-518359DE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A4081-22B5-4264-B9A8-480EA742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A68D1-5089-438C-BC9E-9FC8C772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73DC2-588A-42D6-88AA-BF20584F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Game sprites are labor-intensive assets. A usable generator should produce compact transparent characters, not just pretty pixel-ish pictures.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ED8E8-48C8-48FD-A61B-DBB7CEF5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20EF3-5B36-4B18-BA68-5754BB9E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A047B-ACF2-4F51-9EA9-456BC505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is hard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925D6-3A6B-40AA-863C-9792B9FA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Every pixel is visible. Small palette changes, anti-aliasing, noisy backgrounds, or broken silhouettes can make an output unusable.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E0369-CAC7-4084-8FFB-A79449CD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C4684-28CD-42E0-9589-12723290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61866-F13F-4195-A87E-A888EEB4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Our framing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9B89F-7F2F-4379-991E-0AF513D8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Instead of generating continuous RGB and quantizing later, PixelVAR learns to generate palette-index tokens directly.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FC003-9753-4711-A626-1147EBFF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b1ec7184043ea"/>
          <a:srcRect xmlns:a="http://schemas.openxmlformats.org/drawingml/2006/main" l="0" t="18639" r="0" b="18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4038600"/>
            <a:ext cx="2209800" cy="15430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84CD2-D1E4-4AEB-B524-2C1FAE94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1885C-2FD8-4B92-9A0C-C943681A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 is part of the object, not cleanup.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44A7D-FD29-4EF2-945D-A7190A04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84423-A1B6-4350-9E0F-0AFEC01A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should be native to generation, not a post-hoc repair.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17825A-FC93-4C21-AC75-71FE6DE2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4EA2C-BAA0-4471-8FF8-63C5CFD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 single misplaced pixel can break outlines or pose readability.</a:t>
            </a:r>
          </a:p>
        </p:txBody>
      </p:sp>
    </p:spTree>
    <p:extLst>
      <p:ext uri="{BB962C8B-B14F-4D97-AF65-F5344CB8AC3E}">
        <p14:creationId xmlns:p14="http://schemas.microsoft.com/office/powerpoint/2010/main" val="3139524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23FE7-1989-4760-B8A8-18DB6FC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87EDC-78F7-4ED7-98A3-92094923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60CC04AB-BEA8-491C-8172-E914DA2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6F6BA8F-EF13-47DE-AEC8-52A22AF6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74D0B-3636-4096-924B-35DCB572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sits between pixel-art-specific generators and hierarchical image-token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452F9-3728-417A-B79E-E494E222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6A7FE-AFFF-44FB-8BAD-6DCA0E89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related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0BBB9-18A5-457E-8DFA-F38996BD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3/17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24C8D-52F1-45B0-9505-B1E995D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9906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EEBFD-A2A9-467B-9D6E-09C81D37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50BAD-2A5B-4E2B-95F1-24FE61E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526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131F5-1CA6-42B5-B52F-E9002F63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it is not enough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8C509-6707-4F48-BFDD-21CB923B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563C5-57CE-4392-85E0-C17DD078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Pixel-art GANs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FA26B-6501-431A-AE0C-DAE78A9A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Coutinho / MDIGAN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E053E-3EF6-4343-86C6-D63F9810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or pose-based; not the same unconditional generation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19954-F19D-40BB-89C2-92290CF4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4B030-2897-4AAA-82E8-3F3DF27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F62FA-5695-4619-81D1-B87E5CF5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Diffusion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09878-3ADF-426E-B38C-E280C7AD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PixDiff-PIG, LoRAs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6B9CC-DDC7-4292-B655-5D4C110F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continuous, prompt-first, or image-first; needs repair/normalization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E0E08-024A-470C-843F-932D80E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D045C-AEFB-4F76-BF29-2E0C009C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Discrete tokenizers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42376-88F4-40A3-936D-0415906A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3855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 VQ-VAE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8C9BB5-AE11-46AB-BCE7-2685E2F3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useful representation direction, but not a complete generator by itself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755C8-879E-40E8-8298-FD5E6A16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D2FB7-9900-4341-A4D7-4A09585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79B35-8831-4D38-ACBC-B97A8A61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Hierarchical 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26F7D-C248-40D0-AA34-A57BF66A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196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/ HMAR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846242-F9EF-4EF3-A1F7-899CF0E9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 coarse-to-fine idea, but not aimed at tiny transparent palette sprites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6EA77C-F08F-4A3F-BAD9-B54360CD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Our niche: next-scale prediction for tiny transparent palette-constrained sprites.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3FE55B-0C7D-46FB-A005-183C5E67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Flat AR and MaskGIT still matter, but they belong in the baseline/evaluation section, not the opening literature table.</a:t>
            </a:r>
          </a:p>
        </p:txBody>
      </p:sp>
    </p:spTree>
    <p:extLst>
      <p:ext uri="{BB962C8B-B14F-4D97-AF65-F5344CB8AC3E}">
        <p14:creationId xmlns:p14="http://schemas.microsoft.com/office/powerpoint/2010/main" val="1572338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A88C8-BEE4-4FD4-8493-4AD4DD59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64DFC-9091-4B27-B1C7-66E85F86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2BE6F528-3481-4DDD-99E5-A107F929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25C951AE-9466-4C56-9404-31753B8C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CONTRACT AND FINAL PIVOT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635A5-DB5C-4C48-8CA3-81671913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we promised, what changed, what we completed.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A617D-2892-4D8A-95B7-6AA6574D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F9C36-9B10-4EBA-86E7-4AA1811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P1 0:45 - proposal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8FE7C-27A2-4AB0-B3B5-44659DCB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4/17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16220-AA1A-43D2-B32F-7E6EDD1C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6477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05E0E-D645-4E0D-A024-97B714B6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486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3F893-F1B3-4646-92AE-4FF75FCB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76400"/>
            <a:ext cx="105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4BC18-662A-40F2-A915-88110A3E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 / 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91172-0494-4038-9034-94A3A10B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5D337-7177-4056-BBF5-F6FB054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 sprite dataset + 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B5D4A-8F61-45FC-9B3F-96FC6264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00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699B2-6D1C-4B92-B249-D67965F2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replacement, grouped splits, Pokemon/OpenGameArt support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4B989-98AF-4895-A17C-C349840C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EFBBA-D263-4A37-8F1C-632DD893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711DF-390D-41E8-B062-A56B89F0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E1E12-9ED1-407F-9174-51FA19A2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717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117D3-6E1C-4AAD-B445-EE4C9432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checkpoint: var_sprites_v0_full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345C1-878B-46CB-930D-79BAE998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4F4E5-4790-413D-867A-003C257F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8E09C-3A4F-41D0-87F3-6BDC221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43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762AC-6112-4AFE-84D5-FF960227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1/2/4/8 refinement-step ablation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99D015-854C-449E-A3C4-FFC3EDE7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A1692-AC7F-422E-88D5-2450CB06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3E7F0-B4AC-4C89-B179-87EAF2D7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 + known 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3F3EE3-F936-4490-9984-1617262E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147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2C710-1F40-490B-B3A8-3C56B1FF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AR, MaskGIT, metrics, audit, external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0A217C-6131-4C82-B1C9-914B32A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871F7A-1D29-46D4-88D0-68DF9199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/ 64x64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95CD32-9B67-4B44-90D9-8B28083B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86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629831-CD41-408F-97E0-741BA31B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claimed; disclosed as next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3BDDD-01F1-44D1-BA0B-07F44A6B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714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67FB8F-9001-40A1-840D-BC8E77A8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928F20-A6F2-449B-831F-0321F7A1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2880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 pivot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3DAC4C-F91A-4602-A48E-65DAD5E5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09800"/>
            <a:ext cx="3409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Proposed neural multi-scale VQ-VAE -&gt; implemented/tried, but reconstructions were too soft or ghosted for pixel art. Main result uses deterministic palette-token pyramids because crisp exact pixels are the domain requirement.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764D77-545E-4BAC-AD76-31943982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371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03E499-8F28-45F9-AA61-1DD1CEFC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D0E571-C757-41B3-B9DC-82B26A72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6720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Code state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558738-4DFD-44BE-AE66-1183A0F8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48200"/>
            <a:ext cx="3409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Present codex/pixelvar-external-baselines as the final working branch. Do not describe main as the final code state; main is older than the completed reports, Modal actions, evaluation artifacts, scripts, and tests.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055E3F-6147-445A-BF1A-7638F8CB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slide prevents the wrong interpretation: the VQ-VAE path was not hidden; it was tested, judged too soft for the domain, and kept as a learned-token ablation rather than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8259238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87025-FEA3-44E9-9FE1-5B4B755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F58CA-17A0-4D85-9D61-70B666A7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2F9FDFA3-2523-4DFB-B9B9-30F93B91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70794BE8-258F-46DB-83AD-982E7E04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33491-6CF6-49F3-BA33-ABB9DEC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generates a six-scale palette-token pyramid from coarse silhouette to final sprite.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7B985-22C4-44F9-80F3-26F8B26E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CC7D1-1C35-4169-8F53-9A39FFEC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1:05 - methodology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A7CD4-11AB-42B8-AF7E-E231C53B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5/17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2806E-5E20-4182-8089-E336F34F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0C078-A663-4EC8-AD3F-29745115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06D6B-3CF0-4215-8C9D-55E4D564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BBFE0-93ED-4318-9AF1-2470FA41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859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4F538-FE58-4C79-8F61-A4793C93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01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22B9F-9432-4D5C-A9C8-C9CFDD35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82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C11FF-9781-4A06-8961-E51B8275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8200"/>
            <a:ext cx="98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10D58-98D7-42B1-AD6D-751E0BCC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605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55CF0-F961-4DAE-ACF0-11555DF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47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476C7-3D3C-4077-AD75-7E2D1B82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28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CE0D3-A7DF-4AFD-BAE8-2B0A79E1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2850"/>
            <a:ext cx="395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5DD37-719A-403D-AE1B-47272AC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352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53620-B283-4C84-AD66-1ACA144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3E95F-2FF6-4BDF-8560-9F5E2923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1C186-0BE8-4F24-8F5D-902C02C1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1583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6B915-52EC-4CD1-B37F-CEEAADBF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9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C0DD0-1897-4E77-B7E7-C98CC48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4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B960A-9D39-490F-9355-BF1BA746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21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16E96-6EC8-461B-BEE5-DF60DC4F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2150"/>
            <a:ext cx="6334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C65D5D-E4FA-46CF-B117-82FEF8E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845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C82F7-BDDD-40A7-A97F-D8A78ADC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87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1935E-AF32-474D-94B3-19A1260B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68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828A53-F9DC-4F4C-8623-281A386A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68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430E7-A3CB-4C3B-9230-FBB96BE5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59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542C49-B75C-4BDF-A006-DF76280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38300"/>
            <a:ext cx="5905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568336-A55D-4C95-BB06-33930FED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8791DB-1857-4E51-A4E4-85AB6980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Generation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8E5818-E711-461D-B6D4-D54DD3D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DBA39F-8D6B-4DA2-BA14-5E04035A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6F1238-884C-4B45-9435-5A45CF03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88FCA2-9D02-497A-A96F-40223CF2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predict each next scale conditioned on coarser scales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47CA4F-2AEF-4A8D-92A4-E82BEBA1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BFC28E-29EC-4157-918E-F1D28184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F71247-CBAE-42C2-8073-73B7B455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EF9538-42D7-47E3-98AC-F1CE3D7F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E392EA-50D8-421A-869B-4A55EFB3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mask/refine tokens within each scale for T steps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82B39D-3D0A-4A9A-9FD6-F90E2B72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Option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FB41B0-2130-45AC-83C7-F29AEE5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FC99A2-BE50-4057-A9AB-2DF3C458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27F125-72C6-4F3B-B2AC-3AB70607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raster-scan final 32x32 grid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E866D6-FA6D-4A7E-878D-0CABB0FC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 baseline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5B00F1-4540-43F8-8C7F-D0D2EAE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6374DC-19B9-4005-9216-992CE0D1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CEF54B-7731-4973-8D76-36690C20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9570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DDACD7-B4B7-43DC-B782-9442EC4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final-grid parallel decoding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6C4552-B79B-409B-96C2-45B04855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baseline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155526-0068-4486-B715-E852930A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7B8AF0-CC0F-463A-8D2C-ADE8BA47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 contract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ABFCF6-8654-41F9-9569-04A0B8AD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9580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7DE9E8-1E07-431D-A07E-23C9C155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6514CE-57B3-4DF4-96B4-B6B1B8C3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F248E0-4F4E-45A2-BC03-87CDB23D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196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4657D7-1D83-43EE-84A0-B092CF8C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A57910-4D02-49D3-AC86-51F7777D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DDCB72-BE35-4A17-95B3-25720A56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1..16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344F9F-29E4-45F4-B901-509BE68D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387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fixed palette colors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DF3943-2479-44BC-9FE6-37609503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AA1764-9B72-48C8-8465-670FACF8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C63D60-B474-4AE4-BABD-43EF8241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578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missing token, separate from transparency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FDC24D-D332-4518-843A-75718728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E430A9-B95F-4C93-9436-3D701B8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09B276-B61C-45EA-B622-7933F73A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89F206-A618-4784-91B4-A5C8CBE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769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tokens across 1x1..32x32 scales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23BD04-30CD-465F-A3EF-C4EF8826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4476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FB3F37-E8B1-4CAA-93B2-0BB425B7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447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9AEDC9A-8BFD-4421-A5E9-C29C673B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5881A3-0EAA-4460-9DF9-EEC397A1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The model never has to repair palette membership or alpha afterward. The representation makes transparency and color membership native parts of generation.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D7BF9E-8984-4FCE-9F47-4A939D6C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340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4B363"/>
                </a:solidFill>
                <a:latin typeface="Aptos"/>
                <a:ea typeface="Aptos"/>
                <a:cs typeface="Aptos"/>
              </a:rPr>
              <a:t>This is the core 30-point methodology slide: representation, hierarchy, and baseline paths in one place.</a:t>
            </a:r>
          </a:p>
        </p:txBody>
      </p:sp>
    </p:spTree>
    <p:extLst>
      <p:ext uri="{BB962C8B-B14F-4D97-AF65-F5344CB8AC3E}">
        <p14:creationId xmlns:p14="http://schemas.microsoft.com/office/powerpoint/2010/main" val="18486458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F6DDB5-0A13-4939-A21E-9E0DED82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365A9-605A-41FD-B293-FF431FF6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AC67638-1799-4F6C-88CE-47D4E91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F5A7EE1-6F94-4504-851F-2FB8A93E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F09A1-373A-49AD-A937-1870D062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Evaluation uses a fixed 32x32 sprite protocol, grouped splits, and three layers of metrics.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0FECA-0535-4B75-B732-CED3AE5F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50690-B519-4316-9018-DDBB7000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0:45 -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7EAFD-9E53-41D5-9682-D4BE13C5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6/17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6E012-9DFC-465F-BAA1-860279A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14DE7-C94F-42E3-98C5-7C5724A1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6F9FB-E8A1-439D-B6FB-A6212C9A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E31CF-858E-4F66-9C23-FB020ECB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B8690-CE85-4BE3-9F68-A1C1B5B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D0C82-FB1A-4BD0-9586-7B9A2652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D32C4-44E5-400D-A0ED-5B8DC36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46481-2DD2-46DE-8875-E252E25E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E9532-7690-4C9F-AF41-E048A6F6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27DDA-02E3-495C-AC4D-0C353685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FD633-4AF7-43F8-AEB5-8FD583EC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F32FF-B18F-44C5-AA76-50C913D9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41351-A12F-4F7C-B712-29F306A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51234-2745-4660-B43A-AC000D1E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57CD5-BADD-44AD-A8AE-D3F5A12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B68C6-8DAE-4989-A062-147C5D92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C967A-C3C8-422D-92BC-7940F381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47F72-09DB-4861-AF60-DD5CCF85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0C19CE-9434-4804-8738-8BDDCDEC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protocol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6C06C-66D1-4812-B2D4-938819ED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All main outputs are 32x32 transparent RGBA sprites decoded from palette-token maps. Splits are grouped by character attributes to reduce leakage.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B377E-7265-4911-9464-A90A00D0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DC183-2D9A-4500-94C1-17D4DB2B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F79879-CDA0-41F1-9E94-2D07F52D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4D7E0F-DA24-4166-8E66-BDBAAAC5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Three layers: sprite-specific feature score, standard image metrics, and exact-match audit. Acronyms stay in backup unless asked.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60CC2-7E5A-4FF1-9F6A-DA8D01D7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9FC38-A403-4D71-BE82-007831F7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82D029-CE53-431B-B3D9-74840697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05F01B-2322-4A05-9C98-2DD05CD4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Internal: HMAR, Flat AR, Flat MaskGIT, generated/mixed, Patch-VQ. External: SD-piXL, SSD-1B, Pokemon sprite LoRA.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0BCC1E-DA0B-4D2A-99CF-30A3EE0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audit is not an appendix-only detail; for tiny sprites it is part of whether a quantitative conclusion is trustworthy.</a:t>
            </a:r>
          </a:p>
        </p:txBody>
      </p:sp>
    </p:spTree>
    <p:extLst>
      <p:ext uri="{BB962C8B-B14F-4D97-AF65-F5344CB8AC3E}">
        <p14:creationId xmlns:p14="http://schemas.microsoft.com/office/powerpoint/2010/main" val="8747634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359FF0-396A-4D70-83DC-3BE6F55F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549B7-AB91-4661-B722-C9A04BB0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C7EF1ED7-1778-44C2-84B1-C82C2D90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58CFEF7B-F7FF-47AB-9A56-B4DB24D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0FFA1-A5B0-49C2-B826-4A03E551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PixelVAR checkpoint produces compact, palette-safe 32x32 sprites.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EE018-E671-4D31-81ED-5819D0BF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3CD63-B60A-49B3-B0DB-89B8EA6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0:55 - main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FE6B-A21F-4F2E-B763-FE48CBE4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7/17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D6EF2-0685-4D1B-A7DA-9ED99F55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65ecdd2104a8b"/>
          <a:stretch xmlns:a="http://schemas.openxmlformats.org/drawingml/2006/main"/>
        </p:blipFill>
        <p:spPr>
          <a:xfrm xmlns:a="http://schemas.openxmlformats.org/drawingml/2006/main">
            <a:off x="714676" y="1504950"/>
            <a:ext cx="4209448" cy="4686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7998E-8DF7-49F3-8A9E-6794358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85900"/>
            <a:ext cx="5334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687af54bf45f8"/>
          <a:stretch xmlns:a="http://schemas.openxmlformats.org/drawingml/2006/main"/>
        </p:blipFill>
        <p:spPr>
          <a:xfrm xmlns:a="http://schemas.openxmlformats.org/drawingml/2006/main">
            <a:off x="6500813" y="1524000"/>
            <a:ext cx="3838575" cy="2362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41912-6537-4D79-8155-EE5480FF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55957-FCF6-482F-9174-4DA87381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6745A-B581-4B8B-B63F-79ADC30E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FA13C-9109-4172-A624-915FC6D1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A4BDD-2C12-44E6-88AE-3118A76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E971E-2AAB-4492-A8B3-5A9000B3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6DC90-6CAB-428D-8F62-5D1A8EF4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F9E0D-9BCE-48C6-A552-8E7E8E41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5329A4-BE4D-49B9-8758-B9BCA779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29256-CC7B-457C-9636-9DF25E29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expected from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C9047-6E76-4FF3-AF80-CD995F4A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D3197-0864-4391-9A9E-E996F1B5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8CA128-76CE-4206-B362-D0D8A832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100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F098B-D114-43F9-8FAA-E9DB7A8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434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edge density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AEA92-5352-4623-90DE-64A8DE91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958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real val 0.1811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CE238A-B641-425C-8458-46D70A4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92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sampling: temperature=0.8, top_k=8. Palette consistency is important, but it is expected from the discrete representation, so we do not oversell it.</a:t>
            </a:r>
          </a:p>
        </p:txBody>
      </p:sp>
    </p:spTree>
    <p:extLst>
      <p:ext uri="{BB962C8B-B14F-4D97-AF65-F5344CB8AC3E}">
        <p14:creationId xmlns:p14="http://schemas.microsoft.com/office/powerpoint/2010/main" val="12371947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B40590-2199-4833-B1FE-8ABAAA4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CD4A2-6623-4777-A974-C1D5FE2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9F72EB43-182F-4979-90FC-2EC8625C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171BAB78-A0B7-42A3-AD7E-77E24BA7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INTERNAL SAMPLE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09059-5902-4E41-BB8E-DFC3A059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model was chosen against several implemented branches, not one cherry-picked grid.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AF3E6-31A0-4035-AD54-1A61E282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A0455-5D7F-4D4F-B660-AFB7CC76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Main: model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93940-531C-4615-A2B0-94E2866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8/17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B609B-D537-4F79-B806-D8F9859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Real-only 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5B334-715F-4B46-BF2C-4FB37148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0.00147, main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FB4C0-D735-46CD-9BF3-79A9E3B0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bbb1655a94d8b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05740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2E914-69A8-4ACB-A8A5-5815B6E8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66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75569-F10D-4E64-B520-951399EC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0.00189, close but behind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A95AB-439C-449B-B858-28E4C402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1930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2a083b0754642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205740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5E3EB-0A25-476A-B713-07B79186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Generated-keep VAR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0D802-C3FF-4519-9446-5E7738F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0.00157 self-reference; not direct real-val winner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F430B-0E27-41DF-9638-04C02F88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0f320423c4bfb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205740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CAE99-C5EE-406D-8173-CF55F235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Real + generated 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F88FF-D40A-4956-9BD3-9F1A306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0.00755, larger data did not help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85A17-4257-4032-994C-5B3AAB9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1e408862040ba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43865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49D58-81C8-4F34-B76B-EA9FABF9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OpenGameArt-mixed 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0C13B7-0575-4121-972E-7D26A71E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0.00778, public-data path worked but mismatched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F7ADC-E625-4009-BBCC-5A6E2FF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0055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8f7d6e6a94812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443865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8AA04-F386-494A-9BF8-58620921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Patch-VQ VAR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A43633-274A-4626-9E4E-A1908506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0.04689, learned-token ablation was blockier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7892A-52F3-477C-AD7E-C2F1DF4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0055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81ae3fa9e4730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443865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B4D515-6D23-4B44-9F2F-2B41D067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9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Read: these are qualitative examples tied to the model-decision table. Only the real-validation comparable branches should be used for the main winner claim.</a:t>
            </a:r>
          </a:p>
        </p:txBody>
      </p:sp>
    </p:spTree>
    <p:extLst>
      <p:ext uri="{BB962C8B-B14F-4D97-AF65-F5344CB8AC3E}">
        <p14:creationId xmlns:p14="http://schemas.microsoft.com/office/powerpoint/2010/main" val="20522578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300B6-1CE0-49B9-AF8D-E53A5A28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2C741-9107-4377-BAFF-07D103C9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36FB64F0-9081-440A-AD2B-8AB7A6B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0234FD0C-DA2A-44E3-953C-59BC9643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03BEC-E974-4F94-9961-1C9ED1C9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worked, but more refinement did not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31E45-FF3E-488A-98C0-2CA913B8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ED027-19DE-464D-8FCA-E4251F21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0:50 - ablations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2A7BC-13DE-4D40-8ED1-02958DCA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9/17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3154A-B9D3-41A0-86B4-67244253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619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400dc51484156"/>
          <a:stretch xmlns:a="http://schemas.openxmlformats.org/drawingml/2006/main"/>
        </p:blipFill>
        <p:spPr>
          <a:xfrm xmlns:a="http://schemas.openxmlformats.org/drawingml/2006/main">
            <a:off x="650264" y="1524000"/>
            <a:ext cx="5462221" cy="2705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42F04-5210-433F-A7D0-42BFEF4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68CEA-4665-4915-89A4-62FA21EB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27F46-CE68-47D3-B375-34DE2927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4190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5002D-A59D-4B80-B6C0-41DED48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049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E0209-1E47-4370-986C-841FFC0D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4733A-2E89-4101-AF5E-F4B4BE71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610DB-4A81-4986-BA66-35B440FA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5387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09A2D-1668-4E25-BF96-10A6B0FD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05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68429-CD66-4DB0-8BCB-9572FDA6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DEAE0-5CE7-40F9-B141-D7798EB7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3808F-956A-4735-8359-F3B866F2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1066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B8793-0114-4DD4-AD28-B893AA53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05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3DC8F-6AEF-4D7A-A808-5393C07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1803E-7CC4-4AF8-A2AE-B7B1D0FA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70330-00A9-48A9-AB66-4D91FF6E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043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7B44B-615C-4C6C-AAA3-1AD8F61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05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C4F9C-A33B-4220-A6FA-5CFBA3AD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FFC719-DD48-4FCE-9FDD-701D3944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DC1748-B4C6-4E26-8DDF-EBC136F1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5483EC-4D0E-450C-9878-AA72A03C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05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33B71-28A3-4083-804B-8565FD9B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572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C7ACB-EE9B-47BA-B49F-34FB0D8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68263-CE25-48A5-901D-AB53AA6E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77EE5-0675-43C5-98D3-1D5E714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7E71AC-E9CB-4945-A0AE-8E605C7E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Generated/mixed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C0CCB6-5F2C-41DA-A35E-A4DC4222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larger data did not improve real-validation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7893A1-0BC5-428A-92E7-9456E504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5DB94C-7911-44D0-87CA-A0BE65FF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44EB3C-C80E-4BFD-93BE-B9AE1465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B7C4B0-5341-4486-8412-C5AFF2F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pipeline useful, distribution mismatch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2F7B84-3F53-495E-93C3-448FFBE5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67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4D38DF-BF25-4801-9DE3-A72895C8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435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23B65F-36FF-4029-B195-83D8F01D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435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path worked but was blockier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E6A4A-E9CA-4B6E-A574-676A821A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lesson: more refinement and more data were not automatically better in this low-resolution palette-token regime.</a:t>
            </a:r>
          </a:p>
        </p:txBody>
      </p:sp>
    </p:spTree>
    <p:extLst>
      <p:ext uri="{BB962C8B-B14F-4D97-AF65-F5344CB8AC3E}">
        <p14:creationId xmlns:p14="http://schemas.microsoft.com/office/powerpoint/2010/main" val="10728171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AF988D-6FE0-46AC-9800-984D73CA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464DF-81AE-444C-99F3-B41E1D3E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FB081245-2360-473D-A8EA-DA89C203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A995901-D445-4E96-9B7E-69AEAF3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PIXEL-ART DOMAIN METRICS: FULL INTERNAL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21810-D596-446B-B9D0-289B2777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Palette consistency is perfect by construction; structure and exact-match metrics carry more interpretive weight.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5E9D0-AFB7-4E79-B5D6-519F620D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1C3A9-6017-47BA-A2F2-E49EAA8B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Domain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115B9-486D-4126-9A70-5E326AAC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10/17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AD2BA-574D-4327-B604-CDFBD1F0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85900"/>
            <a:ext cx="1123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526F8-F3C7-4B15-B6E3-C985438E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DD6C6-AD26-404D-BFA0-32C77779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5621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CFCC9-2ED1-41FB-BE3D-265BB08F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B384E-9413-4EF9-A313-05E6E8AA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opaque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4A867-00C2-41B5-A77B-863C1548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621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78D04-A2A1-400A-BBD1-F83CBC3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621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6D311-24A1-4EEA-8AE1-72220D34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Unique colors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055F3-38D8-4C77-906D-E2674C01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 NN L2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70842-1D48-482F-BA12-DF03F1C4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62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F91E7-CD6B-41AB-BE7D-95A98071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C832D-980F-4080-8EA7-B1CB2ABE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E5679-6210-406C-B441-66FE1056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859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4860A-04AD-4B35-8C7B-2154DC54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859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F7BAB-CC1C-44B9-8DD1-EA8B9F3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859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E72DE0-F229-4FDA-B78F-359BFF45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859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27B1C-F0EE-43C3-A599-5C8B9F44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859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30062-9B97-48E9-9148-9BFC62D5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11.9294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AD9F6-1342-4D26-858A-83FDC611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5.2384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E53B1-13C2-4735-93DB-43FA696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F2C253-8ADC-464F-B1C3-5F2C899D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F286D3-DB47-4270-AEDE-F42CDBCF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CB4E38-81CC-4121-A4B5-52BCECD1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3A03D4-D30C-4EB0-A9BB-3726C9AF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003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2AB758-A486-4093-9BD4-48BB0C13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678C33-AD26-4219-B313-06282054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003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52B2DB-AC68-4566-8390-C52DCFE9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C810E5-8538-4B5F-9BE9-602882FB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003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7A8C2-794A-4243-A3AC-967E2BC4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11.8301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134A24-989F-4DB1-81E2-EBC711F0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5.2180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7EA9D7-6116-47E3-86B4-8EE2D05D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03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0.000488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F8C18C-75DA-44E1-8969-D8F05769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7FA181-855F-4B6B-B6C7-0415098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4D7B6B-5750-4A59-8313-EE3764CA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5EF990-5525-4168-A36C-B6027DA4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0.2321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3156C0-1086-4825-9535-BD7A5CF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146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C5D3AF-048D-40DB-8DC9-653F4DF1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0.1790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127165-4496-471F-92F7-006F8C9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146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4799FE-8F7D-4FEB-8979-6516C637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11.0378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E95561-FB64-47B9-A03B-74B4E0B7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3.4928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C71B7F-1F2D-45EC-AD25-52877B64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0.011230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9F1805-77B1-41AD-AEF9-CC7D064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396007-DCBF-408C-AAFF-7C745348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521481-B650-4C78-B18A-5EF84C1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69F3E8-036D-4B9B-880B-370B095F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29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2F13BE-D977-4F22-A03B-355EBB7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0.1942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8165AC-6DE4-4B5A-891A-4612061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290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68BE3E-877B-442F-A811-D20B98A9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0.1631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FD7D62-7EB4-4817-9B02-CC19431E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290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28A588-2120-46AE-B177-2E30B531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11.8718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FB3F40-460E-4297-A857-92BBF2DA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9.5599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9977FF-94DD-4949-B7D6-67201726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2E583A-3EFC-49EF-B717-DDC875D3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D3B457-AC42-4303-A1E4-2B55AA37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4F44B6-D453-4493-A131-7294CABE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960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How to read it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D8D696-550D-4AC5-A8D7-CBA22389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960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PixelVAR and HMAR match reference edge density closely. Flat AR has great-looking metrics partly because it reproduces data. MaskGIT under-fills sprites and loses coverage.</a:t>
            </a:r>
          </a:p>
        </p:txBody>
      </p:sp>
    </p:spTree>
    <p:extLst>
      <p:ext uri="{BB962C8B-B14F-4D97-AF65-F5344CB8AC3E}">
        <p14:creationId xmlns:p14="http://schemas.microsoft.com/office/powerpoint/2010/main" val="6237900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16AC7-047B-4CF3-B8F5-533786FE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5CDB2-F5B6-4846-8A11-695499F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8FBD05DF-C510-431C-B095-DB8054C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3CA98CBC-9EE0-448A-A485-B430531C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KNOWN IMAGE METRICS: FULL INTERNAL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9BE2E-0831-4737-8755-2FE60C57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Inception metrics favor Flat AR, but that result is not trustworthy without the 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D7A8C-6E9C-49D4-8B52-E3957D94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19DE9-75EF-4898-85D8-2D85F25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A06E0-08CC-444C-B2BF-0A5EECB5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11/17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E07B9-ABC0-4F4C-B224-BD70BCC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0490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8D4D7-06D5-47B1-B00E-60EFCF4A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49D26-8EB8-4F07-9BD0-A0FD705E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7B751-F038-4973-B74E-2EF5471D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8F981-EFC1-48C7-BECF-CA426A12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002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C48E3-1857-45D0-9C63-58127C56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002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24D1F-8609-426C-BA91-142DC7C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02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94FE1-0A5D-49E8-9DB3-D24E725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6002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F6F4B-9291-4450-BE0D-43E0E319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46F75-C2D3-4568-8885-137E1303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00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9B790-151C-43D7-A6F9-4E492C1A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829C7-D7F8-4AF2-836A-FDE58732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3CCD8-A3FA-4A64-9383-692EA729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4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9.3558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CCA94-252B-4885-BE4B-8477E01D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65B63-9D20-4725-BC19-D9B52CBE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59B7E-57F1-46F9-B549-0C44F1D3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9240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B85E7-7094-4CE8-AF82-0AFB2B2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0.7654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1262A-F577-4ADA-ABAB-ACA2AB4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240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FB33B-D57F-428A-8ACE-0B1D294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0.8281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25D136-B493-46D3-8079-6501C8A3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24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6E4310-DA1E-43B1-A44A-752206EE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AF4314-3665-4EF1-A332-D3B5D81E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FF160-82AA-483F-A057-56A8914D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C91DB2-4E20-4C2A-A028-1682BFE7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12.6555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3F58F-871E-4A21-8EC4-2259D2D9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0.005209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F66756-071E-4C3F-B652-E5CAB31F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F5D837-5C03-465E-8993-5F1927BA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003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FB75B-F503-4DA1-8D08-23517A4A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0.4136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C61A66-6110-4730-B4E7-4293E2DD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F3C6CD-6334-4091-AAFB-4D7F0A9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FC9DD5-8D17-4DB9-B14B-627AB132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00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D0B4EA-1562-441F-AE96-5F98D766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CA3E52-A4BA-480E-9251-5F1FBF71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DB13B2-B884-4AF7-9DA0-BFD3047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76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3AEE95-9DEF-4B29-9FBF-DA3DB7B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0.006010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18DE23-F58A-479F-A0ED-DE8610B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2D8A81-EF83-4716-BF0C-DAFCD117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765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9DA73F-C658-49CD-9589-5D9473CF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0.4093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928BBF-2DDB-450E-9B58-FB723DD0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76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EACEDF-07AD-401F-A794-5E436B1F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0.8323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1C3A29-68CC-4FD3-AD18-96F3C501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76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E815DE-853A-4F8B-8C7E-F518472B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F6D9CF-D33D-448F-B5C8-4ABFC131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DEF7EE-E416-4814-9D0E-2725CB0F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4A5EE4-5D27-48A7-9B6B-46D56496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528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67.3908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EFF0FF-3A5E-4926-83B2-C859C36C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0.061825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263F16-DA42-450F-83EA-56D1F4C4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0.1545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98C48F-585B-40C9-B4A3-37BB7518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528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4E3A05-EA71-496E-9F6B-1CC3D311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EB04F0-35A2-44C9-A985-EA63BD72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52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767408-2957-4EF7-BCA8-776C14F9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0.9426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8879C6-5517-4618-AB2D-2BC08A40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52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54175E-4962-455F-A195-D1E2D87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032b4d84b4fbd"/>
          <a:stretch xmlns:a="http://schemas.openxmlformats.org/drawingml/2006/main"/>
        </p:blipFill>
        <p:spPr>
          <a:xfrm xmlns:a="http://schemas.openxmlformats.org/drawingml/2006/main">
            <a:off x="1715492" y="4229100"/>
            <a:ext cx="2665016" cy="150495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AFA51E-1968-4739-BC9E-B3D26A16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0c014bea44d9a"/>
          <a:stretch xmlns:a="http://schemas.openxmlformats.org/drawingml/2006/main"/>
        </p:blipFill>
        <p:spPr>
          <a:xfrm xmlns:a="http://schemas.openxmlformats.org/drawingml/2006/main">
            <a:off x="7123509" y="4229100"/>
            <a:ext cx="2821781" cy="15049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A30C9B-FE22-4978-B4F1-7AB12D26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Conservative reading: HMAR and PixelVAR are the strongest non-memorizing candidates measured; PixelVAR wins sprite-feature, HMAR slightly wins some Inception metrics.</a:t>
            </a:r>
          </a:p>
        </p:txBody>
      </p:sp>
    </p:spTree>
    <p:extLst>
      <p:ext uri="{BB962C8B-B14F-4D97-AF65-F5344CB8AC3E}">
        <p14:creationId xmlns:p14="http://schemas.microsoft.com/office/powerpoint/2010/main" val="6536431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BEE89-C65F-45C4-9C70-CB4714BD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B4711-78E4-42C9-9D8B-F74B880C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ED601229-C045-4E0E-BFC8-70A3421F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1C8B3BD3-CA13-4E16-AD82-3EF78916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METRICS +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C3BF4-4B1A-4CAE-BFFF-83A10BB9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FID would pick Flat AR; the exact-match audit changes the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8A2DC-8218-4996-8BA3-67D0A772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3910C-4880-47F5-9720-F836D129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1:10 - centerpiece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C9D9C-B01B-4275-BE86-79FA8AE4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12/17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BB423-8579-46E2-9CDA-A80C9AA6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4762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9894d620745f0"/>
          <a:stretch xmlns:a="http://schemas.openxmlformats.org/drawingml/2006/main"/>
        </p:blipFill>
        <p:spPr>
          <a:xfrm xmlns:a="http://schemas.openxmlformats.org/drawingml/2006/main">
            <a:off x="635397" y="1504950"/>
            <a:ext cx="4520406" cy="2552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77445-A9F5-46BE-9D2A-DF8506DA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4953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a7ed8de784819"/>
          <a:stretch xmlns:a="http://schemas.openxmlformats.org/drawingml/2006/main"/>
        </p:blipFill>
        <p:spPr>
          <a:xfrm xmlns:a="http://schemas.openxmlformats.org/drawingml/2006/main">
            <a:off x="6084570" y="1504950"/>
            <a:ext cx="4594860" cy="2552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9703E-9610-4ED0-8EAE-EF1B5A44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857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90695-067E-4FF4-B3C1-DA3C095F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3AAA1-56D4-4095-A4CB-E85A8628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767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0A283-2B24-41DE-A53D-F33BB662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D8A76-FA5A-427C-9624-A54D9A3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AC43A-B308-4A85-82BA-1CDBA936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Audit-adjusted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61B08-9E71-4E67-B7DD-43B382A3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C1E36-2649-4F45-9187-ACC73902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EDDD6-BCC2-453C-9E12-0094A13D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006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C1B9B-5CE8-42D9-A98B-E1B2BDA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32E45-1F90-4C2F-9EAC-677DB8FD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992FC-7DAF-472B-B1C9-9E230DA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memorizing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C0221-BEB5-4E09-B215-BF12EE35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5CA13-3F0C-462D-8677-CF3A0C13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FECAB-B7C1-4117-A7F8-0498D7AD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7EFB7A-D53F-4334-A4BD-133C6EC5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7E602-E2AE-49DA-B93A-895CF015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1C759-A2CD-4FD4-BB54-32BE796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5B321-6B42-4354-93B8-3B56FC74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244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disclose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8CB30D-D4E5-4DA7-B73C-A9027FF7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044BA1-95E9-4B35-A89D-7E507911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483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EB119F-2FCA-4768-AE1B-1AAE5E16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483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A8CE0B-CF9D-416A-9781-05282CF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AD9C6B-7E64-45EC-8B9D-BEE63F6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60C3FD-8E23-4D4E-BD23-9FDBB610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483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main 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1B3043-485C-49C6-BC3E-DCD1561C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EF03FC-F0C1-43F8-A710-58FC06C3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022B6C-66CE-498C-ADA2-78F4BED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721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E0DE7A-6147-47A9-AB70-DF3B25E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721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14535F-2936-4E5F-99F1-E6015892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9932D4-55CD-473F-BA16-FB3D5A2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714FE0-E070-4FA8-B8B9-7AF4378D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721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B25832-888D-4118-A758-7F6B6311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6265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dataset had zero cross-split exact duplicate hashes, so held-out exact matches are not explained by simple split leakage.</a:t>
            </a:r>
          </a:p>
        </p:txBody>
      </p:sp>
    </p:spTree>
    <p:extLst>
      <p:ext uri="{BB962C8B-B14F-4D97-AF65-F5344CB8AC3E}">
        <p14:creationId xmlns:p14="http://schemas.microsoft.com/office/powerpoint/2010/main" val="9983916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24DCD-D3C2-4BAC-A17D-77D1FA0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43876-3755-461A-8A5F-7D613995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B79A6C37-C292-4DC7-AB57-2DB28B9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178A0BCA-BC16-4059-BA04-22CD07FD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EXPANDED METRIC SCOREBOARD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86CD2-EB66-401E-8A90-175B1736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More metrics make the conclusion stronger only when the audit is included.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15CF3-48A5-44E3-B8C5-D8617ED8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94738-4448-4103-ABE1-31303C83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Main: metric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34DB1-DDFF-4B5C-A0E3-EB99A9A3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13/17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653C5-4E07-43FF-B287-6D6B690A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34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726EF-C3B1-4F5B-AD9C-BDC8A9E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Internal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A86DB-6774-4AB0-A5E6-E21170D2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43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46E72-2408-476D-BE25-B6AFD2EE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43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EBB5F-7467-4183-A3A8-9D8BB132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43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C5CEF-89E7-4242-A610-6C874098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43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20F14-A019-4011-BD86-89E1E827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43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782D4-E4EC-4E16-9D91-35BED713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43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2AB3C-8A24-45F5-9F81-DCD6FBA2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43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10B5D-EDC6-4285-87D9-5EF4D535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430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63CD3-D3A9-4223-97A1-DE06BE59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43050"/>
            <a:ext cx="382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0181D-3BCA-4069-ADE4-8E16A214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232F9-CC7E-4AA5-8560-33BA5A4B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5423F0-A1C7-4865-A904-4469D9A7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66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A07CD-8D33-4EE9-855F-21A6028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514A4-A9D4-45F5-9347-963BFD8F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AB2595-C44E-49B5-BC1B-81C69F3A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66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6C295-C085-4EC7-8EE0-2D5D609E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301586-DB3C-46C1-BA0F-8D88F935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F33D6-65A8-4854-B144-A0FA356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42D1B-5F75-4172-BF8C-DEBFAA3D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 val / 11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CBD05C-74F7-458E-8D9E-26F5411D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selected branch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0F0F3D-8B2B-4E99-8624-779EB88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710EA3-1799-4657-921E-6841A2A6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3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B6614-56DC-481D-8B7F-8E867B72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E15AE-051E-46AF-B356-E3D02BD2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86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3E0496-9EE1-41F8-9FF3-7A347FA6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86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B3A787-3B1B-4D22-AD0E-B165ADDD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860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0.00521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7DED95-2984-42B6-8B96-5CEBF2A4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86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5C6226-5B31-4345-B680-4E5C30B8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298478-29D8-4217-8CF1-955EA54B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44EB53-33E9-44F6-BEB6-3C3A89A9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60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AFF625-8715-422A-BA28-338FBAD1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 val / 22 test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542F31-746E-4B19-AA01-3979A08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close non-memorizing branch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B650FD-491C-49C9-B9E5-CE51223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88685B-2B5E-47AE-A438-255939F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051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707042-F113-4D35-A571-757129CA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05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E2C97E-8677-48B5-A424-32CDAD5C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FCA5AB-1962-4197-8713-BFEB814B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051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F30F2F-2A4B-40F5-8F13-E62C49DC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E08E02-FD7E-41B2-BFF0-E0E051DD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C1729F-A576-4966-8332-9EE7A2A4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05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BD1662-104C-47F0-AE72-B248B47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0.828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DCC9B2-A23F-41BC-95CD-A3C205A7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3162 train; 365 val; 333 test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1888B9-BDA4-4444-A6E0-CA9D6687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051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raw-metric winner, audit failure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A3FD38-D843-42E7-B210-1DA30D9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B2BAE2-DFAD-414E-8454-A544132E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133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BEFE7E-4D09-4DA8-94CC-8DFFB24E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C7E893-AC99-4EFD-AE4C-7D3DC415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242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710855-6739-4AEF-99F5-16670AB5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24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B69C44-CB83-4028-9E16-2A38911E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242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0.06183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3701E1-2DB6-466B-9EAF-C0526F78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D1F184-AC35-4767-B0E5-04FF0EC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242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EC2A67-DC7B-48FF-B63D-7669766F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242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03A62A-5EC0-449B-94D7-62FD47E1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242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0.943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C77C93-2967-41FB-9D80-BBEAE8D5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 exact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C362EE-5788-4295-AC5F-471C469E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242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1D421E-3CB3-4299-BDE0-86B96F14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1334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F27818-0A6E-4EB8-B913-202BE5C6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row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240BC5-1201-44C4-8271-A6AC5FB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195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F54B3D-6827-409A-BD7F-04638A23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195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987C6F-7E5F-4D7B-859B-D689B34B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195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D2A625-4F8D-40D3-9637-355BCAF0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D852C0-5101-4BFE-B18B-8303E52B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B2648A-30AC-495C-94E0-25EC7DD7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C2F643-B78A-4B1F-A5E2-B48D9EC4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95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457104-C5E6-44B9-B1AA-2728FCD2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518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F0C9E0-0F7E-4288-B63D-64D0CB0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A3180C-BBD7-4EA4-92C8-12021A0B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paired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4B5869-0245-4CBB-8CCE-40F795E7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43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82367E-242C-4A64-956F-6955516F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434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4BF6EE1-5E05-4A81-B951-D45C61E0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434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D0AE9A-CF62-4BAA-9B9E-8DCEAB04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F5F9B6A-F2E2-4DD0-9E8D-4B4FB83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7D6D22-4B65-44F4-B6B4-2808F27A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434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46C457-1038-4D7D-830B-A7EAAA01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8BBE74-0287-435D-926A-57759A3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518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same sample count reference row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0E2A9BA-1E79-4C92-92FE-CBC327D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32D111-3342-426A-ADB0-F1C0B5CE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3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EBD1AB2-1151-42B5-9088-850E73C9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946718-F9BD-4F91-8BE8-D534CC5D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434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6407012-91ED-40E3-A62F-661E1B7C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434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154.02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757EA6-DC4D-4D62-9634-D683B77C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434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0.13659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5DA98A-3F53-4345-89EC-487E64F2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0.117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C2DF1C6-6D15-4E36-9913-A8DD504A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43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0.121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2EBE2F9-9DE2-491E-B30D-83BEED0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43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F42575-F912-4F4E-AFA8-9117E184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434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0.542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CC2B491-414A-428F-8354-DCED9600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518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practical external visual row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2F7EAF-F2F8-44DF-8B7D-C790DE55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8F82F8-101B-49BC-AFEF-2147CF2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25D8246-67A4-457E-9CF4-CFEB8F78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435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0B083E-9839-41A4-B426-759EF441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435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158.58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D1BCC7-EFB3-4BE0-832C-EE73E1E6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435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0.10216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66D9B2A-A313-426C-B93F-1BBC6F77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0.055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8B70D6D-4CA7-46C9-A03C-69BC4076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435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1150CE7-964B-44BC-8F3B-C5DBB1E9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435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EFEE592-6146-4B93-B5AA-F64D06A7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435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0.411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AB9405-17B4-416E-BB44-4E0B8515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518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recognizable sometimes, low precision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A7B3DA2-564D-4503-AD54-B67CD6C5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C84EB3-39B2-4823-BF18-191EFA72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3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8647911-F8F1-48C1-84FA-29EE5666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405ED0C-BCF1-4083-8865-08206528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435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1CAB7C-41EA-4E8B-A134-37727BE2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435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497.71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D19C41F-3657-4B4C-821A-31C53F00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435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0.51765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99CE59C-81F1-431E-B173-08FFB4BA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43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9E0A852-6D1B-4E7C-A455-A42348E0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43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7E5A21A-D548-4350-8F7F-6C83218B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43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7318E93-6E84-491D-BC51-3AB9115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435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0.493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FD2E362-C8FB-4D6F-A336-B81549E3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518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targeted attempt, failed adapted protocol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605E304-CFD0-4D76-A8D2-5C6CF45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4B363"/>
                </a:solidFill>
                <a:latin typeface="Aptos"/>
                <a:ea typeface="Aptos"/>
                <a:cs typeface="Aptos"/>
              </a:rPr>
              <a:t>Do not compare every row as apples-to-apples: internal rows use the 4096-image known-metrics audit; external rows are normalized image-folder comparisons with different sample counts.</a:t>
            </a:r>
          </a:p>
        </p:txBody>
      </p:sp>
    </p:spTree>
    <p:extLst>
      <p:ext uri="{BB962C8B-B14F-4D97-AF65-F5344CB8AC3E}">
        <p14:creationId xmlns:p14="http://schemas.microsoft.com/office/powerpoint/2010/main" val="212395719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15FB98-D355-43AE-972B-83CA7E54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30EFB-30CE-4273-B375-85D0E697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737AE6F6-9107-4309-8E15-28A66D48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FD7443AF-1616-45D7-9128-8F5EEE52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64885-4938-4577-958F-FAB20B6E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generators failed the normalized 32x32 sprite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1FCB7-BA69-4A0E-B8A0-286EBBB3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8D6F2-0130-4FB9-8EFF-DC72D646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0:55 - external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721F2-9BD5-481B-98B8-512C984D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14/17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6FEBE-56AA-45B3-A834-F58AC6B2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AA826-28D8-46A6-9FF2-00345D02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95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71B93-134A-48B4-86B7-1EC5EDA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95450"/>
            <a:ext cx="19925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FDFF2-250E-44E4-A8CE-B2AEC852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47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46.5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970EA-21AC-4302-B050-4555EBDF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AD090-B1A2-4476-BC62-15F0231F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BB5AB-26B1-4C9F-ABCF-BC728586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6602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26767-D749-498E-A5B4-13D781B4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28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154.0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D32EC-3011-4DE2-91B2-567B13D1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0F690-B169-462A-ACE9-E6FD79C8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57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6867F-A4AD-4E13-A3D3-093696FB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57450"/>
            <a:ext cx="67980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3ED5C-A684-479C-96E5-A205B4AC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9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158.6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13554-C7AC-44DD-8177-0822519E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FC4AD-4F39-45B3-889E-E26C352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B46E5-FAB9-442F-ADB4-1308B64C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1132B-265F-404A-9CA6-DFCF65F2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90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497.7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52A5A-2029-4808-AB35-8AC22BE5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B5CFE-D48A-436F-A2C5-036BDF9F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4BD1D-0803-410E-82D6-45ED6A3B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08CEC-4EFD-4A35-9226-8BA2125C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058467-76A5-40F4-A582-05BCE95B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3838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99048B-0D95-47C0-8DD3-4FF49419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1938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085E52-F130-4B25-8BA5-5EE4E0CA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1938"/>
            <a:ext cx="12170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6A429-74B6-47D2-8FDE-D5536D37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431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63FBDA-C5E0-44DF-BF66-2BC15D08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9914AC-877C-4668-96ED-12398445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29125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BC3210-6864-4763-83F3-FA6660EF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29125"/>
            <a:ext cx="8432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9B0833-4142-4694-8402-12515B6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875CBB-DE5F-4B30-9528-73E0AF20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8213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39DDA4-90EA-44E9-9303-BDDB91BA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6313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1AA862-8951-49FB-A4F8-69F03639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6313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AE50B1-45A4-4F2D-A578-FE9413FF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3868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96B256-108D-498F-8AB7-FE4623F1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FID lower is better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A6DC13-743C-4FDC-A72E-E16AEAE5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Coverage higher is better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751FA9-B9DE-4921-8615-14BFE54B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6cd3895c5480c"/>
          <a:srcRect xmlns:a="http://schemas.openxmlformats.org/drawingml/2006/main" l="0" t="40159" r="0" b="40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56210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C99A27-BEC0-4CF0-BDE2-7793F7FB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29486ada4a3b"/>
          <a:srcRect xmlns:a="http://schemas.openxmlformats.org/drawingml/2006/main" l="23155" t="0" r="23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306705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0B0C9D-A7D1-49DB-8808-A89E3A73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8748bffca4db2"/>
          <a:srcRect xmlns:a="http://schemas.openxmlformats.org/drawingml/2006/main" l="23155" t="0" r="23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457200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E2F438-5EC3-4FE9-BFEE-40FE941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809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PixelVAR</a:t>
            </a:r>
          </a:p>
          <a:p xmlns:a="http://schemas.openxmlformats.org/drawingml/2006/main">
            <a:pPr algn="ctr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21B0B9-D4C0-47C5-907C-64EAC07B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14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Pokemon</a:t>
            </a:r>
          </a:p>
          <a:p xmlns:a="http://schemas.openxmlformats.org/drawingml/2006/main">
            <a:pPr algn="ctr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frames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F63420-7FE2-4E88-BD5E-3C845A0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196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SD-piXL</a:t>
            </a:r>
          </a:p>
          <a:p xmlns:a="http://schemas.openxmlformats.org/drawingml/2006/main">
            <a:pPr algn="ctr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2852D0-F1A4-44AE-88FB-091C8ED9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 do not claim perfectly equal baselines. The safe claim is narrower: accessible diffusion-style baselines did not beat PixelVAR under our normalized 32x32 RGBA protocol.</a:t>
            </a:r>
          </a:p>
        </p:txBody>
      </p:sp>
    </p:spTree>
    <p:extLst>
      <p:ext uri="{BB962C8B-B14F-4D97-AF65-F5344CB8AC3E}">
        <p14:creationId xmlns:p14="http://schemas.microsoft.com/office/powerpoint/2010/main" val="17603779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4FB3C-5136-495C-B4F2-BF4E0BDE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10584-D91D-46B2-9334-F3B0AC0C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FC711CEA-CFA7-447F-AB68-924CCE2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2D4C92E9-B12D-417B-8B4F-166D0FC2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 SAMPLE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750B2-A7CA-4C57-AC56-8B200C32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visuals explain why the metric table needs audit and task-fit caveats.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88B4E-CE55-4961-A4E0-B8F56A09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AA71A-336E-41ED-A528-E86BF672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Main: baseline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885C2-F35B-46B0-88B6-CBC428FC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15/17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A86CD-A7FE-4F8A-8DF3-525A536B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762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3886F-D3FF-42AB-9292-40D702D0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F8B3A-EFD6-47CA-92E5-960DB0E8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Internal baselines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B444B-6BEC-4175-A29F-B84177D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57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PixelVAR and HMAR both produce coherent sprites. Flat AR looks deceptively good but memorizes. Flat MaskGIT has poor coverage and repeated forms.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05B16-59A8-47DE-A3DF-6297B6BE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28750"/>
            <a:ext cx="7715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6619b17bb4d69"/>
          <a:stretch xmlns:a="http://schemas.openxmlformats.org/drawingml/2006/main"/>
        </p:blipFill>
        <p:spPr>
          <a:xfrm xmlns:a="http://schemas.openxmlformats.org/drawingml/2006/main">
            <a:off x="3970927" y="1466850"/>
            <a:ext cx="6898097" cy="1962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69CF6-544D-459C-86A7-2438F031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92a6e90594981"/>
          <a:stretch xmlns:a="http://schemas.openxmlformats.org/drawingml/2006/main"/>
        </p:blipFill>
        <p:spPr>
          <a:xfrm xmlns:a="http://schemas.openxmlformats.org/drawingml/2006/main">
            <a:off x="723900" y="4543985"/>
            <a:ext cx="3067050" cy="36082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BB723-84C1-4670-8834-F3B0839E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c5c34c0be4027"/>
          <a:stretch xmlns:a="http://schemas.openxmlformats.org/drawingml/2006/main"/>
        </p:blipFill>
        <p:spPr>
          <a:xfrm xmlns:a="http://schemas.openxmlformats.org/drawingml/2006/main">
            <a:off x="4552950" y="4543985"/>
            <a:ext cx="3067050" cy="360829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8365B-B081-4EDF-BF03-C9AA981E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4618975e8463a"/>
          <a:stretch xmlns:a="http://schemas.openxmlformats.org/drawingml/2006/main"/>
        </p:blipFill>
        <p:spPr>
          <a:xfrm xmlns:a="http://schemas.openxmlformats.org/drawingml/2006/main">
            <a:off x="8382000" y="4543985"/>
            <a:ext cx="3067050" cy="360829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79D9F-E8F2-46D5-92C0-0C473BAB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SD-piXL: tiled/noisy 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F09EB-1959-49E8-B40B-5439894D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SSD-1B: recognizable sometimes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FC165-8DB2-404E-9AF3-A6C0C8B3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Pokemon LoRA: best visual external 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64721-BADD-4DFC-8392-4CBBE6D0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Safe read: external rows are useful pressure tests, not perfectly equal architecture comparisons. PixelVAR still wins the normalized 32x32 protocol rows.</a:t>
            </a:r>
          </a:p>
        </p:txBody>
      </p:sp>
    </p:spTree>
    <p:extLst>
      <p:ext uri="{BB962C8B-B14F-4D97-AF65-F5344CB8AC3E}">
        <p14:creationId xmlns:p14="http://schemas.microsoft.com/office/powerpoint/2010/main" val="2275576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06E1B-9AAE-4419-87FC-B033F4F2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711FB-D27F-4D18-8AC9-A5563C84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7418073D-61DF-4B03-9A43-5AA3695F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337CD819-EA52-4A31-81CC-859E11E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SCALE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2C7DC-7FDC-4FFA-B61B-DCA9EE31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 170K generation pass shows the sampler remained stable at proposal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3B180-79AA-4C44-BC46-211AD6BE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9E87A-49BF-4F41-A6F7-1E586D6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0:30 - generation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5699E-A68D-4715-AF30-0E19D8E1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16/17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C5062-983C-4C19-8A5A-903B6DE7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F51A6-36BA-498D-A6ED-5BD8EBAD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30AC3-3046-450C-A1B6-841CE442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1FB6F-CCF2-44ED-82DB-EC5D67A4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generated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6608C-A8D2-400D-B342-6C4C2E7A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6C0E7-0406-48B8-A581-13E0E10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098B9-C918-46A4-9667-524CCEC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85BF2-2E27-4677-910E-5405AF40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automatic keep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36CEC-0B2A-4946-B398-34CC5757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94.99%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F7287-9B84-4263-B68B-E141B3A8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0DEBC-2DEB-4053-8682-91F75BED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D17B2-94EC-4995-8CB0-B0FB09C6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80FF7-4A13-458D-A077-94026806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review bucket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7DFFC-D125-4065-862D-DE529459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CE23F-FC37-42AF-9244-9EDDA08A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3DC19-9F3F-4F12-8DD1-36A8D697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B8DC6-7D4D-4B10-8969-53EBB17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F833D-9202-478D-AB2E-2D6FA505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reject bucket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26234-A11A-4122-8348-89938DF0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0.01%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0C7F0-E46D-417D-A45B-FF2C4F2C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bcd55c72345dd"/>
          <a:srcRect xmlns:a="http://schemas.openxmlformats.org/drawingml/2006/main" l="0" t="23077" r="0" b="2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3124200"/>
            <a:ext cx="2971800" cy="1600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85EB6-7D93-461F-8991-32EDD29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861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8769807824386"/>
          <a:srcRect xmlns:a="http://schemas.openxmlformats.org/drawingml/2006/main" l="0" t="23077" r="0" b="2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3124200"/>
            <a:ext cx="2971800" cy="16002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A0AF52-A4F8-4B7C-BE6B-187DE522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667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3b52f234d411b"/>
          <a:stretch xmlns:a="http://schemas.openxmlformats.org/drawingml/2006/main"/>
        </p:blipFill>
        <p:spPr>
          <a:xfrm xmlns:a="http://schemas.openxmlformats.org/drawingml/2006/main">
            <a:off x="8001000" y="3438525"/>
            <a:ext cx="2590800" cy="9715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3BA162-F75C-4DC7-BA36-2DDAF0C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not a human preference study. It only shows the sampler stayed stable at the proposal-scale generation volume and that the automatic gate found very few obvious rejects.</a:t>
            </a:r>
          </a:p>
        </p:txBody>
      </p:sp>
    </p:spTree>
    <p:extLst>
      <p:ext uri="{BB962C8B-B14F-4D97-AF65-F5344CB8AC3E}">
        <p14:creationId xmlns:p14="http://schemas.microsoft.com/office/powerpoint/2010/main" val="856900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288B9-FDBA-41B7-9C6C-F1C0D88A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7C0B0-8306-463B-81F1-727FA1C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07AD70C0-D7CC-4667-838B-B0755B4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25076049-20BE-453A-AB8E-1619184E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LIMITATIONS AND NEXT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F97E0-19D8-4C59-95B0-4D67B7B6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claim is intentionally narrow: strong 32x32 palette-token generation with audit-aware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1C2D1-EF59-4E5E-9A61-CDB700D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3EB71-ED85-4F4C-8716-D5AEE187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P1 0:55 - 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A45D6-C8B8-4FC3-8DFC-CB346C3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17/17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7A4FB-148F-4AF1-B98C-AF94BEBD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8E8C1-D614-4A46-8C21-1A975455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1D881-63FA-4CCB-B333-21E94435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Finished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6C73C-1F64-4BDC-BBFA-3BD633D7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VAR main model, HMAR refinement path, Flat AR/MaskGIT baselines, known metrics, memorization audit, external attempts, and 170K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D837E-A2E7-4898-9BF0-2CF225E0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813DF-89B4-4350-86E8-67F06829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CC704-B527-4194-8B8B-0543FCBF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finished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B47F8-3C2E-49BE-A759-E2A58A3B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User study, completed 8/32 palette metrics, completed 4-scale metrics, and 64x64 generation. These are not claimed as results.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6779B-D227-4C8F-AE27-F1EADB18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28317-0679-4437-B9BB-5381B8E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FF394-EB27-49E7-A93B-FD0AA1EB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Next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71AD8-001E-4825-B802-295AF932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Run remaining ablations, inspect metrics and sample sheets, collect user study, then revisit 64x64 once the 32x32 story is finished.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B2ABF-2D61-4710-85EB-2D21CC9F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287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7D2B6-0B2C-488C-AE03-198BAA19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Safe claim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51005-414E-4610-9891-BBC299D8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777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to say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C5A32-05B4-44A3-8C00-65C92320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211AB-48B5-436C-B8C7-F3FBD0B1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009F9-6FAA-4EAD-BE48-9BB69F8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149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strongest completed comparable proposal branch on our sprite-feature evaluator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ADC53-59E9-43F7-9AD6-172B68C6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6C938D-AE4E-4E1A-82FA-1C1B44A0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62450B-FD30-47C9-B0BC-AE37DFB8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 claim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6CFB3-2720-4FEA-AB7F-EBC01AA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 FID promotes Flat AR, but exact-match audit shows memorization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911585-F228-4288-A9BE-4FD0F858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B1FED3-32E4-42E1-BBD2-D1B6796B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claim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302B5D-AF3F-426E-95CE-18879813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150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accessible diffusion-style baselines did not beat PixelVAR under normalized 32x32 protocol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D9F935-EB4A-44C1-8198-77D9DF17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F93E52-77C3-445E-8C16-158E4383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02A508-9F74-42E1-A423-E727C3C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SOTA claim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08D431-F25A-419F-862B-A4F48DC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1505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do not claim broad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E20165-8591-4052-B49A-A0A67740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Use this as the close: strong 32x32 result, honest limits, and clear next proof.</a:t>
            </a:r>
          </a:p>
        </p:txBody>
      </p:sp>
    </p:spTree>
    <p:extLst>
      <p:ext uri="{BB962C8B-B14F-4D97-AF65-F5344CB8AC3E}">
        <p14:creationId xmlns:p14="http://schemas.microsoft.com/office/powerpoint/2010/main" val="1587286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2026-06-08T19:55:30.4800000Z</dcterms:created>
  <dcterms:modified xsi:type="dcterms:W3CDTF">2026-06-08T19:55:30.4800000Z</dcterms:modified>
</coreProperties>
</file>