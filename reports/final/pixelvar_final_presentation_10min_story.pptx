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c6f4571e7d4466" /><Relationship Type="http://schemas.openxmlformats.org/officeDocument/2006/relationships/extended-properties" Target="/docProps/app.xml" Id="Rce28eb493d584526" /><Relationship Type="http://schemas.openxmlformats.org/officeDocument/2006/relationships/officeDocument" Target="/ppt/presentation.xml" Id="R7e69c376bc0b4f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74798fed04fe4"/>
  </p:sldMasterIdLst>
  <p:notesMasterIdLst>
    <p:notesMasterId xmlns:r="http://schemas.openxmlformats.org/officeDocument/2006/relationships" r:id="Re11353cd26e645eb"/>
  </p:notesMasterIdLst>
  <p:sldIdLst>
    <p:sldId xmlns:r="http://schemas.openxmlformats.org/officeDocument/2006/relationships" id="256" r:id="R314b089e20364871"/>
    <p:sldId xmlns:r="http://schemas.openxmlformats.org/officeDocument/2006/relationships" id="257" r:id="Rcf1ed35486b344c6"/>
    <p:sldId xmlns:r="http://schemas.openxmlformats.org/officeDocument/2006/relationships" id="258" r:id="R5d44a0d15ab84679"/>
    <p:sldId xmlns:r="http://schemas.openxmlformats.org/officeDocument/2006/relationships" id="259" r:id="R2894a8918ac44073"/>
    <p:sldId xmlns:r="http://schemas.openxmlformats.org/officeDocument/2006/relationships" id="260" r:id="R8798edf5c774496f"/>
    <p:sldId xmlns:r="http://schemas.openxmlformats.org/officeDocument/2006/relationships" id="261" r:id="R80b781a2442a4b41"/>
    <p:sldId xmlns:r="http://schemas.openxmlformats.org/officeDocument/2006/relationships" id="262" r:id="R054381e2775c44b1"/>
    <p:sldId xmlns:r="http://schemas.openxmlformats.org/officeDocument/2006/relationships" id="263" r:id="R678b0925e4244d9c"/>
    <p:sldId xmlns:r="http://schemas.openxmlformats.org/officeDocument/2006/relationships" id="264" r:id="R0f2918c2ce254b47"/>
    <p:sldId xmlns:r="http://schemas.openxmlformats.org/officeDocument/2006/relationships" id="265" r:id="R5a6abd42ceb04998"/>
    <p:sldId xmlns:r="http://schemas.openxmlformats.org/officeDocument/2006/relationships" id="266" r:id="R73c183929cf84ddc"/>
    <p:sldId xmlns:r="http://schemas.openxmlformats.org/officeDocument/2006/relationships" id="267" r:id="Rc05a11b7f6a84d9e"/>
    <p:sldId xmlns:r="http://schemas.openxmlformats.org/officeDocument/2006/relationships" id="268" r:id="R7e0e8e3459ef4b3d"/>
    <p:sldId xmlns:r="http://schemas.openxmlformats.org/officeDocument/2006/relationships" id="269" r:id="R771fc5ceb8a84b04"/>
    <p:sldId xmlns:r="http://schemas.openxmlformats.org/officeDocument/2006/relationships" id="270" r:id="R45655a37c3644598"/>
    <p:sldId xmlns:r="http://schemas.openxmlformats.org/officeDocument/2006/relationships" id="271" r:id="R618313c42631434e"/>
    <p:sldId xmlns:r="http://schemas.openxmlformats.org/officeDocument/2006/relationships" id="272" r:id="R1032540bf1e54c0b"/>
    <p:sldId xmlns:r="http://schemas.openxmlformats.org/officeDocument/2006/relationships" id="273" r:id="R5f799b2b83d940fc"/>
    <p:sldId xmlns:r="http://schemas.openxmlformats.org/officeDocument/2006/relationships" id="274" r:id="R764107a2e7664aa0"/>
    <p:sldId xmlns:r="http://schemas.openxmlformats.org/officeDocument/2006/relationships" id="275" r:id="Rc9833677c7834af8"/>
    <p:sldId xmlns:r="http://schemas.openxmlformats.org/officeDocument/2006/relationships" id="276" r:id="R82c70f44e4ce4107"/>
    <p:sldId xmlns:r="http://schemas.openxmlformats.org/officeDocument/2006/relationships" id="277" r:id="R62f9833c1ecf4eb9"/>
    <p:sldId xmlns:r="http://schemas.openxmlformats.org/officeDocument/2006/relationships" id="278" r:id="R59c98cc253464197"/>
    <p:sldId xmlns:r="http://schemas.openxmlformats.org/officeDocument/2006/relationships" id="279" r:id="R1420c51c08c245e9"/>
    <p:sldId xmlns:r="http://schemas.openxmlformats.org/officeDocument/2006/relationships" id="280" r:id="Ra5d96e8af4444fe7"/>
    <p:sldId xmlns:r="http://schemas.openxmlformats.org/officeDocument/2006/relationships" id="281" r:id="R1a6e73d3117b409b"/>
    <p:sldId xmlns:r="http://schemas.openxmlformats.org/officeDocument/2006/relationships" id="282" r:id="Rd9a78405fc0947a6"/>
    <p:sldId xmlns:r="http://schemas.openxmlformats.org/officeDocument/2006/relationships" id="283" r:id="R666b37680f4e4d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8f35be64734785" /><Relationship Type="http://schemas.openxmlformats.org/officeDocument/2006/relationships/slideMaster" Target="/ppt/slideMasters/slideMaster1.xml" Id="R7d174798fed04fe4" /><Relationship Type="http://schemas.openxmlformats.org/officeDocument/2006/relationships/notesMaster" Target="/ppt/notesMasters/notesMaster1.xml" Id="Re11353cd26e645eb" /><Relationship Type="http://schemas.openxmlformats.org/officeDocument/2006/relationships/presProps" Target="/ppt/presProps.xml" Id="R0643686cf0624ccd" /><Relationship Type="http://schemas.openxmlformats.org/officeDocument/2006/relationships/viewProps" Target="/ppt/viewProps.xml" Id="R8a8a206d86eb4790" /><Relationship Type="http://schemas.openxmlformats.org/officeDocument/2006/relationships/tableStyles" Target="/ppt/tableStyles.xml" Id="R3c57cec9229642c9" /><Relationship Type="http://schemas.openxmlformats.org/officeDocument/2006/relationships/slide" Target="/ppt/slides/slide1.xml" Id="R314b089e20364871" /><Relationship Type="http://schemas.openxmlformats.org/officeDocument/2006/relationships/slide" Target="/ppt/slides/slide2.xml" Id="Rcf1ed35486b344c6" /><Relationship Type="http://schemas.openxmlformats.org/officeDocument/2006/relationships/slide" Target="/ppt/slides/slide3.xml" Id="R5d44a0d15ab84679" /><Relationship Type="http://schemas.openxmlformats.org/officeDocument/2006/relationships/slide" Target="/ppt/slides/slide4.xml" Id="R2894a8918ac44073" /><Relationship Type="http://schemas.openxmlformats.org/officeDocument/2006/relationships/slide" Target="/ppt/slides/slide5.xml" Id="R8798edf5c774496f" /><Relationship Type="http://schemas.openxmlformats.org/officeDocument/2006/relationships/slide" Target="/ppt/slides/slide6.xml" Id="R80b781a2442a4b41" /><Relationship Type="http://schemas.openxmlformats.org/officeDocument/2006/relationships/slide" Target="/ppt/slides/slide7.xml" Id="R054381e2775c44b1" /><Relationship Type="http://schemas.openxmlformats.org/officeDocument/2006/relationships/slide" Target="/ppt/slides/slide8.xml" Id="R678b0925e4244d9c" /><Relationship Type="http://schemas.openxmlformats.org/officeDocument/2006/relationships/slide" Target="/ppt/slides/slide9.xml" Id="R0f2918c2ce254b47" /><Relationship Type="http://schemas.openxmlformats.org/officeDocument/2006/relationships/slide" Target="/ppt/slides/slide10.xml" Id="R5a6abd42ceb04998" /><Relationship Type="http://schemas.openxmlformats.org/officeDocument/2006/relationships/slide" Target="/ppt/slides/slide11.xml" Id="R73c183929cf84ddc" /><Relationship Type="http://schemas.openxmlformats.org/officeDocument/2006/relationships/slide" Target="/ppt/slides/slide12.xml" Id="Rc05a11b7f6a84d9e" /><Relationship Type="http://schemas.openxmlformats.org/officeDocument/2006/relationships/slide" Target="/ppt/slides/slide13.xml" Id="R7e0e8e3459ef4b3d" /><Relationship Type="http://schemas.openxmlformats.org/officeDocument/2006/relationships/slide" Target="/ppt/slides/slide14.xml" Id="R771fc5ceb8a84b04" /><Relationship Type="http://schemas.openxmlformats.org/officeDocument/2006/relationships/slide" Target="/ppt/slides/slide15.xml" Id="R45655a37c3644598" /><Relationship Type="http://schemas.openxmlformats.org/officeDocument/2006/relationships/slide" Target="/ppt/slides/slide16.xml" Id="R618313c42631434e" /><Relationship Type="http://schemas.openxmlformats.org/officeDocument/2006/relationships/slide" Target="/ppt/slides/slide17.xml" Id="R1032540bf1e54c0b" /><Relationship Type="http://schemas.openxmlformats.org/officeDocument/2006/relationships/slide" Target="/ppt/slides/slide18.xml" Id="R5f799b2b83d940fc" /><Relationship Type="http://schemas.openxmlformats.org/officeDocument/2006/relationships/slide" Target="/ppt/slides/slide19.xml" Id="R764107a2e7664aa0" /><Relationship Type="http://schemas.openxmlformats.org/officeDocument/2006/relationships/slide" Target="/ppt/slides/slide20.xml" Id="Rc9833677c7834af8" /><Relationship Type="http://schemas.openxmlformats.org/officeDocument/2006/relationships/slide" Target="/ppt/slides/slide21.xml" Id="R82c70f44e4ce4107" /><Relationship Type="http://schemas.openxmlformats.org/officeDocument/2006/relationships/slide" Target="/ppt/slides/slide22.xml" Id="R62f9833c1ecf4eb9" /><Relationship Type="http://schemas.openxmlformats.org/officeDocument/2006/relationships/slide" Target="/ppt/slides/slide23.xml" Id="R59c98cc253464197" /><Relationship Type="http://schemas.openxmlformats.org/officeDocument/2006/relationships/slide" Target="/ppt/slides/slide24.xml" Id="R1420c51c08c245e9" /><Relationship Type="http://schemas.openxmlformats.org/officeDocument/2006/relationships/slide" Target="/ppt/slides/slide25.xml" Id="Ra5d96e8af4444fe7" /><Relationship Type="http://schemas.openxmlformats.org/officeDocument/2006/relationships/slide" Target="/ppt/slides/slide26.xml" Id="R1a6e73d3117b409b" /><Relationship Type="http://schemas.openxmlformats.org/officeDocument/2006/relationships/slide" Target="/ppt/slides/slide27.xml" Id="Rd9a78405fc0947a6" /><Relationship Type="http://schemas.openxmlformats.org/officeDocument/2006/relationships/slide" Target="/ppt/slides/slide28.xml" Id="R666b37680f4e4d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f8283359c242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342c958e574d75" /><Relationship Type="http://schemas.openxmlformats.org/officeDocument/2006/relationships/notesMaster" Target="/ppt/notesMasters/notesMaster1.xml" Id="R9fbc7927a02645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a2719510a348e5" /><Relationship Type="http://schemas.openxmlformats.org/officeDocument/2006/relationships/notesMaster" Target="/ppt/notesMasters/notesMaster1.xml" Id="R95f90c374fcb41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5a1f9d373945ce" /><Relationship Type="http://schemas.openxmlformats.org/officeDocument/2006/relationships/notesMaster" Target="/ppt/notesMasters/notesMaster1.xml" Id="R0bbfc76a0a5742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786da343984469" /><Relationship Type="http://schemas.openxmlformats.org/officeDocument/2006/relationships/notesMaster" Target="/ppt/notesMasters/notesMaster1.xml" Id="R55f934bd55514a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ddc1372b4e439f" /><Relationship Type="http://schemas.openxmlformats.org/officeDocument/2006/relationships/notesMaster" Target="/ppt/notesMasters/notesMaster1.xml" Id="R998e856790824a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cb903928444d3a" /><Relationship Type="http://schemas.openxmlformats.org/officeDocument/2006/relationships/notesMaster" Target="/ppt/notesMasters/notesMaster1.xml" Id="Ree89e8d3198940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cea61b6dc24a5c" /><Relationship Type="http://schemas.openxmlformats.org/officeDocument/2006/relationships/notesMaster" Target="/ppt/notesMasters/notesMaster1.xml" Id="R893a03c8eab84b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778d53eff4353" /><Relationship Type="http://schemas.openxmlformats.org/officeDocument/2006/relationships/notesMaster" Target="/ppt/notesMasters/notesMaster1.xml" Id="R87a61ea6405345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2a07cbd1924177" /><Relationship Type="http://schemas.openxmlformats.org/officeDocument/2006/relationships/notesMaster" Target="/ppt/notesMasters/notesMaster1.xml" Id="Recde5d08a0734c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a24f2f9c184848" /><Relationship Type="http://schemas.openxmlformats.org/officeDocument/2006/relationships/notesMaster" Target="/ppt/notesMasters/notesMaster1.xml" Id="R5621df9d21f94a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60c7ad973c4092" /><Relationship Type="http://schemas.openxmlformats.org/officeDocument/2006/relationships/notesMaster" Target="/ppt/notesMasters/notesMaster1.xml" Id="R91d03368174842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3764f303f543e6" /><Relationship Type="http://schemas.openxmlformats.org/officeDocument/2006/relationships/notesMaster" Target="/ppt/notesMasters/notesMaster1.xml" Id="Rfa01c1a76a3645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4263b3b6424fe7" /><Relationship Type="http://schemas.openxmlformats.org/officeDocument/2006/relationships/notesMaster" Target="/ppt/notesMasters/notesMaster1.xml" Id="Rcd16a6d8b29245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0d4b83418e40fd" /><Relationship Type="http://schemas.openxmlformats.org/officeDocument/2006/relationships/notesMaster" Target="/ppt/notesMasters/notesMaster1.xml" Id="R1b6c370e676f43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077aac4e9f43cb" /><Relationship Type="http://schemas.openxmlformats.org/officeDocument/2006/relationships/notesMaster" Target="/ppt/notesMasters/notesMaster1.xml" Id="R4af24fb8f7df4d1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b3fdea55114d9b" /><Relationship Type="http://schemas.openxmlformats.org/officeDocument/2006/relationships/notesMaster" Target="/ppt/notesMasters/notesMaster1.xml" Id="Ref93d59adc3345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b56f16c6a9428e" /><Relationship Type="http://schemas.openxmlformats.org/officeDocument/2006/relationships/notesMaster" Target="/ppt/notesMasters/notesMaster1.xml" Id="Rf91a697871b14e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e42fe72da04621" /><Relationship Type="http://schemas.openxmlformats.org/officeDocument/2006/relationships/notesMaster" Target="/ppt/notesMasters/notesMaster1.xml" Id="R38d6d34c314a40f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7df5f7a5a69443f" /><Relationship Type="http://schemas.openxmlformats.org/officeDocument/2006/relationships/notesMaster" Target="/ppt/notesMasters/notesMaster1.xml" Id="R8af50925587143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e00b814e23441a" /><Relationship Type="http://schemas.openxmlformats.org/officeDocument/2006/relationships/notesMaster" Target="/ppt/notesMasters/notesMaster1.xml" Id="R8a6b72d469f942a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eac0e722a2549f4" /><Relationship Type="http://schemas.openxmlformats.org/officeDocument/2006/relationships/notesMaster" Target="/ppt/notesMasters/notesMaster1.xml" Id="Rb3227cf446564db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bd4657b21e455f" /><Relationship Type="http://schemas.openxmlformats.org/officeDocument/2006/relationships/notesMaster" Target="/ppt/notesMasters/notesMaster1.xml" Id="Rca3224ba48494e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88ce7de885f4a8d" /><Relationship Type="http://schemas.openxmlformats.org/officeDocument/2006/relationships/notesMaster" Target="/ppt/notesMasters/notesMaster1.xml" Id="R1b731e67a63c4b7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d951cb7a4e3442d" /><Relationship Type="http://schemas.openxmlformats.org/officeDocument/2006/relationships/notesMaster" Target="/ppt/notesMasters/notesMaster1.xml" Id="Reb2bb8e672bb43e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caf7ea3640f461f" /><Relationship Type="http://schemas.openxmlformats.org/officeDocument/2006/relationships/notesMaster" Target="/ppt/notesMasters/notesMaster1.xml" Id="R6feb56693af04c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0d47f1247e4155" /><Relationship Type="http://schemas.openxmlformats.org/officeDocument/2006/relationships/notesMaster" Target="/ppt/notesMasters/notesMaster1.xml" Id="Ra51188a71af64de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6ee81f4bdb04e2b" /><Relationship Type="http://schemas.openxmlformats.org/officeDocument/2006/relationships/notesMaster" Target="/ppt/notesMasters/notesMaster1.xml" Id="Rccd800c33934465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de1a9cdb5244ab" /><Relationship Type="http://schemas.openxmlformats.org/officeDocument/2006/relationships/notesMaster" Target="/ppt/notesMasters/notesMaster1.xml" Id="R371534dd0e2d44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a33649d8249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10a2fab7204c20" /><Relationship Type="http://schemas.openxmlformats.org/officeDocument/2006/relationships/slideLayout" Target="/ppt/slideLayouts/slideLayout1.xml" Id="Rb37d4d19bb3f4c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7d4d19bb3f4c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9960e9f9744b1" /><Relationship Type="http://schemas.openxmlformats.org/officeDocument/2006/relationships/image" Target="/ppt/media/image.png" Id="R28ace29f96e84136" /><Relationship Type="http://schemas.openxmlformats.org/officeDocument/2006/relationships/notesSlide" Target="/ppt/notesSlides/notesSlide1.xml" Id="Ra8e965e5188c4c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db7692df94d1c" /><Relationship Type="http://schemas.openxmlformats.org/officeDocument/2006/relationships/image" Target="/ppt/media/image2.png" Id="Rb657d5c904684b71" /><Relationship Type="http://schemas.openxmlformats.org/officeDocument/2006/relationships/notesSlide" Target="/ppt/notesSlides/notesSlide2.xml" Id="Rf5712f76f9af44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a19efc0694ed1" /><Relationship Type="http://schemas.openxmlformats.org/officeDocument/2006/relationships/notesSlide" Target="/ppt/notesSlides/notesSlide3.xml" Id="R905f0726fec443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1e78d55834652" /><Relationship Type="http://schemas.openxmlformats.org/officeDocument/2006/relationships/notesSlide" Target="/ppt/notesSlides/notesSlide4.xml" Id="R0a9b37ce27e7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3e5f808ff439c" /><Relationship Type="http://schemas.openxmlformats.org/officeDocument/2006/relationships/notesSlide" Target="/ppt/notesSlides/notesSlide5.xml" Id="R6c7c99cba7eb45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5e49d495245a0" /><Relationship Type="http://schemas.openxmlformats.org/officeDocument/2006/relationships/notesSlide" Target="/ppt/notesSlides/notesSlide6.xml" Id="R2b778decd6254e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39d586f8c4107" /><Relationship Type="http://schemas.openxmlformats.org/officeDocument/2006/relationships/image" Target="/ppt/media/image3.png" Id="R2bb81d66928c48c6" /><Relationship Type="http://schemas.openxmlformats.org/officeDocument/2006/relationships/image" Target="/ppt/media/image4.png" Id="Rd21f28ef612444e4" /><Relationship Type="http://schemas.openxmlformats.org/officeDocument/2006/relationships/notesSlide" Target="/ppt/notesSlides/notesSlide7.xml" Id="Rbb64383765bb46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dbeb99d5f4365" /><Relationship Type="http://schemas.openxmlformats.org/officeDocument/2006/relationships/image" Target="/ppt/media/image5.png" Id="R4f99bd0f16e84917" /><Relationship Type="http://schemas.openxmlformats.org/officeDocument/2006/relationships/notesSlide" Target="/ppt/notesSlides/notesSlide8.xml" Id="R2f326b02b2ad40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e9e5302104ba5" /><Relationship Type="http://schemas.openxmlformats.org/officeDocument/2006/relationships/image" Target="/ppt/media/image6.png" Id="R04e29b06d1f44a2a" /><Relationship Type="http://schemas.openxmlformats.org/officeDocument/2006/relationships/image" Target="/ppt/media/image7.png" Id="R9b23d87ee3a04256" /><Relationship Type="http://schemas.openxmlformats.org/officeDocument/2006/relationships/notesSlide" Target="/ppt/notesSlides/notesSlide9.xml" Id="Rcb8c8c035fd545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70e3f826f4565" /><Relationship Type="http://schemas.openxmlformats.org/officeDocument/2006/relationships/image" Target="/ppt/media/image8.png" Id="Rb3fa806df81346ee" /><Relationship Type="http://schemas.openxmlformats.org/officeDocument/2006/relationships/image" Target="/ppt/media/image9.png" Id="Rd5ba4939c0e94ce5" /><Relationship Type="http://schemas.openxmlformats.org/officeDocument/2006/relationships/image" Target="/ppt/media/image10.png" Id="R633b48422e79489c" /><Relationship Type="http://schemas.openxmlformats.org/officeDocument/2006/relationships/notesSlide" Target="/ppt/notesSlides/notesSlide10.xml" Id="R1809e60f45a247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2b61f38324904" /><Relationship Type="http://schemas.openxmlformats.org/officeDocument/2006/relationships/image" Target="/ppt/media/image11.png" Id="R9f5660b0d7e0480c" /><Relationship Type="http://schemas.openxmlformats.org/officeDocument/2006/relationships/image" Target="/ppt/media/image12.png" Id="R9026b23caf3e4de1" /><Relationship Type="http://schemas.openxmlformats.org/officeDocument/2006/relationships/image" Target="/ppt/media/image13.png" Id="R2d91a677bd0f4f35" /><Relationship Type="http://schemas.openxmlformats.org/officeDocument/2006/relationships/notesSlide" Target="/ppt/notesSlides/notesSlide11.xml" Id="R981d81a32e4f47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2ecb7dc9143b5" /><Relationship Type="http://schemas.openxmlformats.org/officeDocument/2006/relationships/notesSlide" Target="/ppt/notesSlides/notesSlide12.xml" Id="R859dee7b384142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c7019a4074e15" /><Relationship Type="http://schemas.openxmlformats.org/officeDocument/2006/relationships/notesSlide" Target="/ppt/notesSlides/notesSlide13.xml" Id="R2a04239538814f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e861bfe2e4f4d" /><Relationship Type="http://schemas.openxmlformats.org/officeDocument/2006/relationships/notesSlide" Target="/ppt/notesSlides/notesSlide14.xml" Id="R87287693ee2840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0aadd72d64685" /><Relationship Type="http://schemas.openxmlformats.org/officeDocument/2006/relationships/notesSlide" Target="/ppt/notesSlides/notesSlide15.xml" Id="R47bd21a16e404e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648aaa6ab45b0" /><Relationship Type="http://schemas.openxmlformats.org/officeDocument/2006/relationships/notesSlide" Target="/ppt/notesSlides/notesSlide16.xml" Id="Rabb619de7a924d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056bffab7471c" /><Relationship Type="http://schemas.openxmlformats.org/officeDocument/2006/relationships/notesSlide" Target="/ppt/notesSlides/notesSlide17.xml" Id="R5a81ccadebbb4c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137bcaea546d3" /><Relationship Type="http://schemas.openxmlformats.org/officeDocument/2006/relationships/notesSlide" Target="/ppt/notesSlides/notesSlide18.xml" Id="R3b3e8d00039f47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e51e7b26542bb" /><Relationship Type="http://schemas.openxmlformats.org/officeDocument/2006/relationships/image" Target="/ppt/media/image14.png" Id="R1f80fae3097945c0" /><Relationship Type="http://schemas.openxmlformats.org/officeDocument/2006/relationships/notesSlide" Target="/ppt/notesSlides/notesSlide19.xml" Id="Rb3c6c025b79542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710c74ee14ed8" /><Relationship Type="http://schemas.openxmlformats.org/officeDocument/2006/relationships/image" Target="/ppt/media/image15.png" Id="R36901e56986d47ce" /><Relationship Type="http://schemas.openxmlformats.org/officeDocument/2006/relationships/notesSlide" Target="/ppt/notesSlides/notesSlide20.xml" Id="R9f1aefc5bf3e458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beaa903374b65" /><Relationship Type="http://schemas.openxmlformats.org/officeDocument/2006/relationships/image" Target="/ppt/media/image16.png" Id="R58b7cc9d31264594" /><Relationship Type="http://schemas.openxmlformats.org/officeDocument/2006/relationships/image" Target="/ppt/media/image17.png" Id="Rab6b07573360423a" /><Relationship Type="http://schemas.openxmlformats.org/officeDocument/2006/relationships/notesSlide" Target="/ppt/notesSlides/notesSlide21.xml" Id="R1afaf336b75b4b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b01fe2a9640ce" /><Relationship Type="http://schemas.openxmlformats.org/officeDocument/2006/relationships/notesSlide" Target="/ppt/notesSlides/notesSlide22.xml" Id="R80279cd44a9d44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d95d10acb40c0" /><Relationship Type="http://schemas.openxmlformats.org/officeDocument/2006/relationships/notesSlide" Target="/ppt/notesSlides/notesSlide23.xml" Id="R3b126330abe046b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b073bd29c4abd" /><Relationship Type="http://schemas.openxmlformats.org/officeDocument/2006/relationships/image" Target="/ppt/media/image18.png" Id="R63e8bf7d30e94825" /><Relationship Type="http://schemas.openxmlformats.org/officeDocument/2006/relationships/notesSlide" Target="/ppt/notesSlides/notesSlide24.xml" Id="R627f71a172ef482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e4e842b88418b" /><Relationship Type="http://schemas.openxmlformats.org/officeDocument/2006/relationships/notesSlide" Target="/ppt/notesSlides/notesSlide25.xml" Id="Reac7aac106484b9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e684f9b4d44ba" /><Relationship Type="http://schemas.openxmlformats.org/officeDocument/2006/relationships/notesSlide" Target="/ppt/notesSlides/notesSlide26.xml" Id="R8ae1cdffa5ec48b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451e4f0724218" /><Relationship Type="http://schemas.openxmlformats.org/officeDocument/2006/relationships/notesSlide" Target="/ppt/notesSlides/notesSlide27.xml" Id="R1f470f9015884d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9efb1cb4d4c67" /><Relationship Type="http://schemas.openxmlformats.org/officeDocument/2006/relationships/notesSlide" Target="/ppt/notesSlides/notesSlide28.xml" Id="Rd77600f8726e4a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43DB4-5148-4BA1-ABA8-7055D047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D74B0-3410-42A3-9A8F-844B2422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E93AB-209F-4D30-9A02-CA90B112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CC60F-AC73-4D34-BC64-F662405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Coarse-to-fine pixel-art sprite generation via palette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9C73F-25AD-4C46-AA7C-1BD19510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Rubric-aligned final presentation | COMP547 Deep Unsupervised Learning |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FFAE7-5EAF-4375-930A-7D0DAA23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3619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ce29f96e84136"/>
          <a:stretch xmlns:a="http://schemas.openxmlformats.org/drawingml/2006/main"/>
        </p:blipFill>
        <p:spPr>
          <a:xfrm xmlns:a="http://schemas.openxmlformats.org/drawingml/2006/main">
            <a:off x="7467600" y="980405"/>
            <a:ext cx="3543300" cy="394468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D11E9-9EED-40F9-8982-3733BBC8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381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BCBC9-6596-4764-990C-D5FA1916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7E8A0-A173-42C1-B009-A257FA8E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076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F6823-B8CA-41F1-BAE5-CF808876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76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E9666-3496-4046-B664-F7669BD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CACDC-AFD1-4188-BAC2-5AE131D0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FCA7A-43B9-456A-B1F7-F7712901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16+alpha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19F76-2D79-4F59-A24F-CD53E61E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palette-token vocab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47CB4-9B0A-4DEE-96F7-F51A93C0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74265-5791-4FDB-ABBF-87B173BC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C2CA9-528E-43E0-8B64-302BCB60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005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D0940-53FB-46BE-AB22-415E25E9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3390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best sprite-feature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93C10-7D7E-469A-A528-A3EA7421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Thesis: generate transparent pixel-art sprites directly in discrete palette-index space, then evaluate honestly with baselines, ablations, and memorization audit.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F8DED3-90F1-401A-83A2-EDAC7DFC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2F224-99CD-44A6-8CF1-DA978B91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8C2F1-83BF-48D3-A66E-82FE9447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1/12 main</a:t>
            </a:r>
          </a:p>
        </p:txBody>
      </p:sp>
    </p:spTree>
    <p:extLst>
      <p:ext uri="{BB962C8B-B14F-4D97-AF65-F5344CB8AC3E}">
        <p14:creationId xmlns:p14="http://schemas.microsoft.com/office/powerpoint/2010/main" val="16891004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16603-269A-4856-B5F0-3BBDE91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EC932-9140-45CC-B6F6-7129DF9B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96F8858B-E187-4988-8A49-46A4ACF7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EECFBEB2-7425-48AF-B036-A7B7DA6E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PROBLEM + 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B0788-8BEF-43DE-8BAF-CEDC8315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 art is not just low-resolution RGB.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1FA1A-A422-4440-9DFE-D5BBC9C4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BFCE1-3866-4556-9958-25237C72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problem statement and motivation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0376E-18FB-4D14-ACE7-112D8658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2/12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E52FC-5FF4-4EE6-95A4-9DB608D3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76DED-DEF9-4590-AC48-E2ED7725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4326C-4012-4C0B-8E39-3EA3179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932A9-1C5F-4539-84C7-F2BC0310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Game sprites are labor-intensive assets. A usable generator should produce compact transparent characters, not just pretty pixel-ish pictures.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B5556-B530-4E4E-AC8F-DBF0FAF4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194C2-6BBC-49AB-AA54-B6E41C3B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F18B8-BEA4-4666-86CC-2DF57B54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is hard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D4568-29F7-4123-9DEF-6EE5ECE6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Every pixel is visible. Small palette changes, anti-aliasing, noisy backgrounds, or broken silhouettes can make an output unusable.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87123-2092-477B-82B1-1BBD56B3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4138C-0F86-4694-A3B9-59E97478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30E0F-225F-4693-B300-AFEFF5DD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Our framing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41BF6-EB34-494F-B67B-28B7038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Instead of generating continuous RGB and quantizing later, PixelVAR learns to generate palette-index tokens directly.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7F767-29A9-4C43-BCA0-8A29612E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7d5c904684b71"/>
          <a:srcRect xmlns:a="http://schemas.openxmlformats.org/drawingml/2006/main" l="0" t="18639" r="0" b="18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4038600"/>
            <a:ext cx="2209800" cy="15430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1FA5E-CD15-4B56-BEED-7A4D0915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B008E-B3C9-46F3-AE08-5811313F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 is part of the object, not cleanup.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26B18A-4BEB-4F50-BC38-D05E2A01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BEE3D-EB32-4764-8423-C942F0A7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 should be native to generation, not a post-hoc repair.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055A46-C7A6-4B19-BE7A-3795134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33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FEBEF-9061-4F95-9882-3F5FC1F8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 single misplaced pixel can break outlines or pose readability.</a:t>
            </a:r>
          </a:p>
        </p:txBody>
      </p:sp>
    </p:spTree>
    <p:extLst>
      <p:ext uri="{BB962C8B-B14F-4D97-AF65-F5344CB8AC3E}">
        <p14:creationId xmlns:p14="http://schemas.microsoft.com/office/powerpoint/2010/main" val="17666545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447D2-0ED9-425B-BF3D-E426EC2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4B20A-3B0A-49EC-905C-97E78358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D2B5E572-9501-4D6F-BEF3-C76FE7B3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CCC89517-2E6A-48C5-B29A-335009FC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7F530-397F-4A11-88BD-32591149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sits between pixel-art-specific generators and hierarchical image-token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DAB13-B9BC-462F-BEC9-716CF18B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55C95-34DB-4D4D-80EF-281C8BBE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related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4617D-9C71-4F15-A816-08B242C1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3/12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30C10-7051-4360-B657-1CEEB19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9906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A4BE5-B07C-4FBC-A45B-9C59CEF4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87FA3-9C4C-4C90-AB88-32CA104A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526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5B5DD-D8EE-4BC6-A8AF-822ACDAE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it is not enough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56210-7FA9-4458-86F3-571EF2D7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D67CC-9307-4875-9239-87ED3508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Pixel-art GANs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7D056-0B85-48E9-8307-14E0E097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Coutinho / MDIGAN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A4605-997B-4466-90FA-6C21FF33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or pose-based; not the same unconditional generation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E521B-5761-43FA-899E-947B99C7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A88457-BC12-4670-8994-4277534F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71E6A-C16B-4F91-8A98-30E9FC89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Diffusion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65F1C-13D8-4E0B-9A86-CE608D04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PixDiff-PIG, LoRAs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E87F4-1E9E-45B9-A342-865A05FD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continuous, prompt-first, or image-first; needs repair/normalization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1795E-B766-439C-853F-44580C2B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3ED0D-2378-49E4-BDEC-857AB743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Discrete tokenizers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D586D-22E6-43EF-BDC3-13E3DCB0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3855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 VQ-VAE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EF377A-5E3C-4A92-95D5-998831DA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useful representation direction, but not a complete generator by itself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4988E7-9CC5-4C65-8306-5EC2EAD4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C69BD-6A8B-4B6E-BD53-F701BBB1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6A0DFE-B668-473C-8E54-9E191304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Hierarchical 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FE68-E826-4679-AA83-96C99C05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196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/ HMAR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B6957C-33E9-4788-AC1E-205F0176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 coarse-to-fine idea, but not aimed at tiny transparent palette sprites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F9B577-FF29-42A8-8738-62768628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AC7D5"/>
                </a:solidFill>
                <a:latin typeface="Aptos"/>
                <a:ea typeface="Aptos"/>
                <a:cs typeface="Aptos"/>
              </a:rPr>
              <a:t>Our niche: next-scale prediction for tiny transparent palette-constrained sprites.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E550C1-4850-4094-92C7-C1F04E0B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Flat AR and MaskGIT still matter, but they belong in the baseline/evaluation section, not the opening literature table.</a:t>
            </a:r>
          </a:p>
        </p:txBody>
      </p:sp>
    </p:spTree>
    <p:extLst>
      <p:ext uri="{BB962C8B-B14F-4D97-AF65-F5344CB8AC3E}">
        <p14:creationId xmlns:p14="http://schemas.microsoft.com/office/powerpoint/2010/main" val="621048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DDA20-7D5E-4BF4-AF72-08B82BFC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0809F-470E-4B83-A846-614AE621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8D26E661-3F16-47FF-AD88-EF23F38B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72394120-5849-4AF0-8ADF-32B0C32B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CONTRACT AND FINAL PIVOT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00F83-AC50-4E27-A1EA-3B0B2F80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What we promised, what changed, what we completed.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9106E-EAFE-412B-AAB2-221CA7C0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764ED-30FC-456E-B29F-8EEC2C4F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P1 0:45 - proposal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19BDA-C6A5-4C3B-9F9C-D70885B6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4/12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912B2-FB41-4F01-A630-D72333E3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6477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C213F-87C6-4D10-843F-CAE8D351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486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0EF3C-84C1-42EE-A6F4-F56EC2BB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76400"/>
            <a:ext cx="105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8E2C8-DA93-4F79-B766-15DAE5EE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 / 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17F3E-AB62-4119-A235-1EC9CEEA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B469C-8E2C-4231-9DF2-29881EC9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 sprite dataset + preprocessing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FF9F1-7557-412B-9CD9-093855F4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002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C8794-D112-4EAB-94F6-12CF6B18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replacement, grouped splits, Pokemon/OpenGameArt support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7A463-6B1B-474C-AABD-5A689475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449D6-8E35-4BBE-B361-A6D371D8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6F886-D6F0-43B9-9791-67A2085A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F6931-35AD-43A7-8484-1D885A9E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717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2036C-31D5-47B4-819C-96DF426B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checkpoint: var_sprites_v0_full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01A4D-DD4A-4793-93BB-8E0571DB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17056-4370-489B-81E0-94CED521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160E8-006C-4DBB-8BE4-A0BE0327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432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D2A8E-C1F2-404E-ABB0-B4DF5EB0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1/2/4/8 refinement-step ablation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248E7A-48EE-4037-A1A9-396D727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B30297-B488-4DF6-943B-BE6755BA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DB2596-54CC-415B-9F0F-A04B44D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 + known metrics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FEAC18-2A27-4A96-9FB5-9E74C169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147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96E389-0EF6-4C57-BD85-5E8C59A1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AR, MaskGIT, metrics, audit, external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34519-0FF1-4F94-9742-11A0B252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2AAFD4-4F3E-4A3F-ABA7-23257651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/ 64x64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B8EA26-4A66-41A2-AB95-E9067D60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862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5300C6-BA4B-461C-BCE1-1A3ACBF8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claimed; disclosed as next 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E8006D-90DB-4BD2-A2F5-38403D95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714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8F740A-440D-4655-AA85-81D87735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83787C-593C-46DB-AE7F-E1618119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2880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 pivot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A48468-0C1D-4CEF-846F-2EE65147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09800"/>
            <a:ext cx="3409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Proposed neural multi-scale VQ-VAE -&gt; implemented/tried, but reconstructions were too soft or ghosted for pixel art. Main result uses deterministic palette-token pyramids because crisp exact pixels are the domain requirement.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AA8C2-79ED-4A65-9759-390C0030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3714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B8D7EA-7647-4083-A1FD-0B3680A0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C7066F-0FAF-4BD0-8832-6A5A3840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6720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Code state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5825FC-8B87-476E-BBDC-87F52BFE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48200"/>
            <a:ext cx="3409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Present codex/pixelvar-external-baselines as the final working branch. Do not describe main as the final code state; main is older than the completed reports, Modal actions, evaluation artifacts, scripts, and tests.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611616-EC94-43B4-A3D8-BD468292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slide prevents the wrong interpretation: the VQ-VAE path was not hidden; it was tested, judged too soft for the domain, and kept as a learned-token ablation rather than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12290882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C3DA8C-0DF5-4F9F-BF4C-CC792D2F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0F8EA-895E-4FD0-BAC7-4296FDD2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D3637353-D999-4BE0-9F73-628627BD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D77C02E-0C47-44D5-A6F3-50EC7AE2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2DBCD-DA65-4563-8B9E-DB35BA3A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generates a six-scale palette-token pyramid from coarse silhouette to final sprite.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8218F-BBDE-4966-B0DB-954F2826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93E84-7966-4776-BB16-9385722D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P2 1:05 - methodology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D2353-96AE-4E14-99A3-CADA81F2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5/12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1AC23-E32C-4C12-8CCE-B59B4062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A2CC5-5C11-47EF-BD6B-CA2E6513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B976F-1BD3-4346-A97B-2D7C1A2A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2135B-4017-42AA-AE52-61F94924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859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D37A2-F8BD-419E-B171-3B46FF1F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01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4659F-4168-4F57-90C3-E4370889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082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6EE5B-28AD-4C37-BD08-C6E56BDE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08200"/>
            <a:ext cx="989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A851C-7B6B-4CE4-BB48-AE7CF220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605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D0D42-DAB9-4430-8B40-3F05F9A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47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379EC-C67E-4961-8BC3-514C13EB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28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37731-9684-4ED4-AB24-FD89B5E2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2850"/>
            <a:ext cx="395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972F3-4242-44DC-B351-C4EBFEB5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352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DFF3C9-5148-48D3-A527-7E3B0BEE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78A49-6640-42EF-AE1E-81E9AEB4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3904D-0ED0-4623-9D3C-3F1A5E0D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1583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DE923-060A-4A43-974F-A66D15F8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098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EE040-DE7F-4741-9F07-BCA1F94E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4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71280-35FA-40E1-AA05-CC5AE183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21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6811B4-D7A4-4050-BA5A-7A7AF39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2150"/>
            <a:ext cx="6334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67CA51-8FC1-4BE4-A97C-8A22D6B0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845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4FE9A-02ED-4E41-9431-88A1CDD9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87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170547-5A4C-4843-94AA-A794FA0C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68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3BA2B-73D0-42D4-8363-57B552C4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68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41765F-EFF2-4C78-AEE9-5D8C7C5F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591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EAC1CC-824B-4097-8B0A-E92E2734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38300"/>
            <a:ext cx="5905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99DA00-9A85-4987-AD80-A32396A4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E1E9B3-3530-430C-BE89-71161E09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Generation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5FCD58-F593-45B8-A34C-303B8A98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21463E-C716-4BC1-95DF-EB5D3BC9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621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740216-4B74-41EC-A8A9-04EAB5D4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1CC983-4A0A-4867-93B8-284B61E7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predict each next scale conditioned on coarser scales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3BEF99-B4D6-467A-A482-DB564D3D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783B42-78D6-4FD6-8F95-B466B171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10CED8-BB64-4BCD-8E20-0BECE530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549BE3-61AA-4D22-BCBA-A246768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69860C-A98F-4E91-B4FD-2F015AA4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mask/refine tokens within each scale for T steps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1B6F95-8886-4AC2-BFE4-AE53F301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Option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FC73CA-B7B5-4D11-B458-01B1D3F4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3BCCDE-F605-4147-ABBE-F5FCBC68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95B0E9-8569-417E-962D-69B39F0A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raster-scan final 32x32 grid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99322A-D48F-4582-8577-5D4920A8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simple baseline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14A832-D80C-4F15-844B-A9018D4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0304BD-5F3F-4529-8248-2E66CC6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1A70B4-9158-4BB3-BA14-0A2A31F9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9570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F475DD-9AD8-49AC-B504-FF9BCF18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final-grid parallel decoding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357821-97BD-4E93-B3A9-3AE1D0EF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baseline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EE0898-D586-438D-B7B9-07900A6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33AF12-6C23-4942-82F5-F3B4CB97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 contract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9A599F-696D-4674-82C0-F30A48A8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9580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228EF3A-C2AA-4473-B01F-30D5DB32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1BB051-DF8E-4654-8F07-FEC4CB7C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4FB263-7B4B-4850-A841-2F5E36F3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196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1A4668-8B58-4B77-93FE-B1C172E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AB112F-F8F7-4FB7-B5C7-EC6E1F18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501765-EAF1-4C67-94C7-6E2C2767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1..16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FA99F6-4C75-4487-832D-5E63F00E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387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fixed palette colors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58C24B-5C23-4492-B708-3783566E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C28BEE-B633-460B-889B-9401B509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6648F0-D3A9-4A3F-8EDF-55D08494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578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missing token, separate from transparency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4C2F90-7128-40D8-B7DF-C28FBF0A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23A699D-67F6-44ED-90FE-E3EA3073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AE72FCE-77B5-425E-BF08-ECCE501B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60B9BF-3718-43B3-9F72-5E9E45CD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769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tokens across 1x1..32x32 scales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5C0ED14-0B36-4998-9EBD-9D9E8691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4476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D981612-9773-4339-8ED9-89D03DCC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447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18EF2B8-1EEA-471C-B494-450B315A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33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B665795-313B-4577-84A1-F99E65BA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The model never has to repair palette membership or alpha afterward. The representation makes transparency and color membership native parts of generation.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AC681D7-E08C-4A91-8041-476DE92D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340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4B363"/>
                </a:solidFill>
                <a:latin typeface="Aptos"/>
                <a:ea typeface="Aptos"/>
                <a:cs typeface="Aptos"/>
              </a:rPr>
              <a:t>This is the core 30-point methodology slide: representation, hierarchy, and baseline paths in one place.</a:t>
            </a:r>
          </a:p>
        </p:txBody>
      </p:sp>
    </p:spTree>
    <p:extLst>
      <p:ext uri="{BB962C8B-B14F-4D97-AF65-F5344CB8AC3E}">
        <p14:creationId xmlns:p14="http://schemas.microsoft.com/office/powerpoint/2010/main" val="11229146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43E7E-70A5-4178-98A4-96267F48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52140-8128-4F91-B0D2-CB3FE18A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235C4D1A-AF71-427A-BDD6-0438174D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112FA8D-F7BC-45B6-937E-7628F625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DA539-B06A-4EE5-BA42-D199B388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Evaluation uses a fixed 32x32 sprite protocol, grouped splits, and three layers of metrics.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6B512-F6C7-4B1F-BF39-FC46558D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F33AD-8A75-4C41-811C-86DD284C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P2 0:45 -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DA47A-E260-4BEA-B537-EEAEDD38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6/12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F01F0-6E52-4877-B8C3-D62E26FA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50C61-B801-4355-92EB-AD1DB9A3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4DD31-A7F0-4406-A0D6-8861630B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93,312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52A1-001F-47FB-A231-46D196C4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 sprites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18B7F-DC97-4D30-A08C-F5767F28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8C112-3EA7-47F7-818D-66885800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96541-CBD6-4BB8-854B-4F46C352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54410-7E09-4B10-9922-5380C0F5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7EB51-8231-4BCC-A1E7-FFCD20A4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C1DA99-4041-486C-A5E8-CE9FFEA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24A06-4E62-4039-A71D-2FAA1E3E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53893-C3BA-4E50-B431-29A65990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CE833-EEA0-4313-8C35-E3E02209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5D973-7BF2-416F-9D2F-50CBDF2E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6F383-1949-43A0-A62B-4119FA5F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F8BDA-55E5-416D-808C-7923947C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9D845-7F15-4A2A-AE51-283D8384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BFAE2-91E8-4614-86BE-5F1F818C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E9737-8C44-4FF2-B8AD-DE520016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protocol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15BE20-AEB6-4B89-8728-355E0C88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All main outputs are 32x32 transparent RGBA sprites decoded from palette-token maps. Splits are grouped by character attributes to reduce leakage.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76E1CA-B192-4C34-AA95-F52EEB35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C36F32-EE12-45ED-B388-E903521A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0501C1-276E-45A0-A1DC-D0DA751D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3B9F1B-2E0A-4BDE-AFD1-23B645D5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Three layers: sprite-specific feature score, standard image metrics, and exact-match audit. Acronyms stay in backup unless asked.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6012BF-7683-4BE5-AAB3-9CF31A97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578C88-548F-457C-9CDF-3FDA85FF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054007-1488-45EC-B75E-2D3AAC02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3E89AA-3701-4E63-9428-F86B9FE8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Internal: HMAR, Flat AR, Flat MaskGIT, generated/mixed, Patch-VQ. External: SD-piXL, SSD-1B, Pokemon sprite LoRA.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F6FB6F-3934-4AC9-86BB-5AF7FEC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audit is not an appendix-only detail; for tiny sprites it is part of whether a quantitative conclusion is trustworthy.</a:t>
            </a:r>
          </a:p>
        </p:txBody>
      </p:sp>
    </p:spTree>
    <p:extLst>
      <p:ext uri="{BB962C8B-B14F-4D97-AF65-F5344CB8AC3E}">
        <p14:creationId xmlns:p14="http://schemas.microsoft.com/office/powerpoint/2010/main" val="19147734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C8D3C-6B9E-4A4B-942E-1923F9C1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586F6-9A14-4BF7-B49C-F8E6FC75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6DAF6DAA-CD7B-4B5D-B23E-7E63E168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E779310D-E2A6-420D-A437-275F8AF0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8A8C3-EB0D-4CB8-B0E5-E49DE1BD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PixelVAR checkpoint produces compact, palette-safe 32x32 sprites.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BB9FA-9682-44C0-9268-B63A99A9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883BF-CAFC-49B5-8EFE-469C082D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P2 0:55 - main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7F5ED-50AD-4535-9A81-0EB3A36A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7/12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0B7E8-0888-4742-8D14-32C01BF2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81d66928c48c6"/>
          <a:stretch xmlns:a="http://schemas.openxmlformats.org/drawingml/2006/main"/>
        </p:blipFill>
        <p:spPr>
          <a:xfrm xmlns:a="http://schemas.openxmlformats.org/drawingml/2006/main">
            <a:off x="714676" y="1504950"/>
            <a:ext cx="4209448" cy="4686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E6547-A56A-4DBD-9A1F-7C165AEE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85900"/>
            <a:ext cx="5334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f28ef612444e4"/>
          <a:stretch xmlns:a="http://schemas.openxmlformats.org/drawingml/2006/main"/>
        </p:blipFill>
        <p:spPr>
          <a:xfrm xmlns:a="http://schemas.openxmlformats.org/drawingml/2006/main">
            <a:off x="6500813" y="1524000"/>
            <a:ext cx="3838575" cy="2362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47507-E126-46A9-BBB1-28C51E8D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A31AE-75C0-47BB-B0B9-4846DA8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DA612-DA02-407D-BF4C-1A84C5F3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F77CB-1DB1-4FA0-8C60-52FC696E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3A187-7B35-49D4-9106-6623BE3F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442C5-954A-41A7-861C-CBF3B6C5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9B4D9-5DBE-4C4E-B43F-27F3D6B3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1B693-E42D-436D-A727-28E15C1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279FC-FD6F-4022-B269-657789A9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0759D-AF05-42BB-AF78-224F2F85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expected from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D580D-B11D-4B31-A00A-74257A6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0AF86-3551-443A-A241-C4B71E00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E86B1A-AC0B-407B-BC0B-07F1CE5A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1007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94C8D-23C6-4765-929A-16B4151D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4345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edge density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B98339-D942-40C7-A6E0-7F2402DA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958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real val 0.1811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F6C83B-3F5A-47B3-A120-5973E16F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292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sampling: temperature=0.8, top_k=8. Palette consistency is important, but it is expected from the discrete representation, so we do not oversell it.</a:t>
            </a:r>
          </a:p>
        </p:txBody>
      </p:sp>
    </p:spTree>
    <p:extLst>
      <p:ext uri="{BB962C8B-B14F-4D97-AF65-F5344CB8AC3E}">
        <p14:creationId xmlns:p14="http://schemas.microsoft.com/office/powerpoint/2010/main" val="5851292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4C7D84-272F-48B6-99C3-1278D2C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B4C65-A047-4A78-A951-4B831E34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92D8B06F-4489-4189-A863-7AEB6537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4398E6D2-FB7F-4ADB-AB4E-B5BA7432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16FFC-96A3-442E-8BD8-9CCBD801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HMAR worked, but more refinement did not help.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799D5-CEAD-4A97-80D6-F896AC7C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E508C-5509-4458-A47E-D99C2AFA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0:50 - ablations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2FF75-C70B-4203-AA38-564EB900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8/12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1E848-E3C2-4B23-9E9F-6F0C715C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619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9bd0f16e84917"/>
          <a:stretch xmlns:a="http://schemas.openxmlformats.org/drawingml/2006/main"/>
        </p:blipFill>
        <p:spPr>
          <a:xfrm xmlns:a="http://schemas.openxmlformats.org/drawingml/2006/main">
            <a:off x="650264" y="1524000"/>
            <a:ext cx="5462221" cy="2705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6C981-DF40-479B-9D45-77BCF88A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E4F68-9BFC-4568-98AC-5D789588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67D4C-AA87-4B17-9619-D63706F1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4190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25275-E890-471D-845A-77E21733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049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94320-DA58-41EA-9A5E-79B69DF1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8A8F4-2EFF-4696-A866-01E1F8F5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0D9E6-DE34-4641-820A-598B672A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5387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9ACFB-A35F-4B04-B9B9-D2ABACB3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050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F06A6-6135-4DE1-B391-904B74D5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998F3-0440-4FDA-A33B-07AB455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91A30-2D1B-4450-87D9-A1642A06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10661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9DEA2-A132-465B-8E32-AED13249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050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86FBB-D817-47DD-A8D6-DB17E36E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E84DC0-F13E-41AA-8567-33BFE180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12679-8BDA-44BA-B25C-E300E4AC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043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768CE-51FA-4DB3-9D72-4C0F3E16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05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B9C16-D9AF-49AF-AAC4-622316D3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5D9EBD-D344-46D1-9D38-CFCEDEC4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23047A-DDA8-4203-86A2-E919A6E3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701445-DE80-47D4-96F7-331684F2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051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C7524-DDDB-4597-8874-7A3FE058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572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C02F71-BFFD-4930-9785-C4F5F1FD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35615-4B4C-46C5-B86D-6EA556C2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06BB51-B397-4634-A4A4-03A1EE56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D9AD8E-801F-45A8-B761-F5CA6772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Generated/mixed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3075F1-6B8D-45AA-9B58-D971C63E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larger data did not improve real-validation 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FCEEA7-2A62-4763-BDC5-AAABC97E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9CFD98-332D-4871-B153-EFB264D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CFF5BC-0A90-4AE3-8654-7BC2DD92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58EDD7-064C-4CDC-BF36-9D1CAB64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pipeline useful, distribution mismatch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8F574B-7709-4E4F-AC42-21DAF3ED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67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9C1549-2D2C-494A-A79F-BBE0DC81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435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5A06ED-D845-4496-BFFB-6526DC0D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435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path worked but was blockier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45490E-AAF1-47D6-8DE7-7301E90B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lesson: more refinement and more data were not automatically better in this low-resolution palette-token regime.</a:t>
            </a:r>
          </a:p>
        </p:txBody>
      </p:sp>
    </p:spTree>
    <p:extLst>
      <p:ext uri="{BB962C8B-B14F-4D97-AF65-F5344CB8AC3E}">
        <p14:creationId xmlns:p14="http://schemas.microsoft.com/office/powerpoint/2010/main" val="21121209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9C170-E486-47DB-A0DF-5F3702F4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85A0F-37D6-43DC-AF21-E5D9B038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8D07BD9D-A136-4C18-977F-78C5732F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028C7C1F-63FC-4466-8564-B17FFD73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METRICS +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23599-5992-47D7-8AFB-A390840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FID would pick Flat AR; the exact-match audit changes the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6BDFE-B98E-49DA-9448-A9E1803C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D4C23-E9ED-451D-AF4E-29675C65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1:10 - centerpiece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4EDC4-789F-4B72-8C6F-18C96994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9/12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25F3B-8992-4735-80E7-FC350C1E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4762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29b06d1f44a2a"/>
          <a:stretch xmlns:a="http://schemas.openxmlformats.org/drawingml/2006/main"/>
        </p:blipFill>
        <p:spPr>
          <a:xfrm xmlns:a="http://schemas.openxmlformats.org/drawingml/2006/main">
            <a:off x="635397" y="1504950"/>
            <a:ext cx="4520406" cy="2552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1E407-B44F-4E8D-8663-800FCDE1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4953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3d87ee3a04256"/>
          <a:stretch xmlns:a="http://schemas.openxmlformats.org/drawingml/2006/main"/>
        </p:blipFill>
        <p:spPr>
          <a:xfrm xmlns:a="http://schemas.openxmlformats.org/drawingml/2006/main">
            <a:off x="6084570" y="1504950"/>
            <a:ext cx="4594860" cy="2552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40B18-E7D3-464F-9FAF-AB4A906B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00550"/>
            <a:ext cx="857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6EDD3-97EF-4876-BD85-3AA483D2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B88C3-B269-4A85-8A8B-BA58AD5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767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C8605-5CDE-4D22-839B-93326CC9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236C7-B456-4C9F-B2F5-A07D55C2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C4C5A-D3E9-4575-8C68-6B107C1C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Audit-adjusted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D95EC-752D-4E1C-B34B-5CEDD292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D1EC3-46E5-4EE5-9A3F-9CA05868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F9712-A3E0-41E6-942C-E89CFE79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006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AFB01-458E-4735-8487-8474EF14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CE103-CD31-477B-B9ED-8A133C2C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B2A34-8AEE-4DC7-872E-D587980F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memorizing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47597-D1D7-4662-85CF-7AC9FF5D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2D25E-C717-4A0A-9F39-D3CFFDEC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54B92-5A72-4E65-9C70-A9972BC6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C12815-8D7C-4F73-A4F5-58A0BA63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B9AF4-2838-445E-92F0-305EE75E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005A16-ED1F-4D9C-A616-085B366B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356599-321A-4872-9431-7034D766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244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disclose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E9D7D8-3D77-4E63-A6ED-26302746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721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B289C-2E72-4169-9A33-FA2264E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483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C30ED-B209-4118-A810-EBCD54BB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483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1EFF2-6025-4B09-837A-9030A2CF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063F2F-CD74-4721-A09F-CEFBE1E4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94D777-9673-44AE-AE76-5AF9BABA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483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main result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8D7FF3-DF8F-4296-83B6-954E8987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7C8B56-F4F8-4338-9352-2B0721AA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58408C-B37B-4B41-88C5-00303D86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721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8DF48A-B9D3-4FA4-914A-EBAC315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721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B21267-A929-47F8-B0DC-B59F48E1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9A3EB5-6A91-4881-BCB1-443CFD5D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D50851-58B0-4383-B846-CC06F8C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721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5743B7-4657-45F1-8EBA-7163C820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6265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dataset had zero cross-split exact duplicate hashes, so held-out exact matches are not explained by simple split leakage.</a:t>
            </a:r>
          </a:p>
        </p:txBody>
      </p:sp>
    </p:spTree>
    <p:extLst>
      <p:ext uri="{BB962C8B-B14F-4D97-AF65-F5344CB8AC3E}">
        <p14:creationId xmlns:p14="http://schemas.microsoft.com/office/powerpoint/2010/main" val="12922322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E20B2E-8C3F-4733-AD1F-C6C6D05D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02037-838D-4548-A1A7-44E0381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1C3C4CF7-A10A-4CD1-B88B-ADBD5C78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AB2685D-DC7B-474D-9C01-A598ECFB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763FB-C89C-44E3-900C-B53BB781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generators failed the normalized 32x32 sprite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FC47F-7730-4F49-9996-F507B07C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1E288-C66B-478A-97D4-79B2C809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0:55 - external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2958F-81C6-43B8-9330-320D1385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10/12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71E71-ABF9-46F4-ABFC-85EE0FF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EDE14-418C-4577-AE8D-6E3940B1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95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20D13-2CE6-4492-9E95-9BA8C2C9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95450"/>
            <a:ext cx="19925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AB8BB-7B74-4DF4-9A7B-CA8308DF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47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46.5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F6713-CB55-474D-A2F3-0103859D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6DF79-7494-4472-8AFD-4C07B423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36E8E-FBA7-4B4C-B7AD-98367E68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6602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6AC94-C57F-4984-88A6-0547029C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28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154.0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00FAC-929B-47BD-952A-CCFC6878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963F1-58DF-4F13-906C-16697CE6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57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D13F6-AC99-4450-AF15-BA78721D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57450"/>
            <a:ext cx="67980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2101D-4010-4980-8353-03EB3696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9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158.6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21357-1B6B-418A-BDF9-FB19A866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751A09-84A4-4CEE-9BD7-ABBBCBC4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D765D5-7B4A-4B29-80E1-3F59A2AD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AA10D-F5E5-4E2E-9CAD-D81687BB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90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497.7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226DD-BABF-4997-96E7-43F4FE30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D63B92-6246-45D9-A2AD-FCC72A0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BFE3B-ABC6-463C-A550-1367A06B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D2ABD0-1258-430A-8EE0-717BBE07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0.891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393E51-0D88-4242-9CBD-59AA982A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3838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74B880-4916-4692-8837-8DEE151E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1938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4BEC1B-7B33-41EE-A7D3-5F1E58FC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1938"/>
            <a:ext cx="12170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FF13A-285B-4D24-A793-9DAC394C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4313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0.051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49937A-0817-4E17-922E-DD0BD0A7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9102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F664B8-4519-4A45-8857-D698A3FD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29125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F929E6-289C-4D05-86EA-AB654583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29125"/>
            <a:ext cx="8432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9F91ED-B199-4355-9A34-23E3EFEB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6CF37F-7539-402C-8C4B-EAA8CF83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8213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06695B-C121-43FC-84AE-A2745E26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6313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836F86-13DB-4474-88F3-36088967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6313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B263AE-58C9-4C82-B3CC-016D7EF7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38688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0479A9-876E-40BC-8D48-F3DCE8C3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FID lower is better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943881-5A6C-437E-BB90-73390507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Coverage higher is better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CCDC72-5DA4-4B5F-9094-59FC89C5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a806df81346ee"/>
          <a:srcRect xmlns:a="http://schemas.openxmlformats.org/drawingml/2006/main" l="0" t="40159" r="0" b="40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562100"/>
            <a:ext cx="4781550" cy="10477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1780AD-CF4F-4261-966B-C6703505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a4939c0e94ce5"/>
          <a:srcRect xmlns:a="http://schemas.openxmlformats.org/drawingml/2006/main" l="23155" t="0" r="23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3067050"/>
            <a:ext cx="4781550" cy="10477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0B0CCF-DEB6-4504-87FC-284C72F8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339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b48422e79489c"/>
          <a:srcRect xmlns:a="http://schemas.openxmlformats.org/drawingml/2006/main" l="23155" t="0" r="23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4572000"/>
            <a:ext cx="4781550" cy="10477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B088F1-6932-4490-8BEB-24E49A68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809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PixelVAR</a:t>
            </a:r>
          </a:p>
          <a:p xmlns:a="http://schemas.openxmlformats.org/drawingml/2006/main">
            <a:pPr algn="ctr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9334AA-D521-4696-AFD8-75545C9E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147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Pokemon</a:t>
            </a:r>
          </a:p>
          <a:p xmlns:a="http://schemas.openxmlformats.org/drawingml/2006/main">
            <a:pPr algn="ctr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frames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39FED5-7D4C-4902-B40A-0A307A66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196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SD-piXL</a:t>
            </a:r>
          </a:p>
          <a:p xmlns:a="http://schemas.openxmlformats.org/drawingml/2006/main">
            <a:pPr algn="ctr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8AAE19-01C0-43A9-9538-28A690D4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 do not claim perfectly equal baselines. The safe claim is narrower: accessible diffusion-style baselines did not beat PixelVAR under our normalized 32x32 RGBA protocol.</a:t>
            </a:r>
          </a:p>
        </p:txBody>
      </p:sp>
    </p:spTree>
    <p:extLst>
      <p:ext uri="{BB962C8B-B14F-4D97-AF65-F5344CB8AC3E}">
        <p14:creationId xmlns:p14="http://schemas.microsoft.com/office/powerpoint/2010/main" val="19630211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28D280-67F9-47AC-A8EE-F5088805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3FF36-CE71-4789-8FED-A22FE6E6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0D03541-DCF1-4619-AE20-C19CBCEF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F1F7B2A3-C4A4-4836-AF1F-D4468901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SCALE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0A379-76D8-4EE1-A34F-B642653C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 170K generation pass shows the sampler remained stable at proposal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64F9A-4796-4665-83E3-957A79A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B4DC0A-E96B-4E2D-97D0-5DE1FC39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0:30 - generation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D537A-C77E-41A0-942A-751D5DDF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11/12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261D5-851E-4258-84A1-9A75226B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31BA6-129E-4E2E-9DF2-BB15863F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FD2CE-ECA2-4C48-856E-FE67E56B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170,000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3D30E-A8E7-49AE-9AE7-21163A72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generated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B8328-12A6-4BC1-AA53-18BB0D19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006EC-AA70-4051-94F1-E15E2941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E2A19-EC48-4313-AB3E-D95BE2EF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161,479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7A79B-2FB3-47D6-A210-A90D1EF0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automatic keep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420FA-C281-469F-BD35-24E56CED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94.99%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4D678-6722-4414-B99C-9D7CBE46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2BDE7-7FC1-498C-A92B-1013A65A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980F48-FD87-4C04-9F5C-01FCAE0C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8,500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BCD57-E690-4043-9F71-874198B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review bucket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616B6-AC55-43AA-B620-FAAB15EC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A523D-9F28-4542-877E-C22B1305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0CD8D-E04E-41B0-8E6E-B344E67D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EE692-54A5-4C39-B314-0458BA64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2102C-95BA-4835-B978-6B60C457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reject bucket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062BC9-12EA-433E-8A7B-631C6F13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0.01%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78B073-FE5D-4AAC-9C2C-4BE31866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660b0d7e0480c"/>
          <a:srcRect xmlns:a="http://schemas.openxmlformats.org/drawingml/2006/main" l="0" t="23077" r="0" b="2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3124200"/>
            <a:ext cx="2971800" cy="16002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09F96-02D7-4006-898B-6CBC80C3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8610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6b23caf3e4de1"/>
          <a:srcRect xmlns:a="http://schemas.openxmlformats.org/drawingml/2006/main" l="0" t="23077" r="0" b="2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2450" y="3124200"/>
            <a:ext cx="2971800" cy="16002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6B5F15-3126-4599-B515-C6BA19A6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2667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1a677bd0f4f35"/>
          <a:stretch xmlns:a="http://schemas.openxmlformats.org/drawingml/2006/main"/>
        </p:blipFill>
        <p:spPr>
          <a:xfrm xmlns:a="http://schemas.openxmlformats.org/drawingml/2006/main">
            <a:off x="8001000" y="3438525"/>
            <a:ext cx="2590800" cy="9715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15CE0A-2C9D-4436-9876-2D07C74F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not a human preference study. It only shows the sampler stayed stable at the proposal-scale generation volume and that the automatic gate found very few obvious rejects.</a:t>
            </a:r>
          </a:p>
        </p:txBody>
      </p:sp>
    </p:spTree>
    <p:extLst>
      <p:ext uri="{BB962C8B-B14F-4D97-AF65-F5344CB8AC3E}">
        <p14:creationId xmlns:p14="http://schemas.microsoft.com/office/powerpoint/2010/main" val="17907606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32698A-49E5-42A5-AE38-6653AC40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4F785-726E-4F45-BA6E-1D768BC7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6322DD90-BFBE-4626-8B6A-CB474CCB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FD2B01D2-E594-4B4A-963D-DF3D4A8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LIMITATIONS AND NEXT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69DF5-9CD5-4DE6-AF2A-6F6D1BB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final claim is intentionally narrow: strong 32x32 palette-token generation with audit-aware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65970-CFF2-45C3-8F01-FA154863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0D130-A14F-46BB-B9D7-AB95A4D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P1 0:55 - close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AD36D-12C0-4C40-86F8-9158CAE9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12/12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A3050-0B16-4D36-848E-BBA221B2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BEBB7-EB0B-43D3-A17E-5592FC1C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367C1-A828-4193-A3C0-FD2266EC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Finished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ECDFB-028E-4B13-8180-66BD785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028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VAR main model, HMAR refinement path, Flat AR/MaskGIT baselines, known metrics, memorization audit, external attempts, and 170K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73D88-F36C-4D4A-B97D-07D31EA4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277C6-2B63-4CB5-B24E-5B51B6BC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8DCFF-BE51-4374-BC6E-8F588251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finished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C908E-0692-4C99-9349-20FCF345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28850"/>
            <a:ext cx="3028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User study, completed 8/32 palette metrics, completed 4-scale metrics, and 64x64 generation. These are not claimed as results.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18E92-4DE2-4755-BE57-415DA1A9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6C8E5-303A-43D6-9CB7-45C8FCB6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355E8-A7C6-463C-8835-666D2EB1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47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Next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8D373-7A30-450F-81C0-BA0EDA73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3028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Run remaining ablations, inspect metrics and sample sheets, collect user study, then revisit 64x64 once the 32x32 story is finished.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90370-47B1-4196-AC2C-72F0AB15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287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645E45-855C-4D33-89AC-53387AFD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Safe claim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88958-0BF4-4BD4-915C-941AC765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777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to say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A60ECB-F4AF-4F7D-9D04-CD8563EB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1BA6E3-4AD8-4368-B656-27190A37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3DD6E2-F87B-46BD-BB4D-665E3F84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149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strongest completed comparable proposal branch on our sprite-feature evaluator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E7C9D3-B48B-4461-B82A-09EFE9F3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6197D3-4382-46C9-8ABC-7CDB63C2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49B3-BB5A-4FB5-9774-80A34B2E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Audit claim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169B12-978B-47D8-8CA8-4B8546FF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raw FID promotes Flat AR, but exact-match audit shows memorization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4DFA23-B66E-4BEF-BBB8-5D4A09E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394654-AE3D-48B4-874D-8C710720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claim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DBB8E8-6DA9-498B-99EA-16D73290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150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accessible diffusion-style baselines did not beat PixelVAR under normalized 32x32 protocol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C76F7-1382-4285-8758-1EE7D94D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F69CC6-969C-4B22-8D09-FEF81A1A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4BD8BA-69EF-4305-ABE5-621AFE93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SOTA claim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8F7C75-15F8-48BA-93F9-7EE14020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1505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do not claim broad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C1F5D3-3DA8-4C5A-8FC4-B10441B0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C7D5"/>
                </a:solidFill>
                <a:latin typeface="Aptos"/>
                <a:ea typeface="Aptos"/>
                <a:cs typeface="Aptos"/>
              </a:rPr>
              <a:t>Main talk ends here. Curated Q&amp;A backup follows.</a:t>
            </a:r>
          </a:p>
        </p:txBody>
      </p:sp>
    </p:spTree>
    <p:extLst>
      <p:ext uri="{BB962C8B-B14F-4D97-AF65-F5344CB8AC3E}">
        <p14:creationId xmlns:p14="http://schemas.microsoft.com/office/powerpoint/2010/main" val="4395950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350D5A-67A6-4E30-A6D8-B7C1D17F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1A3ED-4F00-44F1-B771-A9600F5A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3156852F-BDF1-4724-851D-6BD07EE1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015BE178-7817-4165-A7D3-E75F8FD0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PROPOSAL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9DDC9-685D-4236-971B-668B83C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Detailed DONE / PARTIAL / NOT DONE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1ABDC-8B15-4EC2-9910-320840EA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03D70-B6C8-4C85-BAC4-F28082A4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60FE5-0721-444B-B2B6-B3821455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DD08C-8011-4257-A0C7-26288182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5727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B8739-3C61-470A-9B23-AD9BC11A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8193B-BCEB-4EE5-9A17-06C20B27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811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1EE8E-90D2-4C4E-A45D-6174F139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567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78258-6C0A-4F67-A197-D20A671D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A6826-2B24-4428-A562-0AE52710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Dataset curation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F464F-8923-4CB7-A2B8-F96465E7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12DF6-4767-409E-836F-E4BB194E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050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 selected after original Kaggle source failed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558E2-EA88-4BF7-9BE6-79AEBA73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587BA-B406-4263-BC84-EA068D6A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0C63F-611D-479E-8883-2F7ADAA7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16-color palette-token generation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53812-DB91-4085-8E37-78AF377E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955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FCE503-3333-49EE-98F6-A0598118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 + 16 palette colors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95CA4-048F-44F1-BCBC-BE15C014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BB53A-54D0-48A3-BBBF-B6F0B092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85EF7F-5CEA-4D0C-B068-C17CFCB6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79B04C-0484-4A78-B01E-A728018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861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AD32A-9AF0-49D7-8BA3-86FBE098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B39F7-45A5-478E-8478-0DE8748D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4B628-2EBE-4D1B-80EE-0EF00079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C2602-17F4-4D6E-BA4C-2B6CE11A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A3B7F9-52A9-4764-B721-3A2E1E0B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refinement ablation complete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D3486B-D75E-4B0B-B031-C3720572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491C78-35AD-4B94-9AF9-8452D49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 / MaskGIT baselines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CC4F61-AFD2-4EEC-AD6B-B2F1BF92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40A1B0-18C3-481A-BA4F-7F8F841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672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measured; Flat AR memorizes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C1A2AA-DF7F-4657-926E-5D67097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AA9EAB-44BC-4759-AC52-B400DCAA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06AACB-3733-4E68-9126-00CF814F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961CA1-A089-44F3-90C2-D39CF916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 DONE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1583DD-9F09-4384-A9DA-F2EDDB0D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SSD-1B, Pokemon LoRA; PixDiff-PIG no runnable code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4A7712-726E-46E4-919A-D229B0DA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62762D-2789-4D64-B236-A24F3E5A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C8FD5C-4C1A-48CC-A885-C166CE83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483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541F5B-5A8D-4A44-8880-BD2ADBE0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483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4050631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0F1D59-6543-4DCF-9BC6-42474F61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E01B7-3FCC-4C7B-AD2B-24C3B8D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69893E70-9FB1-46CD-AABE-C6C0CE95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021DBC6A-32B5-4D8C-B34D-5ADB0DDE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METRIC GLOSSARY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AAD52-C57B-4698-835C-F46CE486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What the reported metrics mean.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A4F94-24A2-40BD-B3C9-7AE2D63F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8F1CD-CF5F-4930-8DA8-7A712207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5A527-E901-4EE1-80AD-D75C9D1D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D52B3-2662-4F14-B59B-9C6C3497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1028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AA9D4-D84A-4C67-AD35-E39B3D11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8A53E-BB3B-4F44-8DF9-0EDA0F3F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38300"/>
            <a:ext cx="434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68A5F-D9E7-45AA-8F41-8410B46D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83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E5F3B-DBE0-4F14-95F0-747D8C2D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571EF-2FCF-43CA-9B94-A176DD13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60C03-F4BF-4577-909E-3E331185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621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Frechet-style distance over sprite-specific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37252-0058-46EF-8BB4-A691C091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621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internal selector, not Inception FID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AE7AF9-EACE-4642-8FD4-237515CE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BDAEF-672D-4E88-A053-C746FE98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363AC-3631-4123-AC1B-9C001AF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4FEB9-1684-4F5A-B271-21E47750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share of opaque pixels in fixed palette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8C8C6-98DE-4856-B8FE-D022F023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expected 1.0 for token models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8B1CE-0A68-407C-B0C0-9BF130E9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C79DE-8CBC-4483-A307-7F131B10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/ KID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8DCD6-85E5-4952-B2F9-8B28BD66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Inception-feature distribution distance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EF45D-7172-42D0-958B-94CD194E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standard but imperfect for tiny pixel 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A6261-A29E-4DAF-AA0D-D747B998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281459-D367-43D3-B271-346E5978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14A6D0-0438-419D-9220-3DBC3EF1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Precision / recall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24A4BD-9080-4A9F-B326-11E7C51A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fidelity and distribution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F9DDEE-131B-472D-B659-D47D3887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338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must be read with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372D8-7D01-40E6-80DA-680580EB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11B428-1293-45E2-ADBE-FF49917D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Density / coverage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D704F9-ED0E-4AB9-AAB7-25A27D2D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243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PRDC-style neighborhood coverage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3830F8-6118-4358-B2C3-0DD83BCF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243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higher is better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F87D6C-9B9C-475B-8799-CA3777A8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434159-230B-4EE7-B81B-D8500579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1623F9-8D2D-4809-85A5-50345541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91C7C2-E8EA-4CC8-A3B4-6882EEE2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149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sample diversity proxy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BF0FCC-59FA-4AA0-8829-7C05912B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149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compare alongside reference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5D742B-73D4-49AE-92BF-AC5543C3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9A0CAA-D6AF-401B-9727-C3DF64D9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C7988A-C2E3-4C25-AEB5-F1B1716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054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token maps copied from train/val/test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A42974-2BA8-46F5-89FB-73FF197B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054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critical for suspicious raw winners</a:t>
            </a:r>
          </a:p>
        </p:txBody>
      </p:sp>
    </p:spTree>
    <p:extLst>
      <p:ext uri="{BB962C8B-B14F-4D97-AF65-F5344CB8AC3E}">
        <p14:creationId xmlns:p14="http://schemas.microsoft.com/office/powerpoint/2010/main" val="2069122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E8175E-2791-4270-87A0-B474F0DC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3BD53-F6C3-435F-89F5-2FBE54BC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4D9B1142-C49F-412E-85EE-4D3D862C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A0430C23-55EE-4289-A032-55D4E609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TOKENIZER PIVOT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EDF48-4574-4399-A99B-2B9C7109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main path moved from neural VQ-VAE to deterministic palette tokens because pixel quality mattered more than latent elegance.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6E0B7-0AA7-474F-BEDC-0D702182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F4305-8234-4EDE-897A-C830AFA0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Method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2EB1B-9A01-438E-8853-7111FB5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9FC7B-F2BB-4817-8268-BECB8B8A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0C35A-7D66-4FCB-9404-DA90D6F8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A5BA4-C0CA-49F8-8C29-D647A19F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3E75D-64EB-45A9-A979-A490C21E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 a multi-scale neural VQ-VAE, freeze it, and generate learned palette-sized codes with VAR/HMAR.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CEC5A-50F7-4E3B-B6E2-58E3EAE7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EEDB1-78FF-48A7-BD4C-B2A93F10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D72A8-E9D9-4746-BCA4-5837502B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What happened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5AC27-646D-4AE0-B06E-C05E6242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 deterministic palette pyramid already matched the target semantics: transparent token plus fixed palette colors at six scales.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74F55-539C-469D-A168-F39FAC0B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45178-8A45-4EDD-A2D3-54267BC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53F08-FDE7-41B0-B3C4-CEEDBFF9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14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was defensible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1BFC6-D5C3-4406-9942-0734F4AB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Neural reconstructions were too soft/ghosted for pixel art. Patch-VQ worked as an ablation but was blockier.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392D2-CEB3-4B85-A811-290D138A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9334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A6AFA-864E-4D07-856F-E6D66E2F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8CFDE-80AB-473C-BA08-0A52FB0E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34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40C00-294A-4048-9835-F05F8AA9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87599-532D-4090-92C6-3B9CF5A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5F9CB9-8272-4FCF-9D25-11D1EDDA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Deterministic palette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38E083-2A3D-4062-AC1F-32875D2A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Crisp, native palette, 0.00147 main score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83C2B-0D52-42B7-8840-C15620CB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9A66EC-4C1F-400E-804C-A3AAADBC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65A23E-0E8D-4C7A-86A1-A345D181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EFA36D-905D-466B-A619-F63ABB79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multi-scale VQ-VAE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736FB-AAD9-4931-AD41-54D4584F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implemented, reconstruction quality not good enough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97BFD9-48CA-46A9-BE22-5A77D47B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partial / not promoted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924AE8-2A1F-4B7E-B2D9-07F04998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14A78F-2608-4A97-9FCC-2B203EF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 KMeans tokenizer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C4A25B-51F8-430D-9B6E-A09213A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143/512 codes used, coherent but blocky, score 0.04689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79A1A3-D4A3-4549-86C3-E79756F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ablation</a:t>
            </a:r>
          </a:p>
        </p:txBody>
      </p:sp>
    </p:spTree>
    <p:extLst>
      <p:ext uri="{BB962C8B-B14F-4D97-AF65-F5344CB8AC3E}">
        <p14:creationId xmlns:p14="http://schemas.microsoft.com/office/powerpoint/2010/main" val="34948815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C99AB-7BB7-49CC-9E8A-495B586E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72115-574B-4FAE-8703-3E3ADF26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EBEAE838-2A01-4C61-AEA4-AF3ACA3C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2B7D1DD3-13A5-496F-92F7-F6643656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 AND TRANSPARENCY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B8C01-9A7D-4C2B-8D76-FD88731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final implementation made transparency and palette membership explicit model tokens.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FF3FA-0A0D-4EF8-BE9A-557B3F2C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D7A66-101E-4480-A07C-DB0A89C2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Method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20A90-2EF0-4061-A569-204379F3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4/16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CEB21-EBE9-4F10-BDB4-DFC7F09B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A17C1-ECCB-4404-9B41-7DEEF3F1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Contract element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76F92-0CB1-4EC3-BA9F-02B623A3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04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E8B7D-C415-4A7B-A14C-8249D580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FA695-C09A-47F9-BF49-A3E60C9A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5C3E3-F8F7-4B13-822C-DBB4D10D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D86AE-F778-40D1-B630-58291A76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288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98AF9-29BE-49AE-8BC5-5AC9769A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background is part of the sprite structure, not cleanup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802AD-5075-47F3-91AA-B4AD589A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444C7-A0F2-468D-AEF0-B84F3B6F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91B89-55A6-4E12-969C-4DDBC35E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tokens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00552-290F-4362-8491-3728B56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574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1..16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FB84A-60A3-4CBD-B0CE-DC8B602B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 predicts fixed palette indices directly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8E0752-20D0-46AB-97C4-1F4698CF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03D2C-CF6A-439E-AEF6-CCCB0864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Reserved mask 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42C7D-98A7-4247-AF9C-74B49368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separate from transparent for HMAR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5CC52-EE99-4504-9202-ECA3236B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refinement does not confuse missing with background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A255A-0C9D-4F70-9FD1-B8AB3377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5F7BE-AD23-4F62-9232-CCD6EBDA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2C12F-4C6A-4A49-982A-87199498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Scale schedule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694FF8-8A8E-4FA2-84C9-D22D5532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1, 2, 4, 8, 16, 32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79CB2-CF4F-4C16-9977-43609EB8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six-scale coarse-to-fine pyramid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0E623-49DE-48B8-BA1B-5C3A3EC0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6BD0E-45B6-457B-8E9E-507E9986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sequence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D74794-B7C1-488A-B3BB-6D5EAE4F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434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 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D496CD-2155-4206-918F-FF082276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sum of all scale maps; final 32x32 contributes 1,024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6782E1-F7A0-41C3-8B8C-66C93364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646493-8A66-440D-92F9-4EDE595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DF68CC-9727-4550-8C56-36B6E27E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Split rule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8A190C-A5CF-485F-9CA9-EC65E86C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720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grouped by character/sheet fields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FB771A-35C9-42F1-841A-E14DAD92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reduces train/validation leakage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D02613-A752-4C6D-B4EC-E9AB4DD0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58F8A4-AADF-4EAC-8D6F-CDA101B5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56BF58-330D-4ABC-91F4-18DBA2C0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4EBE6D-5AEA-4BE1-80D1-DF408BC2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668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2583B5-122B-4D79-BE21-0C076623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898121-CB49-43DF-B9DB-6FFAC761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BCAF5B-1811-4573-8F46-EA998D80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6F0F82-E846-4D6C-A881-03F7530D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B3AC9A-8ABC-4182-8224-0EA8AFEF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A1D405-3E9E-49F5-A9BE-C602379C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8E0430-CF9E-4514-82A4-90C6F292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619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D8D307-2860-4294-A7BA-01EDFD91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1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B6D292-91C6-4775-9B5D-EC593945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3CE5FC-130C-45AD-93B9-2AD3D17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D44B8D-B5E4-4549-9DB0-865217C1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C57163-D010-4686-AF8D-7EC0872E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956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4DCA22-A056-4447-A37B-62D5C68D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1C6ACA-B1EA-422A-8990-20D1C729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E21FCD-7F39-4BC8-9043-F9ED2A1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F71749-DF87-4279-9FEE-959E10B8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5718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0AF365-12AE-4027-848E-9424B649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DC7B9E8-329E-4CFE-88CE-91EC47EB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4AC4D2-9542-46DB-9970-BED4FF65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09C174-8247-46F4-B236-DAFC14E9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48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E5C145-8A6B-41B8-8B17-5EC1D6B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why palette consistency reaches 1.0000 for token models: it is an expected property of the representation, not a standalone quality miracle.</a:t>
            </a:r>
          </a:p>
        </p:txBody>
      </p:sp>
    </p:spTree>
    <p:extLst>
      <p:ext uri="{BB962C8B-B14F-4D97-AF65-F5344CB8AC3E}">
        <p14:creationId xmlns:p14="http://schemas.microsoft.com/office/powerpoint/2010/main" val="209248993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50B9F2-E458-4F25-9E04-ABAD060E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C9241-257A-4688-A6F8-C26EF44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8D0369DC-F71D-448A-AD9B-1AB5DF7B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9F539401-ECBF-4788-A37F-230670F7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DATASET REALITY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652DA-54DB-415E-8550-8BEAE7B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original Kaggle source failed, so the final study used a live replacement plus auxiliary Pokemon and OpenGameArt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3598F-1E85-45C6-A108-5E102E4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B526A-B5AC-46C9-BA6F-F80669C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Experimental setup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1DEA3-F51F-440D-8097-C8438CC5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5/16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2E167-5F87-47C2-90B3-A89EE3CD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F582E-BE68-4B80-8641-237F63FF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E3232-AAFC-44A3-9D17-FCA88AFB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93,312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9CF5C-49DA-429D-A23C-E4F248E7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790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 sprites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63CFF-8968-4CF2-9976-38F7BC62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0495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2B119-D7AE-4C15-B6C5-9749B6C1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3C6CF-9581-4A5B-A09E-8151383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09725"/>
            <a:ext cx="1266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7B5B6-8868-41AD-9BFC-AA7D5B36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43100"/>
            <a:ext cx="1266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6E406-2669-46D3-903E-AB97412F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0495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B802C5-7EF3-4F5C-B60E-99A6AAA2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0121E-E321-4D20-96F1-72A9F1AE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09725"/>
            <a:ext cx="1266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1A443-4E17-4495-AC72-255B5FA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266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EF153-05BE-4086-91AC-2D1D7979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0495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9352C7-8FA0-464B-8E50-19BCD866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E00A2-E327-4D37-B82D-D2719780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9725"/>
            <a:ext cx="1266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5A13A-56AE-4546-9AB7-09DCC89F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1266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5B38F-DD1D-4EFF-BB43-3CDF0769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001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4571F2-4D3B-4C55-AAD5-E789650E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Source / 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E8CBF9-2594-405C-9D76-AA1587D9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765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4272B2-4C16-4298-BA3C-FC305CBB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76550"/>
            <a:ext cx="472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33DC9-EFE8-4004-B432-432E1F8B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85A35A-733E-4324-BB7A-73D66DD8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Original brentspell Kaggle sprites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E4B3A3-ABBA-4170-B96B-AC8203C3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04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target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4082AB-B4AC-4D7B-8226-FD138BA7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blocked: inaccessible/forbidden; page unavailable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D1E187-930A-45CA-8194-580D35B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A3727A-B965-476D-A7C7-40989BD2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EA9672-7271-44E9-9A2C-59C9A2EA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TalBarami/msd_sprites replacement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FA9E00-DA1E-4A9C-A54D-F6C948C8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dataset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A825C7-F175-4127-B618-5283DB75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9095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used for final train/val/test protocol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81FD70-A217-4CC0-AC38-3BFB51F8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42C4F7-0EBE-427F-B439-35449C50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F63CBB-36F3-4245-9EEB-402B58E8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815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debug/prototype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71FD09-A503-4237-A36C-62F56DC6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used for early pipeline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C7B745-1842-473C-8370-CDF64DC9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C25342-F816-4E22-A741-F3EB98DE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3F58C4-8DC1-40C4-9DF9-F5437E2A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curated public set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B5617D-7FB1-4A36-90F0-7BCF53ED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7205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mixed-data stretch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C81C7A-FB6C-4C0B-A28A-0781F945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7205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4,659 frames, 105 groups; useful pipeline, distribution mismatch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79A26F-E778-47D4-983A-8DA09B50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7D10C9-2B7A-462B-8F86-893C9213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170K keep set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121F32-8EC3-4682-AB80-DF3EB43A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626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expansion experiment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564BE3-2A24-4861-B6FF-FF686D15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626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large generation worked, but generated/mixed training did not beat real-only</a:t>
            </a:r>
          </a:p>
        </p:txBody>
      </p:sp>
    </p:spTree>
    <p:extLst>
      <p:ext uri="{BB962C8B-B14F-4D97-AF65-F5344CB8AC3E}">
        <p14:creationId xmlns:p14="http://schemas.microsoft.com/office/powerpoint/2010/main" val="35724453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23041-18DB-4AE2-BD6C-DDD9AF58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30522-1C32-444F-82B7-43046B2E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14719217-FD32-46F1-9750-0CA264D8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8CAC9146-4878-468E-BE9E-7B54F1AE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IMPLEMENTATION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5A72C-3FA0-40F8-9320-FCB6DFA3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project includes models, data tooling, external adapters, audits, and tests beyond the headline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4CCC8-4AC4-441F-B8EC-CCE8E27C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9B1B9-6D8F-4D89-8BA1-B66D5E33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Implementation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6FA9D-8F55-40B0-9D82-B7D9040D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6/16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888D8-D37E-43C4-8CC4-BAE69528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763250" cy="474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FC14E-3D67-4E70-B1AD-581D235C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A4735-71EC-4C9F-A3EC-1DA1490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04950"/>
            <a:ext cx="882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Implemented artifacts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F8EF9-1C49-416E-BD4A-07E7C65C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A6F5F-07B9-48F0-A598-8F54799A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F5D52-9A55-4E79-88C5-E02FC8D8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288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transformer, HMAR transformer, flat AR, flat MaskGIT, VQ-VAE, Patch-VQ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01AE5-3395-4259-A478-851928CE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58816-CA6D-4DE7-BDC5-73737A68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47C32-5353-4CB1-9A9A-21F36628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66DE4-9EF7-4AF4-88C9-5F55D696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812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Lightning modules for VAR/HMAR/flat/VQ, checkpoint helpers, overfit/debug/full configs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66DE8-3D1C-4F2E-9D54-7AE8075D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9277D-5090-4597-BA00-B53ACD6E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FA0FC-5E7C-46C0-B87C-E2C588CA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337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preprocessing, grouped splits, deterministic tokenizer, palette extraction, dataset mixing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BCFBD-5277-4362-8B01-9028B95F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954CB-F46B-4E53-B95F-5263FBC2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B149B-2E25-4379-974D-4640D17C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6137B-FE06-4DBA-BAE1-9C9440FB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861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evaluator, decoded Patch-VQ evaluator, image-folder FID/KID/PRDC/MS-SSIM evaluator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3AD83-6758-43A8-AE67-BCC7FF13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68509-1551-4BF1-ACE7-989FCC1F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Audits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262AC0-6345-4D65-8418-2FBFE047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386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memorization audit, nearest-neighbor artifacts, sample-sheet builders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7066D0-03B1-45F4-BBC1-21AC4BBF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F1E7C8-FC68-496E-ADA5-A8C0F269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4DA752-F5D5-4D88-A856-325A2EC8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E43B39-D4F4-4C98-A573-B1EF4C54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910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adapter, SSD-1B practical diffusion, Pokemon sprite LoRA, image normalization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CA221D-40A0-486C-A40F-E93CB8D2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B961AE-0906-468F-A2E2-ADC24C9D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A8E2AF-3EC3-452C-A8E2-EDB79E64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435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B200 actions for preparation, training, evaluation, generation, baselines, audits, downloads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45BC5B-3FBF-4D35-9F09-2C3FD205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6CAFCD-FD75-4835-9505-70D40040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B8CE49-C254-4E06-9DCF-36B2432E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B39582-635B-4660-A3EA-E35B1426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959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tokenizer, splits, palette/transparency, dataset, model, curation, VQ-VAE, external adapters</a:t>
            </a:r>
          </a:p>
        </p:txBody>
      </p:sp>
    </p:spTree>
    <p:extLst>
      <p:ext uri="{BB962C8B-B14F-4D97-AF65-F5344CB8AC3E}">
        <p14:creationId xmlns:p14="http://schemas.microsoft.com/office/powerpoint/2010/main" val="36007781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0A29D-27F4-4769-8199-88B3FF87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2CEB4-285F-4C12-974F-4CEF71A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B00DDA18-02AD-43FD-B99B-962FF453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B98CF612-8FD6-42F2-8E45-E2659988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PIXELVAR SAMPLING SWEEP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CE9BD-57C7-4382-A25F-2BA47EE4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checkpoint was chosen from a temperature/top-k sweep, not a single cherry-picked setting.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4C2854-3238-4FF2-BEBA-43CAF333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3D8DB-8E10-471E-87C0-3B5F4702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Sampling sweep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E30A0-744C-4577-8A30-9C7B0E5E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7/16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18FCB-2C63-4B83-B150-9D7DA4D3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CD0F4-B9D9-4928-9569-101AED1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4056B-BD6C-4A82-B996-082D08D8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CEC29-14D5-41B3-9F3F-80BD4157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Feature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A0345-B7E5-41AD-8A78-4A6B9619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23397-4558-4892-BFD5-2EBE83E5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17AEB-9A0B-4D3C-9322-CD6C6B3D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240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C14C0-3EE0-4EC7-A7F7-7C754BEF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18BFE-B833-4647-AE31-DC235ED0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B801B-D16E-446B-8A2D-7EC07425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1D156-CB47-430F-8A08-BBA0277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478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B83BB8-658C-4502-9E13-471177F7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DCFDE-D7F4-4A90-84C6-D7B4659B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3AF32-2317-4531-BDC0-814A763C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47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928464-D140-4F82-9081-CA2EA82E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4AAC6C-4066-4709-87FB-8F8A7108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B5D31-3E78-4CB8-88CD-D93A80DD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C4D311-1E32-423B-AA31-CCD0D8A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04E2D-EF40-440F-B996-C7A7CDDD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669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E43BA-1324-4309-AF6B-8E427195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DB6861-9AAD-49C4-A8E4-5DA5388D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0.2381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E37EA3-6859-4F66-8216-1D22F936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0.1865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A8BE2D-34F1-4C2D-B266-A258748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977842-DA45-43E0-9F1A-32AC4285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42406-1D89-4713-B6FA-53BD25B7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9578C5-64DC-4919-9CD6-C2777836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0.00392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71B6DE-111F-40AE-84BC-AEE3E1CC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A0CD0C-4F63-4C3B-B4C6-5B559655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6EDB78-F049-40A7-AC34-511470CA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0.1829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E9C55D-DA86-4BFA-893B-18A599BC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AE5A0-39DA-4FF8-A03C-1EDBD76F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C6F33F-D5A5-46CB-9BFF-9F8C4B27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09D5DF-E07E-4C39-9D29-94CB4A2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2CBC9D-55D0-4EAC-A625-2A720751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0.00402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80C7B7-A872-492B-90E6-12542ADC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7E72EB-3B79-4E5C-9DD8-26D98687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0.2335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A2CCEE-DF07-4652-AFC7-ADC630EE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5C0EBA-FD24-4B02-8256-CD32A00A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F7391D-074A-4B46-A365-6CC88EE0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1A122F-BEA1-45FC-B1CC-28A2BA93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35DBAF-6BE7-4730-B3EF-95FFC944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242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0.00596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2E9932-8464-45EB-A705-C681E7A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712CF29-D7A5-4238-BF63-C3150001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0.2220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19909B-04E6-4C8E-9C1C-05522204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0.1761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23E063-1B63-4C99-8919-A20AB0CD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EDA3BB-F2A9-4D98-A8DF-70362397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E30B001-A8DB-412C-9614-26A0D24E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1CC81F-244B-4F08-A1CF-E49F53E9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EA65BA-9BA4-48D3-9B8C-94CCE565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433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0.00637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5DBFEA-1721-4CBB-B670-CF205B6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BE3F02-A403-4770-A28C-65BBEFB2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0.2459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E375A2-E66F-41DB-BE06-B3E8B97F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433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0.1917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07C3E5-649C-481E-A548-F7EE5C0D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0CE6BB-8BE0-40FF-9CB0-3488F977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EC4FAA-9134-40FD-B272-1C49BD4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47BB024-DA10-4D75-9EE1-A33706DC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0.00659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C0790C-DDC5-4040-8BDD-CE82E355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582AD3-289A-4CA1-A0A5-DE87D50C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0.2172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B2EB21-DC66-447B-9890-30A23844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0.1724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0DEE6B-D1B4-4F67-B2A7-C8A4D816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0F9FB0-4568-4C15-ABD9-1B71B15F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635203-9743-461B-94B7-05234C9C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3BD96C-0F59-4946-984F-BA42CF5B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337F74-2BEB-42F3-8D53-5521A967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0.00856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59F7A24-FB7D-4BA8-BC9C-D1176AFF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8B974FD-F605-4FF3-B352-5C1AB463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0.2164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430CB1-1F0C-4F35-90A3-EB7B8792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815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0.1716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A2C202-0A79-4526-A04E-9CC7D646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C51D39-68A9-449E-BD50-E2962F42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76F43CA-94EA-4E34-BC93-BCAF81AD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6190E0B-FA2E-41D8-95EE-CE5EF6F4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00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0.00956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6A42B4-5233-42BF-8BE0-DE3CDE20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90982F-22DB-4BFD-B03F-53507A39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0.2172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83AAD7-4CE5-42B4-93E3-13BE2B81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00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9238D17-1674-44EB-8B8F-3BBE4A43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0fae3097945c0"/>
          <a:stretch xmlns:a="http://schemas.openxmlformats.org/drawingml/2006/main"/>
        </p:blipFill>
        <p:spPr>
          <a:xfrm xmlns:a="http://schemas.openxmlformats.org/drawingml/2006/main">
            <a:off x="7372350" y="1543050"/>
            <a:ext cx="3257550" cy="3257550"/>
          </a:xfrm>
          <a:prstGeom xmlns:a="http://schemas.openxmlformats.org/drawingml/2006/main" prst="rect">
            <a:avLst/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1D8E77-5953-4094-999E-F8121C50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Reference validation: opaque ratio 0.2354, edge density 0.1811, palette consistency 1.0000. The best score also keeps structure close to reference.</a:t>
            </a:r>
          </a:p>
        </p:txBody>
      </p:sp>
    </p:spTree>
    <p:extLst>
      <p:ext uri="{BB962C8B-B14F-4D97-AF65-F5344CB8AC3E}">
        <p14:creationId xmlns:p14="http://schemas.microsoft.com/office/powerpoint/2010/main" val="142829636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574FA5-EFA4-41B2-AC16-9DFFE4E3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3B541-1CA3-4E63-B326-D335D033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84FDDF6D-95E9-407D-A19E-F0116BEA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65CE3775-AB7C-48C3-B487-A863735B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HMAR REFINEMENT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0806C-322F-4490-8B22-A4A59BCC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HMAR worked, but more masked refinement did not improve this low-resolution palette-token regime.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02444-5A4A-4617-8455-352B229D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38B8A-AF8A-4506-9314-BB434ABA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HMAR ablation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507CE-96C0-48EE-A729-A1FCEEF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8/16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1ED93-4C36-4C5D-A0CE-D0E53172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8F9F8-9F9C-4AD1-938F-7A512F78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Refinement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2DBC5-63BD-409B-912A-EC1DF2AE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049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Best temp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4CF56-D3E2-42A6-9CAE-645C502C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04950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Best top-k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D0EE1-A133-4829-A365-12334E48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049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Best 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AD3A0C-2A5A-43A6-85F6-97279218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8B0A0-DEB5-45D6-B234-3F2824A2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049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8A901-78CD-4C9E-982B-6EBAD296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049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43EC7-D361-4DB8-8903-F6C95011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9C9C9-BB87-4EE3-B93F-2180A10A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B105D6-5BF0-4CD2-AC58-8B170DF8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288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B3F9A-E746-4BC9-9E08-DF521E3F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288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95BC32-3AFB-4E85-9B2D-D011C6E8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288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FD85A-A2F5-4DC7-9643-87D608D1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13AD7-F3B4-4B1D-BF47-816303E3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288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6BAD9-15BA-4C52-88B5-1E666A72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288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closest HMAR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BF4CE-67D4-449B-AA90-A3127AFA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6568D-D7E2-47DA-A6F2-EE9E072A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B3ECF6-EAA3-4AB6-9DDC-C6BAF67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90FCF4-51BD-4456-B0AC-5D2D4913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1948C-3866-49C1-98CF-B1004254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146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C296FD-2193-4234-9A67-F68551E8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146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282DC2-537C-41A7-8DB6-021D093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146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270FCA-F6DC-4AB6-AEC1-6901412E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146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9D1387-5BA3-4DF5-9AB2-93E5E8A0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146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 than step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31CB46-49E6-49C1-A1DB-AA7FFDBA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9D47B7-1132-4070-B7E4-149E3B0F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B13E79-1DD3-47F9-907C-D05EBFEB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A99D3F-188A-409E-A13B-747532C9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BCEB92-CBA7-4F4C-A5DB-0E175C1F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004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52783E-35A5-46F8-8D48-D4B59054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2AD4C0-499B-4C90-A58A-6B356ADA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004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0.1823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434B38-9A26-4021-AA4F-B0EF116F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004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slightly better than step 2, still worse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F7A86A-6650-448D-A701-295F8883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76B4D9-2B6B-4989-9FD2-42FABEAB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F05F89-6980-44A6-8EB2-BBF597BD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BD8978-2ACC-4BC6-A02E-D2F13EDB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9FB333-0B8D-4723-B207-C7269A20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C8AED4-C69E-4C76-9C78-5BA599D1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862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7E7ECA-7E4B-49E9-93BD-DCDE3EA1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0.2191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987753-277E-4243-80E7-7776EC9B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862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79465F-239C-4D59-A1E3-1AF0911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862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over-refinement hurts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FE5A4B-DD29-4055-9B1C-CEC06B7F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09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01e56986d47ce"/>
          <a:stretch xmlns:a="http://schemas.openxmlformats.org/drawingml/2006/main"/>
        </p:blipFill>
        <p:spPr>
          <a:xfrm xmlns:a="http://schemas.openxmlformats.org/drawingml/2006/main">
            <a:off x="8515350" y="1698241"/>
            <a:ext cx="2305050" cy="2566169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F1DBE4-D370-4379-A084-B0B80F6E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ED4F6A-C3C2-42B5-B237-431C5A7D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Option B was implemented and trained successfully.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7D661C-6996-450D-9350-66BFB0C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1142C2-1022-44CB-9D4C-57BF5BE9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Step=1 is the only HMAR branch close to main PixelVAR on the sprite-feature evaluator.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C8CF76-A2CC-4BB9-BF89-2D132354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650C9B-FA20-4A21-9CB0-E09C6076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hypothesis that more refinement would fix tiny outlines was not supported here.</a:t>
            </a:r>
          </a:p>
        </p:txBody>
      </p:sp>
    </p:spTree>
    <p:extLst>
      <p:ext uri="{BB962C8B-B14F-4D97-AF65-F5344CB8AC3E}">
        <p14:creationId xmlns:p14="http://schemas.microsoft.com/office/powerpoint/2010/main" val="34237866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790B8-03E2-4C33-A67F-1DBA86F4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03D80-18CD-470E-B32A-5A7110B8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marker">
            <a:extLst xmlns:a="http://schemas.openxmlformats.org/drawingml/2006/main">
              <a:ext uri="{FF2B5EF4-FFF2-40B4-BE49-F238E27FC236}">
                <a16:creationId xmlns:a16="http://schemas.microsoft.com/office/drawing/2014/main" id="{EE69A35C-DDEB-4247-9640-F08A0C3A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5E79E3C9-888F-4AD0-809A-0C16BD0C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KNOWN IMAGE METRICS: FULL INTERNAL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A647E-4B57-45A2-94DD-A9DF42D1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Inception metrics favor Flat AR, but that result is not trustworthy without the 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8407A-CFC6-4133-BCE4-F61CA85F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67BDF-1E1F-4613-B8B6-1A3312B2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Known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EB12B-498D-4619-9697-EDD41758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9/16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4D8D2-F8BB-40AD-8399-A0F2D08A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10490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490DB-4C35-43D6-88C3-FCABDFF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C736F-ED6A-4167-BD64-B3590F0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02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D259D-CD52-4C06-8DBF-888171E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0878F-5C3B-4F30-9CB4-3D5EF2F9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002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C1673-7A54-4F0C-9504-FFFA50E3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002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085AD-2892-4FF5-BAF0-F40C31D2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02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C6881-9A8F-495F-BA75-EA25B757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6002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2DC82-885D-49FC-8E52-7E9081C0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5BB45-E7A8-4B07-929D-0E541797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00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E22C2-5E73-4B84-AC16-1F4D36A3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E1F53A-649E-4CD3-B5D4-BAEB165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DAB646-FCF8-4F0A-B07A-05CB52A5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4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9.3558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3F706-6A1C-4345-8936-EB11FA37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A6E66-83DB-4BAA-896E-E926C8ED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0.9172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B42AA0-D406-4B35-A8CD-0DE9410B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9240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0.9541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E3188-EE09-432B-B8D1-E74E0380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0.7654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901E8-E1DC-4E33-8A88-3732B13F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9240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0.8518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9F2A7-7503-408C-AB25-1EB1BFD9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0.8281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2FBBE-3FB1-41F0-9363-6AD14488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24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D5430-FDFE-4A57-8BF5-015B5731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9F2877-0EF5-41CC-957F-CD53E787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58253D-A219-4FD5-91B9-2F98A8F0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BED956-7F0B-4CAA-BD91-E7403456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12.6555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DAE89E-2D6F-4277-B67A-DFE0DB3B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0.005209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AB44E0-5C4A-4CB1-9AC9-91BDD59F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0.6494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F52C28-6C62-444C-BC24-5988C656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003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83A6BE-8F4C-4938-906C-75B74EF5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0.4136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6F9E1A-AA6D-4C67-8E5C-DF5A996A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003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0.6165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6F448F-B225-4683-A3AA-19E8FDB2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1E2BBD-0E92-422C-9593-5A8E0203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00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810DF0-A8A5-4005-89A4-B40D8791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0162E8-A845-4235-B377-95522599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E64E0E-EC34-417C-A5AE-F1D482CC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76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EDA4E5-9843-45F8-AC87-D7290D2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0.006010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7C1EC4-8330-45E4-9A67-5E0F45B0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924324-DB3E-4F0C-B94A-F693E96D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8765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ABA2E4-CDEB-48D5-99E0-5FD4C853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76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0.4093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7ADF14-AF48-4E89-8D02-816D0468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76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0.6050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601027-DEE6-423C-A626-DFFEFFE1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0.8323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BBA111-B8DC-48E1-A8EE-17F0B73F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765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89680C-4EA0-453D-B62F-565A358D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58969CD-B25F-45A9-8503-D72FA481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C9C313-2664-44E8-A212-B2DA6E28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D9BDB0-5A42-49AC-8217-FB797AF3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528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67.3908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63D043-AA9C-4F07-85C2-2415369E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0.061825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95EC78-1676-41D3-B9AB-B40DD541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0.1545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DD8428-9163-4AD0-A7A5-7A78D6DB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528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168C15-D2CE-41A9-8745-D8300A61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0770A9-8694-463C-AFD2-772328C2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528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09BB38-B758-4670-8687-49A4F733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0.9426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155C13-3A87-4383-BDD6-9D91E033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52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AEFE51-AD65-4341-BA21-9C41F227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7cc9d31264594"/>
          <a:stretch xmlns:a="http://schemas.openxmlformats.org/drawingml/2006/main"/>
        </p:blipFill>
        <p:spPr>
          <a:xfrm xmlns:a="http://schemas.openxmlformats.org/drawingml/2006/main">
            <a:off x="1715492" y="4229100"/>
            <a:ext cx="2665016" cy="150495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99A95C-F39D-4918-9BBA-A87E0EC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b07573360423a"/>
          <a:stretch xmlns:a="http://schemas.openxmlformats.org/drawingml/2006/main"/>
        </p:blipFill>
        <p:spPr>
          <a:xfrm xmlns:a="http://schemas.openxmlformats.org/drawingml/2006/main">
            <a:off x="7123509" y="4229100"/>
            <a:ext cx="2821781" cy="15049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3B3B3E1-43C5-46AA-9F08-EE0B4B16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Conservative reading: HMAR and PixelVAR are the strongest non-memorizing candidates measured; PixelVAR wins sprite-feature, HMAR slightly wins some Inception metrics.</a:t>
            </a:r>
          </a:p>
        </p:txBody>
      </p:sp>
    </p:spTree>
    <p:extLst>
      <p:ext uri="{BB962C8B-B14F-4D97-AF65-F5344CB8AC3E}">
        <p14:creationId xmlns:p14="http://schemas.microsoft.com/office/powerpoint/2010/main" val="75689519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50C189-F4B7-4933-99CB-E2166B28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95479-EA6E-4D1A-80AD-DA994ECF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2-marker">
            <a:extLst xmlns:a="http://schemas.openxmlformats.org/drawingml/2006/main">
              <a:ext uri="{FF2B5EF4-FFF2-40B4-BE49-F238E27FC236}">
                <a16:creationId xmlns:a16="http://schemas.microsoft.com/office/drawing/2014/main" id="{F1B04B4A-D4CE-4F7A-9940-E21E4934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2-label">
            <a:extLst xmlns:a="http://schemas.openxmlformats.org/drawingml/2006/main">
              <a:ext uri="{FF2B5EF4-FFF2-40B4-BE49-F238E27FC236}">
                <a16:creationId xmlns:a16="http://schemas.microsoft.com/office/drawing/2014/main" id="{22617A1E-5B55-4E6A-BF62-2E8C5AC3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PIXEL-ART DOMAIN METRICS: FULL INTERNAL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06178-0B95-4F33-A51D-B48FB3A1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Palette consistency is perfect by construction; structure and exact-match metrics carry more interpretive weight.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585DD-5D2F-457C-B53E-2A9C8544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945EB-63A8-4E8A-8DF9-9AFAD50C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Domain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A4B44-A932-4B5D-8CAF-FC9C0933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10/16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546EE-28C2-4F1F-81F3-63A492E3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85900"/>
            <a:ext cx="1123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1825A-045C-41DE-A485-6AA1654F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68D59-099B-4159-894B-76D7762F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5621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F38AD-D267-4A06-8CE3-42413EEE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C2D98-71D1-49E9-9354-14F06C7C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opaque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0E5F6-7E32-45B9-AF83-622E8A62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621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62E9D-95FE-4A4D-974E-BCF8DF13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621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CFF69-7B93-45D8-8FCD-8B440136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Unique colors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1B4BE-D894-4817-9921-7236E7CA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 NN L2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8AAEE-3583-448C-8D1D-5BD7D9B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62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BD41A-5A48-4AE1-99FE-64AD9464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9BAF5-D60A-4366-B5D1-3E00055C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26D578-80C2-4010-BAB9-E5C6CEC4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859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4601A-EB67-4898-AAFE-F1253513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859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07F04-8BA2-4A5D-A2CC-579D9739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859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DB5FC-CC4A-4C41-AF6D-06897033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859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A18E9B-BEED-44AE-9DD4-D5837DDA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859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F97918-355F-465E-A3E1-3F55FA0F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11.9294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8F48F-A9AC-4D02-A4F0-15C86302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5.2384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3AEBE4-0044-46B6-B769-6296D09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F2CA9-0385-4730-9E1E-0C3BCF19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B06719-71D1-4239-9055-E5A09F1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BB448-332F-48EF-B07E-EE26511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EFAB96-7ED6-4C11-8889-1530092C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003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30690E-7F20-4A9D-8A83-E8BFE061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1C29B0-E4CD-42BC-8585-2FA5137D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003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CA9292-193A-447A-AEF9-A66D89BA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9EC584-FA8D-422B-8248-A9E57A96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003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EF7A9F-A4B6-4FD5-96AB-B08281C9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11.8301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1DD2E1-7D3A-4787-9D39-176878B3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5.2180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7C56F4-54B7-430B-8A63-801778D3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03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0.000488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9F0E0F-EC88-4E3B-8D79-70BB6B00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335B14-22C8-4AB5-B04A-7D1A920F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01B051-24E7-4E11-8528-763EE2F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BCC498-D73B-4490-B511-5A5B5BF5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146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0.2321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868603-91C6-4F6C-BD83-E53073C1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146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196F59-4C7D-4A2C-B92D-753806C9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0.1790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F2E46B-4C4C-4D7F-BA02-EEAC892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146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BD9447-1605-4057-8250-DFCE323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11.0378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C9AA41-C4C9-435C-9174-379DF865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3.4928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803247-6556-4FA1-89AB-40861DAC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0.011230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7FC15A-21EB-4620-A2F8-0F01C3CF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A8249F-76F4-4DC8-AAC0-797D8803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C468D0-CAC4-495E-B8CB-35952348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A51D8C-5030-4216-A18D-167881B9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29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74E846-955B-48BC-B914-7FB5455F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0.1942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D9A686-6DF7-46DA-91DA-BAB42F88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290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41F3C7-8383-46EB-AF11-5095C42C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0.1631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9FFEC6-0984-4F51-BB3B-5FDE4A7A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290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5BFB0D-27BE-4AD3-9467-E8E954B1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11.8718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3D690C-41F5-40F8-8224-075ECDD6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9.5599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9FF8B9-461D-49D2-B299-742DCD8F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93F4D7-8C24-42D8-8CEA-C9664E2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F312B0-F822-4B26-A5D5-3A9D8F12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2A0E66-95AA-48A9-8332-AA2035E0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960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How to read it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9CFE6C-B1D9-4B55-9FD3-1A48981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960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PixelVAR and HMAR match reference edge density closely. Flat AR has great-looking metrics partly because it reproduces data. MaskGIT under-fills sprites and loses coverage.</a:t>
            </a:r>
          </a:p>
        </p:txBody>
      </p:sp>
    </p:spTree>
    <p:extLst>
      <p:ext uri="{BB962C8B-B14F-4D97-AF65-F5344CB8AC3E}">
        <p14:creationId xmlns:p14="http://schemas.microsoft.com/office/powerpoint/2010/main" val="202570662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7AEF5D-BE52-42DB-994F-CEF19E93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2DDB1-3118-41A2-912F-8D2DFB40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3-marker">
            <a:extLst xmlns:a="http://schemas.openxmlformats.org/drawingml/2006/main">
              <a:ext uri="{FF2B5EF4-FFF2-40B4-BE49-F238E27FC236}">
                <a16:creationId xmlns:a16="http://schemas.microsoft.com/office/drawing/2014/main" id="{1D52B3EB-68D1-4F48-86B4-995F4456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3-label">
            <a:extLst xmlns:a="http://schemas.openxmlformats.org/drawingml/2006/main">
              <a:ext uri="{FF2B5EF4-FFF2-40B4-BE49-F238E27FC236}">
                <a16:creationId xmlns:a16="http://schemas.microsoft.com/office/drawing/2014/main" id="{10E1B4B7-EC22-490D-A67B-F94C4588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8A496-317C-4478-9BC0-F6C34048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serious read uses metric families together, not a single leaderboard number.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88FB9-53C4-4C6E-87E1-1575D170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AA5E9-4699-4C0A-8058-470F6C82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Metrics caveats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CAD51-797A-4495-A854-F25ED68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11/16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DAC39-FE9D-454D-A05E-98061B7F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763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EF502-B673-4F97-B726-DA14C711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375C9-CE57-45CD-A4A9-CC934A83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0495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it tells 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49A82-F043-4446-A5DB-5A4E3BD4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How we used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60139-B78A-4B85-8B7C-11A648D0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B62F7-2725-4BB0-9508-A2595AE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1D43B-F5F5-4032-A43B-5163355A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28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Frechet-style distance over sprite-specific palette, silhouette, entropy, and edge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BA2D6-2924-47F2-895A-11B5FE55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internal selector for VAR/HMAR/data branches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FC510-D40B-4707-939C-2B90740D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FB426-6F34-43D6-9783-DAB919F2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BBBF8-09CF-4524-B460-FCF53E85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/ KID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9632B-B0DE-4CB6-A5D5-5D06235C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003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standard Inception-feature real-vs-generated distribution distance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1022C-2572-4254-BC8A-7FD47CF6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0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reported for credibility, but caveated for tiny pixel 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2A205-1B41-4FF2-8C5D-6A4C84C8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4041E-903F-490F-A72B-B924133F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Precision / 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DEE02-50B1-4BF7-B005-93DD7132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fidelity and distribution 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7A211-741C-47D7-A795-9B10AFA3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71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read together with memorization 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9059A-4206-46E3-A353-BF69D50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03CA1-5EAC-4A57-BB67-6B15C465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697EC0-CC35-47B4-A2F0-89675CFB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Density / coverage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4245A9-3E08-4E54-9DE4-BD0E9A54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433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PRDC neighborhood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18AEBB-426E-4196-A082-65DDBDF9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43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 are far below PixelVAR here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59F4C0-D4EE-4880-8146-4C72FED7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727A52-C0C3-4097-8999-06A8DE6E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02DA0F-4315-4EC9-B4DC-667C37CC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sample diversity proxy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A436DB-A829-4BEE-B0CC-FB55E533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14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lower alone is not always better if samples are malformed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4B9CC1-B132-40DD-8E3D-996B3272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1A22F4-639C-49D0-8CA3-932A8F4C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C65627-7292-4E2F-8A0C-2CDA640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metrics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94F22B-B145-4ADF-92B9-4D831C2B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compliance, unique colors, opaque ratio, edge density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0294CB-1392-4134-8A43-145EF699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86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domain checks; palette consistency is expected for token outputs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B92BCE-687C-4F60-83F6-C54C6B2C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9DD99A-35FE-4105-B2A5-8C83BA44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FD1645-E243-45A5-A78F-1BDCD071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57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token maps copied from train/val/test or duplicated internally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631E42-732D-44BA-88EA-F0C7D033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57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decides whether Flat AR is a clean winner or a memorizer</a:t>
            </a:r>
          </a:p>
        </p:txBody>
      </p:sp>
    </p:spTree>
    <p:extLst>
      <p:ext uri="{BB962C8B-B14F-4D97-AF65-F5344CB8AC3E}">
        <p14:creationId xmlns:p14="http://schemas.microsoft.com/office/powerpoint/2010/main" val="164767908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B5C2F-DAE3-41DD-B89F-ADC22C23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FCA5D-E2A4-415C-A4F2-EECE66B1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4-marker">
            <a:extLst xmlns:a="http://schemas.openxmlformats.org/drawingml/2006/main">
              <a:ext uri="{FF2B5EF4-FFF2-40B4-BE49-F238E27FC236}">
                <a16:creationId xmlns:a16="http://schemas.microsoft.com/office/drawing/2014/main" id="{EDE710E4-C23B-449B-A63B-33542E3C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4-label">
            <a:extLst xmlns:a="http://schemas.openxmlformats.org/drawingml/2006/main">
              <a:ext uri="{FF2B5EF4-FFF2-40B4-BE49-F238E27FC236}">
                <a16:creationId xmlns:a16="http://schemas.microsoft.com/office/drawing/2014/main" id="{A0B209F2-2003-4C23-8838-D99F5252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MEMORIZATION AUDIT: FULL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3A710-C27A-4556-B510-09FB7E26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Flat AR's raw metric advantage collapses under exact-match auditing.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CDB30-2894-47E5-A36E-B88DB1F5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2127D-CB82-4291-8FDE-74AE6E37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Memorization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AF96A-C9FD-424D-94B1-B7D5BFCE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12/16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76716-1BB9-4896-8D4B-33072F47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9906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41B30-07E6-4160-B3E1-586D29E4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0EBD6-1E0B-4C7B-9290-68A62D04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573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Train exact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723C8-CF80-43B8-8CFA-568017CA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573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C43FA-3B54-4EDF-8B50-81BD723E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573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14DB4-70FA-4CE4-9271-07C2124D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Generated duplicates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87B59-4E72-44D8-9E62-584BB81B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573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DD817-587B-423D-9A4A-A5E4589D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159ED-C275-4D80-930E-F7FCABF1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341DE-F0CB-47F1-BC4B-F2D99B51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812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AD757-6D28-498B-BB59-C2BC3DFA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E6E84-C5D4-4DEC-BA89-75C25559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81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8ED94-52F7-4DAC-B7CB-C51FD980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0347B5-5603-4C5E-8627-AC06DE32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 exact-match rate; disclose and keep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76400-039D-4FD2-BA5E-AF1CEE3C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05280-505B-4F3C-A2C1-7F28460B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1E5BA-2910-4724-B6A1-311FB07E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7C34F-F674-4C29-B39B-B361D046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527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EF58CF-A075-49A0-B99A-6E8AA904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527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C0DF76-B557-4238-A573-041A2D1C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527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FDC12-EC9B-4F28-A651-DC61EC29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C797EB-552D-4185-9C25-5EE4F3FA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527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 exact-match rate; disclose and keep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7B3E62-9A46-4ECD-BF7D-564FCE8F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918F7-4655-40A7-8598-BC21685A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28E8C5-46F1-42AE-A26D-4582E2CE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242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3162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76049C-C086-4319-AA2B-DA22455E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51DD71-6447-4DC5-8122-2E0C518A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AB1C6C-C4FD-4543-AEB8-19D4A4F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242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F1FCF6-4C5E-44F5-A10C-18803E34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memorizing; disqualify as clean winner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284735-AB51-4335-A72B-5F9AAED5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4286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8bf7d30e94825"/>
          <a:stretch xmlns:a="http://schemas.openxmlformats.org/drawingml/2006/main"/>
        </p:blipFill>
        <p:spPr>
          <a:xfrm xmlns:a="http://schemas.openxmlformats.org/drawingml/2006/main">
            <a:off x="1735455" y="3924300"/>
            <a:ext cx="3291840" cy="18288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B7F92D-3CAD-4FD9-84DD-088E5F9B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C71899-C7D1-4192-959C-9E52AA57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A52B2C-F58E-4963-B561-D452ED85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Split check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76BBAA-15A7-4239-ABAB-812ABA92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3790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The processed dataset has zero cross-split exact duplicate hashes. Held-out exact matches are not explained by exact duplicate leakage between train/val/test.</a:t>
            </a:r>
          </a:p>
        </p:txBody>
      </p:sp>
    </p:spTree>
    <p:extLst>
      <p:ext uri="{BB962C8B-B14F-4D97-AF65-F5344CB8AC3E}">
        <p14:creationId xmlns:p14="http://schemas.microsoft.com/office/powerpoint/2010/main" val="204946476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6F9FA-B132-434A-BF8A-72E75FD8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F3044-9F1D-4521-9B88-A8092484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5-marker">
            <a:extLst xmlns:a="http://schemas.openxmlformats.org/drawingml/2006/main">
              <a:ext uri="{FF2B5EF4-FFF2-40B4-BE49-F238E27FC236}">
                <a16:creationId xmlns:a16="http://schemas.microsoft.com/office/drawing/2014/main" id="{F4134B0D-3127-4650-BFD1-F99B6063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5-label">
            <a:extLst xmlns:a="http://schemas.openxmlformats.org/drawingml/2006/main">
              <a:ext uri="{FF2B5EF4-FFF2-40B4-BE49-F238E27FC236}">
                <a16:creationId xmlns:a16="http://schemas.microsoft.com/office/drawing/2014/main" id="{47F35165-45A9-430F-BB2C-8662FCF7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 STATISTICAL STRENGTH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BDE21-027B-4794-ADC7-B6B72837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rows are serious attempts, but they do not all have equal sample count or task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186F3-5123-4D31-AEDE-E716FAAD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B80B2-0147-45FE-A0A9-A4B2D21B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9D0F6-2215-4331-8208-6025767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13/16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CA7D5-093C-40F5-BFDB-F3C9AC53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11239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EF3F6-112C-44AE-AE5F-63A64D89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438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40DC9-E401-4151-8E12-3112BA7E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44780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3597C-8AAA-4432-B859-92746A5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47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included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DAF5C-CDE9-4E39-8F3E-F2AE4416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47800"/>
            <a:ext cx="3343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caveat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B3CFC-BB3B-470F-B17E-6FDE478C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47800"/>
            <a:ext cx="2390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D902F-DC8D-4C04-9C46-AEDBE3FF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67B61-514A-4771-8DF1-812E1F6A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2B930-D713-4D43-9578-987609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7165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AA3FA-F6B7-4490-9C6F-279A8E7F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716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most targeted low-res/palette released-code method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BCAC1-4316-4B73-B340-B26EE8D3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7165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per-image prompt/image optimization; visually failed after adaptation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FB1EC-55BE-41A4-A1FC-52C91B4D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7165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 as targeted attempted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4E724-4857-413A-B9D3-567F4384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DE870-0068-43D4-A9C3-C359C58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1123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72D9C1-B19A-4901-A4B9-79D5BB20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13659-8080-45A3-AA38-BFB501D0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43840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BE2C4-BAFF-4892-9963-03B382C3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384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generic practical diffusion comparison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B55A7-51F5-462A-804B-F383BF1A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text-to-image, prompt-sensitive, many malformed crops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D7BA4-B4CF-40A8-8784-124410A4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3840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smoke result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F583A-4371-4B11-BAB7-D95A1C77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289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7DB51-7D66-4339-9557-8F0E5855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primary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E64A17-E02F-4887-921D-5E08CBF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88E509-18B7-4CE4-8F80-7119C841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scaled generic practical comparison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7478F9-CB19-4EFB-9A26-BA479DE2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0515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still far below PixelVAR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7B8F98-2572-4390-96D9-D4B34A1F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0515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 generic external row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402BB1-DC5E-471C-B3DC-AC645A7E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957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DC57DC-AF9A-413B-B846-FD288B51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95700"/>
            <a:ext cx="1123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90E6BC-979E-4146-A43F-BE32133D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 LoRA smoke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38D46C-C333-4A62-8270-9CE524ED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7190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88D432-76C6-4C9D-82AE-1BABD8F2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719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more targeted practical sprite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FEE6AA-1DE2-4FAD-8721-546F3AE2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trainer style, not MSD; frames/fragments remain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AF9813-1F4F-4CE6-B9B0-EFAD06E8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7190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smoke 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F0E932-7E22-40B6-82EC-11CEE1C0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CC482B-E50B-4B10-BA7B-4EA29A6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 LoRA primary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60EFC7-9649-44D6-9190-A7DF85EE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43865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5B9A40-ECA8-49A6-AA77-F7BDB032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386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accessible practical sprite-specific generator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A5D53C-C8A5-4954-90DE-AA79786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3865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architecture-equivalent; still below PixelVAR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5893B0-B467-4D54-BE10-F0F52ED3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3865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primary practical external row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984E57-0511-4F13-A61F-2DCC844C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5D5444-DC97-413A-8EF4-EC143961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1123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E959FA-CB07-407E-8884-D0E17C1B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C788C7-B6A1-4A39-85C5-891C6AFD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10540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21D610-51B3-483A-BCD4-4FCBB1DC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direct character-sprite related work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6A5386-2F3B-4375-AB79-910EB8CA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0540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paired-pose imputation, not unconditional sampling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887A69-8562-4972-9188-74B502CB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10540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cite, not numeric row</a:t>
            </a:r>
          </a:p>
        </p:txBody>
      </p:sp>
    </p:spTree>
    <p:extLst>
      <p:ext uri="{BB962C8B-B14F-4D97-AF65-F5344CB8AC3E}">
        <p14:creationId xmlns:p14="http://schemas.microsoft.com/office/powerpoint/2010/main" val="15879343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AC784-68F3-4CD0-950C-22F524FC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61432-FBA5-4E79-8877-3E6AA25B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6-marker">
            <a:extLst xmlns:a="http://schemas.openxmlformats.org/drawingml/2006/main">
              <a:ext uri="{FF2B5EF4-FFF2-40B4-BE49-F238E27FC236}">
                <a16:creationId xmlns:a16="http://schemas.microsoft.com/office/drawing/2014/main" id="{02556B50-826D-41F8-97FC-84CF4D17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6-label">
            <a:extLst xmlns:a="http://schemas.openxmlformats.org/drawingml/2006/main">
              <a:ext uri="{FF2B5EF4-FFF2-40B4-BE49-F238E27FC236}">
                <a16:creationId xmlns:a16="http://schemas.microsoft.com/office/drawing/2014/main" id="{57E442D7-1570-4EC3-A76C-87128627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METRICS: FULL COMPARISON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1BB42-1A31-409A-B522-72A6F604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Every external output was normalized to the same 32x32 RGBA PixelVAR palette protocol before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48B15-EB14-4ADF-B999-9739AC7D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50221-8DE6-4BA0-A7C9-794E2C00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4A625-3C2B-4E10-9B98-39BDB8B3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14/16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95D78-DFE9-4443-8322-76AFD8FD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66850"/>
            <a:ext cx="11620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7FF93-158E-4257-A3A1-A82FFD0F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43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6738D-85C7-4E35-A852-3CB5038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430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7D644-65C9-4616-BF66-0E60B04B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43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FID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FCD91-FAD5-47E0-80B3-B5DE7984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FID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CDD16-1807-4B9B-9BD9-EDBDB8DE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430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KID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DE73B-7794-4266-AD8E-91CD7F9D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430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KID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6A5BE-FFFC-4B3E-B508-0DE09559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Prec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804FC-0131-4CFC-B4A2-120FE84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Prec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57B6D-E9A9-49EE-B768-20A4DC76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Rec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FDB17-83CA-4F9C-BF81-DFF39A7E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Rec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8F0A5-957E-4373-A856-C4985C47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Cov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14422-093F-47ED-89B2-FA3C4A18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Cov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6F17C-DEAF-4926-AD8D-125ACDEA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9FED1-C330-4796-8E90-CC5DC287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9070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EC0A2-938C-442E-9091-5F26709F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8669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C0F5B-3457-4714-B387-AD9BC630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669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F80A7-3080-4EB2-BD20-BF59C5E5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669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151.0927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3186A4-4CC9-46E6-8D79-94A04AE0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497.7065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9CADBB-F67E-4C99-9614-8FEAE2AE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669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0.014713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D2860A-6445-4C11-982B-AFA48AE3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0.517647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BBC958-5B6F-4F93-AC7E-E93EE005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79A318-0A3B-4DB9-BA33-8DCA1FA2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F25333-8CE9-4967-8A28-20C19AA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0.9375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8E9F58-282C-43DF-8A1E-E111886A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D95A09-A70B-4B11-B13E-F85EBE8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DC1303-7316-49AF-9D71-D7836491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3FABC5-D273-4DA8-91DA-C0DE5D6F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E2D252-B964-4C03-8A39-37284C77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431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AE14D3-9E86-4670-9E56-D03AFDBA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43150"/>
            <a:ext cx="1162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FCD2BB-7EC9-42AE-A44A-B00A3F37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193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smoke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E60B82-5C83-4378-84FA-5AE4A083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935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173721-2472-4E8F-AF44-56DF361E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87.8128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E43AE3-1CC7-4C6D-AAE8-CA8229EC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196.9628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2C614F-70AD-48B2-A56A-0A7535EE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193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0.007124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76EF13-39C7-4759-897A-7695D091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0.092097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B4B977-9A3C-4679-8B45-369831B4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0.8125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39EA66-1F1F-4D02-BE6D-0132DFA5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3CD02E-319D-4554-BC4F-28677282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0.9375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D9E6B1-EDE6-4957-8079-9D44E688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0.6719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49256B-815C-4E89-BD36-1C38C87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0.9219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C6EF8F-C26D-4102-A5A8-C5B0728F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0.0469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6AE30E-B3D4-4A5B-B0F5-1DBA0C99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0.3935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1A3E14-E598-40BA-BFAF-6AC28749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9560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137595-6AF5-4A33-9256-5F9AF7B0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718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primary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B657BF-CB79-44F1-951C-6DB8EC3B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718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35267A-8D79-4EC2-9822-0C73EE2D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718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46.4794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33E808-7C22-427D-9E05-EC1F9D9B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718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158.5819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BEE2B4-AD78-46EA-B1C0-DCED2DA9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718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0.007480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BE2A9F-435A-4020-8842-2D2B474F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0.102159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086BD8-DA33-4EE2-8CF2-9E6EDC4B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0.9102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C1D939-891D-4FEA-9C98-EAB4E643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0.0547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4D6782-A116-4D6F-A475-760E07DE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0.8711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696EA0-5AB7-49FE-A383-0C30AE4B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D9246A-B155-41F0-9DAF-827BF347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0.8906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2D2F59-403B-4EB8-BA1E-C5A5326F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0.0352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0CDB3F-7858-4F53-BBC9-1C5140E2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0.4107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EE398F-7B50-4D59-8179-C7472EDB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48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BAFDF5-E50D-4197-BF71-B7DF35CE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48050"/>
            <a:ext cx="1162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8BD742-68D5-4856-A496-180A54E4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242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smoke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D65109C-A1B2-4F06-94D4-06935701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2425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F3EED66-74EC-4670-A1C0-84066AC1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242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87.8128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D70534B-B205-4D7D-9497-A8FBD7A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242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184.3101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565C253-7C79-4DC4-8755-6A5E2771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0.007124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0A9D93C-8955-4FD9-8FFF-EEAB236D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0.130036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35992F3-2DE9-476F-BD1B-DE915A09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0.8125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11C023B-C65F-4637-A467-8F554E8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0.3125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ABEC0D6-4BC4-4D47-8563-ABACEC76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0.9375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F26B63-E38B-4531-891D-FB1DFB92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0.2812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8BBE977-0546-4804-B81D-3F7A5D86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0.9219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6839A5-F699-43BD-BBB4-162C715E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0.1094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1D0410B-2572-47E0-B0F4-ABA0168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0.5171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49AE18-DEDD-4484-AF01-88C179FA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0050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160D0B6-39F1-44D2-A397-F55DD4C8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767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primary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21E2E3-6849-4E76-BAD3-6490ADA8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FA91D4B-EC12-4639-9855-8A086155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46.4794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3E21D1A-937A-44B6-901E-EB43905E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767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154.0150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2E78F0B-4F27-4075-8DE3-7902FAD6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767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0.007480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2CC7A2-438F-426A-8531-9F4025C0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0.136589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E1DFFAB-447B-45CC-8693-C8ADC2D5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0.9102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BE6EC9D-4929-488E-B295-0970AC6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0.1172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173C54E-1CC1-4465-A4F3-1099C5CD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0.8711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FB93571-E887-4F0C-AB02-B1821C0B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E3E572F-30C0-40B3-AC67-4B56699B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0.8906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250C096-6E9A-49C7-839D-3DEB9D7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0.0508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D9EC45D-E831-41D1-8C06-5FCBEC1C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0.5421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788CA0-53E3-47C7-B1C6-5EB27B5A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 is 1.0000 after normalization for these rows; that confirms protocol compliance, not native palette learning by the external models.</a:t>
            </a:r>
          </a:p>
        </p:txBody>
      </p:sp>
    </p:spTree>
    <p:extLst>
      <p:ext uri="{BB962C8B-B14F-4D97-AF65-F5344CB8AC3E}">
        <p14:creationId xmlns:p14="http://schemas.microsoft.com/office/powerpoint/2010/main" val="179932559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818A49-53B1-4AA6-BE05-8122FD10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EEEA5-55A0-4D61-8AC2-DEEE6F19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7-marker">
            <a:extLst xmlns:a="http://schemas.openxmlformats.org/drawingml/2006/main">
              <a:ext uri="{FF2B5EF4-FFF2-40B4-BE49-F238E27FC236}">
                <a16:creationId xmlns:a16="http://schemas.microsoft.com/office/drawing/2014/main" id="{673C96AB-1DDF-424A-A201-5F63EE7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7-label">
            <a:extLst xmlns:a="http://schemas.openxmlformats.org/drawingml/2006/main">
              <a:ext uri="{FF2B5EF4-FFF2-40B4-BE49-F238E27FC236}">
                <a16:creationId xmlns:a16="http://schemas.microsoft.com/office/drawing/2014/main" id="{95FE26F1-1CAC-4966-A6CD-39A1EE96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RELATED BASELINES THAT WERE EXCLUDED OR BLOCKED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69330-0089-4443-830B-AB025B9A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Several related methods were checked, but forcing them into the metric table would be misleading.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5420D-2F20-4DB4-B585-C319CC52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6F521-F170-485C-81D9-B612BB1B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baseline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6BAA2-AECD-4F56-9F5D-843A48EC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15/16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D8891-6F5C-4950-8D98-8CE35DCF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8585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39C5C-57B4-4FE9-89D2-70ECA932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F6D51-D423-45DA-8FB2-59CF7047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4305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related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92FD9-10BC-4C61-9B9A-8186F475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4305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not a direct numeric row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BEB6C-9815-438E-B06E-45F1143E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8C3CF-A6ED-4CBF-9C3B-04BBF552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2504E-1AD6-4B6B-8EA6-3A43C1FA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6690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character sprite generation with released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5B901-2A68-4167-95C4-0AEF2FE8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paired-pose imputation; receives reference poses PixelVAR does not 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E92A5-5433-48FB-A3A8-75EDEE5D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88F0D-4A0B-4583-A332-B31E98FE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3E50B-9F08-4B31-85F8-2E7DF6EE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Generating Pixel Art Character Sprites using GANs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AAF3D5-71FA-44C6-A05C-DA9D191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8605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direct pixel-art character sprite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5D9F5-5311-433D-978C-A42E244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pose-to-pose / conditional framing; cite as related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47455-8071-4197-98ED-509B2A00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5210B-2EC0-4838-AE50-8DE16A38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PixDiff-PIG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28E7A-9737-40E8-8DC6-F2F872FE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520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palette-informed diffusion for pixel 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B0EB45-BEBC-4EB6-8D71-0913CBB8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targeted search found no runnable public repository or weights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22AFBC-1117-4E87-B444-86C1FC4F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14F0A-0265-4DA0-BEE8-81117761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BD7CA-59A6-460B-B081-5465F912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achsaf/vq-diffusion-pixelart-16x16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9932A1-ABCC-4DF6-B969-1BE406E4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2435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architecture-adjacent discrete diffusion over 16x16 pixel-art characters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54346F-8D9C-443D-9F0E-89942229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 files returned HTTP 401 and native resolution is 16x16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0914B7-FEA8-40F6-893D-2BFD01A7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0D7EAC-E2ED-450C-83BD-C82A153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Full SDXL LoRA alternatives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DCB26C-2817-4B9E-ACB9-A3315474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4350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practical external image generators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3B155F-FA00-4093-A806-3A055E30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prompt/model sensitivity; only the strongest accessible Pokemon LoRA promoted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88309-D524-4B90-AE0F-8465B86C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a seriousness point: we did not omit MDIGAN/PixDiff-PIG randomly; we separated related work from fair unconditional-generation metrics.</a:t>
            </a:r>
          </a:p>
        </p:txBody>
      </p:sp>
    </p:spTree>
    <p:extLst>
      <p:ext uri="{BB962C8B-B14F-4D97-AF65-F5344CB8AC3E}">
        <p14:creationId xmlns:p14="http://schemas.microsoft.com/office/powerpoint/2010/main" val="127203122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8D250-1E3F-4195-8554-626A44BE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EE616-3873-4297-9DB8-54018E94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8-marker">
            <a:extLst xmlns:a="http://schemas.openxmlformats.org/drawingml/2006/main">
              <a:ext uri="{FF2B5EF4-FFF2-40B4-BE49-F238E27FC236}">
                <a16:creationId xmlns:a16="http://schemas.microsoft.com/office/drawing/2014/main" id="{8711859D-7E7F-46F5-AAF9-5992FE2E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8-label">
            <a:extLst xmlns:a="http://schemas.openxmlformats.org/drawingml/2006/main">
              <a:ext uri="{FF2B5EF4-FFF2-40B4-BE49-F238E27FC236}">
                <a16:creationId xmlns:a16="http://schemas.microsoft.com/office/drawing/2014/main" id="{0736A5DB-2A79-4B18-A9A8-ADE403D9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FULL LIMITATIONS AND REASONS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8550F-212E-4111-BB1F-E9BFBFC2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limitations are not hidden; each incomplete item has a concrete reason.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D6854-A741-41D7-B027-536D248B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5B883-57E3-42C0-A88F-A724E8D9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90F2E-0884-454F-A5AA-50076643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16/16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8C5B29-E2CD-450F-B39D-A2792B51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11239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AF98A-5D02-47E3-90D1-09C7041F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F2EA3-E754-4937-BB7E-960DB256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287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63BDE-7B1F-4FF9-AC8F-DF5D4F53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28750"/>
            <a:ext cx="7200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Reason /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069D1F-E5FB-4949-9855-0179BECD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86DF9-7D25-45AC-9919-406A9320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multi-scale VQ-VAE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8BF2E-270E-44EC-A97B-C42164E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DC17C-7FB5-45FE-BAB9-6BBE4227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implemented, but reconstructions were too soft/ghosted for pixel 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AE26A-886A-4120-B213-BEEDA866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1B817-0050-4122-8135-EB2D9850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D9BA1-5549-4284-8EEF-1B46FC27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 learned tokens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6C7CE-1F63-47A1-B534-D053DCE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0A75A-5153-4398-A589-DAF4C433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worked technically; 143/512 codes used; blockier decoded samples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545FE-043C-4FE0-97AA-70F23784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051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75F21-1116-4DAC-978F-1474944A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8/32 palette ablation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FD006-2C2B-4BA8-85EE-E9B83F43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B5CA6-787F-4BA6-9282-1156E097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configs and actions added; GPU metrics pending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BB5F3-E0B9-4247-B9F3-7CC73454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5D2120-105D-4CD4-ABCE-CE678155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388D57-0570-4B0C-BB73-570D79ED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4-scale hierarchy ablation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08710-CD90-49F4-9B01-785EA976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956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238E1-D265-429F-B378-22AE68DD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runnable; metrics 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BD0545-811E-4DDE-A1F1-7B1C8D7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33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5E3002-F22E-49DF-831B-28D97550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n &gt;= 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DD3522-7D48-4424-BBD7-690C9517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100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FA319D-492A-478B-9E17-0EEF4B09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requires separate survey, randomization, collection, and analysis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37B8F5-FEA0-4713-984F-99D11C53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8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250CB7-EAA0-4AF1-B513-B0F7D55F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81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2D8C22-DE83-4D14-B962-27CD9C1D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generation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7F1716-8D18-4039-9B23-4FC8450B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243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7D7AA2-A82B-43AD-A593-99AFEC0F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243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sequence length increases from 1,365 to 5,461; postponed after 32x32 proposal completion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3A549E-E6A0-4D42-86E2-EF637FD9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7CEC9A-7F8E-492B-9F9D-B3B2283F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Original Kaggle dataset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AC62F7-C0D9-4C20-8585-4DBEFB18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387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REPLACED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FE6D79-3136-44DB-A6EE-997E72C5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387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forbidden/unavailable; live MSD replacement used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6AC9B2-3E6E-4D18-A4A7-3D0ACC9E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7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2DAB7E-C481-463D-B0D0-E5E71BEC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768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7EDB5C-3806-4E44-9F52-66D00F94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Lightning/Modal friction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EF795D-2BCF-4D4D-9C82-CB0B2D8F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530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DISCLOSED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52F648-5A23-4E90-8B80-0ABA0EE9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530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job handling, spend/GPU limits, B200 compatibility, local command/runtime issues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EFD5A2-6E17-4810-BDBE-65049633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F2A93C-9C4E-41EC-B31C-4D7D890D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Broad SOTA claim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C80965-64A9-4758-9ED3-B4596BE7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8674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1369DE-2563-4603-A964-3D41694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 are useful but not exhaustive enough for broad SOTA</a:t>
            </a:r>
          </a:p>
        </p:txBody>
      </p:sp>
    </p:spTree>
    <p:extLst>
      <p:ext uri="{BB962C8B-B14F-4D97-AF65-F5344CB8AC3E}">
        <p14:creationId xmlns:p14="http://schemas.microsoft.com/office/powerpoint/2010/main" val="1114985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2026-06-08T19:17:37.1340000Z</dcterms:created>
  <dcterms:modified xsi:type="dcterms:W3CDTF">2026-06-08T19:17:37.1340000Z</dcterms:modified>
</coreProperties>
</file>