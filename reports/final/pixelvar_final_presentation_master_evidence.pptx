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42ef7ccf84097" /><Relationship Type="http://schemas.openxmlformats.org/officeDocument/2006/relationships/extended-properties" Target="/docProps/app.xml" Id="R78a11b23f05f47d9" /><Relationship Type="http://schemas.openxmlformats.org/officeDocument/2006/relationships/officeDocument" Target="/ppt/presentation.xml" Id="R3990600522bd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278b51a7864a6b"/>
  </p:sldMasterIdLst>
  <p:notesMasterIdLst>
    <p:notesMasterId xmlns:r="http://schemas.openxmlformats.org/officeDocument/2006/relationships" r:id="Rff299cb867bf4907"/>
  </p:notesMasterIdLst>
  <p:sldIdLst>
    <p:sldId xmlns:r="http://schemas.openxmlformats.org/officeDocument/2006/relationships" id="256" r:id="Rbc9cf098f5374cd7"/>
    <p:sldId xmlns:r="http://schemas.openxmlformats.org/officeDocument/2006/relationships" id="257" r:id="R907ae863f2e94b91"/>
    <p:sldId xmlns:r="http://schemas.openxmlformats.org/officeDocument/2006/relationships" id="258" r:id="R7dc39126d0474ad8"/>
    <p:sldId xmlns:r="http://schemas.openxmlformats.org/officeDocument/2006/relationships" id="259" r:id="R7e915ae2410f4e1f"/>
    <p:sldId xmlns:r="http://schemas.openxmlformats.org/officeDocument/2006/relationships" id="260" r:id="R81a4a9e869414414"/>
    <p:sldId xmlns:r="http://schemas.openxmlformats.org/officeDocument/2006/relationships" id="261" r:id="Rebfc5be31aed4fad"/>
    <p:sldId xmlns:r="http://schemas.openxmlformats.org/officeDocument/2006/relationships" id="262" r:id="R4eddaf789f2d4225"/>
    <p:sldId xmlns:r="http://schemas.openxmlformats.org/officeDocument/2006/relationships" id="263" r:id="R826b388da01541d6"/>
    <p:sldId xmlns:r="http://schemas.openxmlformats.org/officeDocument/2006/relationships" id="264" r:id="Rccc99b5cac1c482c"/>
    <p:sldId xmlns:r="http://schemas.openxmlformats.org/officeDocument/2006/relationships" id="265" r:id="R93e2e505a275426a"/>
    <p:sldId xmlns:r="http://schemas.openxmlformats.org/officeDocument/2006/relationships" id="266" r:id="Rea1c8cbb432e4873"/>
    <p:sldId xmlns:r="http://schemas.openxmlformats.org/officeDocument/2006/relationships" id="267" r:id="Rb1db04411bfd4eb0"/>
    <p:sldId xmlns:r="http://schemas.openxmlformats.org/officeDocument/2006/relationships" id="268" r:id="Rb8f6216d0d904295"/>
    <p:sldId xmlns:r="http://schemas.openxmlformats.org/officeDocument/2006/relationships" id="269" r:id="R4596bf68cd52425f"/>
    <p:sldId xmlns:r="http://schemas.openxmlformats.org/officeDocument/2006/relationships" id="270" r:id="R3e7ea455eaad4f9b"/>
    <p:sldId xmlns:r="http://schemas.openxmlformats.org/officeDocument/2006/relationships" id="271" r:id="R554c2837ed5f4c8a"/>
    <p:sldId xmlns:r="http://schemas.openxmlformats.org/officeDocument/2006/relationships" id="272" r:id="R2650e23754b0488f"/>
    <p:sldId xmlns:r="http://schemas.openxmlformats.org/officeDocument/2006/relationships" id="273" r:id="R3ea59ffd7d0c42d0"/>
    <p:sldId xmlns:r="http://schemas.openxmlformats.org/officeDocument/2006/relationships" id="274" r:id="R740d6c21711c40e1"/>
    <p:sldId xmlns:r="http://schemas.openxmlformats.org/officeDocument/2006/relationships" id="275" r:id="Re9808c7e1273404e"/>
    <p:sldId xmlns:r="http://schemas.openxmlformats.org/officeDocument/2006/relationships" id="276" r:id="R62df6083ea9d41ef"/>
    <p:sldId xmlns:r="http://schemas.openxmlformats.org/officeDocument/2006/relationships" id="277" r:id="R8893be3e9ca84e01"/>
    <p:sldId xmlns:r="http://schemas.openxmlformats.org/officeDocument/2006/relationships" id="278" r:id="R6a4dc53f5ad647cc"/>
    <p:sldId xmlns:r="http://schemas.openxmlformats.org/officeDocument/2006/relationships" id="279" r:id="R5d9128d0454d475d"/>
    <p:sldId xmlns:r="http://schemas.openxmlformats.org/officeDocument/2006/relationships" id="280" r:id="R54d2619f449d45e3"/>
    <p:sldId xmlns:r="http://schemas.openxmlformats.org/officeDocument/2006/relationships" id="281" r:id="Rda7a682338294f7d"/>
    <p:sldId xmlns:r="http://schemas.openxmlformats.org/officeDocument/2006/relationships" id="282" r:id="Re33a72542af84f29"/>
    <p:sldId xmlns:r="http://schemas.openxmlformats.org/officeDocument/2006/relationships" id="283" r:id="Read27a24e895434b"/>
    <p:sldId xmlns:r="http://schemas.openxmlformats.org/officeDocument/2006/relationships" id="284" r:id="Re7640d95c1b04e11"/>
    <p:sldId xmlns:r="http://schemas.openxmlformats.org/officeDocument/2006/relationships" id="285" r:id="Rf4ffcb2a07e64c89"/>
    <p:sldId xmlns:r="http://schemas.openxmlformats.org/officeDocument/2006/relationships" id="286" r:id="Rfa1cf292562e4195"/>
    <p:sldId xmlns:r="http://schemas.openxmlformats.org/officeDocument/2006/relationships" id="287" r:id="R7c60eecb97974c29"/>
    <p:sldId xmlns:r="http://schemas.openxmlformats.org/officeDocument/2006/relationships" id="288" r:id="R71debcca28b04222"/>
    <p:sldId xmlns:r="http://schemas.openxmlformats.org/officeDocument/2006/relationships" id="289" r:id="R6c51ba816ce046cb"/>
    <p:sldId xmlns:r="http://schemas.openxmlformats.org/officeDocument/2006/relationships" id="290" r:id="R4c8383eddf73444b"/>
    <p:sldId xmlns:r="http://schemas.openxmlformats.org/officeDocument/2006/relationships" id="291" r:id="R2d1287af24474ed8"/>
    <p:sldId xmlns:r="http://schemas.openxmlformats.org/officeDocument/2006/relationships" id="292" r:id="R25458951d921489f"/>
    <p:sldId xmlns:r="http://schemas.openxmlformats.org/officeDocument/2006/relationships" id="293" r:id="R3789ca2ac4824649"/>
    <p:sldId xmlns:r="http://schemas.openxmlformats.org/officeDocument/2006/relationships" id="294" r:id="R8cc5eb84d21d4b79"/>
    <p:sldId xmlns:r="http://schemas.openxmlformats.org/officeDocument/2006/relationships" id="295" r:id="R7fee62165c6640e5"/>
    <p:sldId xmlns:r="http://schemas.openxmlformats.org/officeDocument/2006/relationships" id="296" r:id="R2c22ffd91bca4046"/>
    <p:sldId xmlns:r="http://schemas.openxmlformats.org/officeDocument/2006/relationships" id="297" r:id="R4476e8fd7f0b4bb5"/>
    <p:sldId xmlns:r="http://schemas.openxmlformats.org/officeDocument/2006/relationships" id="298" r:id="Rf101710918c648a8"/>
    <p:sldId xmlns:r="http://schemas.openxmlformats.org/officeDocument/2006/relationships" id="299" r:id="R4496a5c504de46a1"/>
    <p:sldId xmlns:r="http://schemas.openxmlformats.org/officeDocument/2006/relationships" id="300" r:id="Ra70b7c8e448046cc"/>
    <p:sldId xmlns:r="http://schemas.openxmlformats.org/officeDocument/2006/relationships" id="301" r:id="R9b9e95b987fd476f"/>
    <p:sldId xmlns:r="http://schemas.openxmlformats.org/officeDocument/2006/relationships" id="302" r:id="R30eb5e1cb2e64a6d"/>
    <p:sldId xmlns:r="http://schemas.openxmlformats.org/officeDocument/2006/relationships" id="303" r:id="R4ad3f9b27e13410e"/>
    <p:sldId xmlns:r="http://schemas.openxmlformats.org/officeDocument/2006/relationships" id="304" r:id="R4d6da70cf68a48fc"/>
    <p:sldId xmlns:r="http://schemas.openxmlformats.org/officeDocument/2006/relationships" id="305" r:id="R698b2e6ed76b4564"/>
    <p:sldId xmlns:r="http://schemas.openxmlformats.org/officeDocument/2006/relationships" id="306" r:id="R553b79c18544423a"/>
    <p:sldId xmlns:r="http://schemas.openxmlformats.org/officeDocument/2006/relationships" id="307" r:id="R30f1e3b7f1cf48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b47a2eeeed42bf" /><Relationship Type="http://schemas.openxmlformats.org/officeDocument/2006/relationships/slideMaster" Target="/ppt/slideMasters/slideMaster1.xml" Id="R1e278b51a7864a6b" /><Relationship Type="http://schemas.openxmlformats.org/officeDocument/2006/relationships/notesMaster" Target="/ppt/notesMasters/notesMaster1.xml" Id="Rff299cb867bf4907" /><Relationship Type="http://schemas.openxmlformats.org/officeDocument/2006/relationships/presProps" Target="/ppt/presProps.xml" Id="R0d039a5f0d1840b3" /><Relationship Type="http://schemas.openxmlformats.org/officeDocument/2006/relationships/viewProps" Target="/ppt/viewProps.xml" Id="R9342cf17691c47b6" /><Relationship Type="http://schemas.openxmlformats.org/officeDocument/2006/relationships/tableStyles" Target="/ppt/tableStyles.xml" Id="R57b220d723c249ba" /><Relationship Type="http://schemas.openxmlformats.org/officeDocument/2006/relationships/slide" Target="/ppt/slides/slide1.xml" Id="Rbc9cf098f5374cd7" /><Relationship Type="http://schemas.openxmlformats.org/officeDocument/2006/relationships/slide" Target="/ppt/slides/slide2.xml" Id="R907ae863f2e94b91" /><Relationship Type="http://schemas.openxmlformats.org/officeDocument/2006/relationships/slide" Target="/ppt/slides/slide3.xml" Id="R7dc39126d0474ad8" /><Relationship Type="http://schemas.openxmlformats.org/officeDocument/2006/relationships/slide" Target="/ppt/slides/slide4.xml" Id="R7e915ae2410f4e1f" /><Relationship Type="http://schemas.openxmlformats.org/officeDocument/2006/relationships/slide" Target="/ppt/slides/slide5.xml" Id="R81a4a9e869414414" /><Relationship Type="http://schemas.openxmlformats.org/officeDocument/2006/relationships/slide" Target="/ppt/slides/slide6.xml" Id="Rebfc5be31aed4fad" /><Relationship Type="http://schemas.openxmlformats.org/officeDocument/2006/relationships/slide" Target="/ppt/slides/slide7.xml" Id="R4eddaf789f2d4225" /><Relationship Type="http://schemas.openxmlformats.org/officeDocument/2006/relationships/slide" Target="/ppt/slides/slide8.xml" Id="R826b388da01541d6" /><Relationship Type="http://schemas.openxmlformats.org/officeDocument/2006/relationships/slide" Target="/ppt/slides/slide9.xml" Id="Rccc99b5cac1c482c" /><Relationship Type="http://schemas.openxmlformats.org/officeDocument/2006/relationships/slide" Target="/ppt/slides/slide10.xml" Id="R93e2e505a275426a" /><Relationship Type="http://schemas.openxmlformats.org/officeDocument/2006/relationships/slide" Target="/ppt/slides/slide11.xml" Id="Rea1c8cbb432e4873" /><Relationship Type="http://schemas.openxmlformats.org/officeDocument/2006/relationships/slide" Target="/ppt/slides/slide12.xml" Id="Rb1db04411bfd4eb0" /><Relationship Type="http://schemas.openxmlformats.org/officeDocument/2006/relationships/slide" Target="/ppt/slides/slide13.xml" Id="Rb8f6216d0d904295" /><Relationship Type="http://schemas.openxmlformats.org/officeDocument/2006/relationships/slide" Target="/ppt/slides/slide14.xml" Id="R4596bf68cd52425f" /><Relationship Type="http://schemas.openxmlformats.org/officeDocument/2006/relationships/slide" Target="/ppt/slides/slide15.xml" Id="R3e7ea455eaad4f9b" /><Relationship Type="http://schemas.openxmlformats.org/officeDocument/2006/relationships/slide" Target="/ppt/slides/slide16.xml" Id="R554c2837ed5f4c8a" /><Relationship Type="http://schemas.openxmlformats.org/officeDocument/2006/relationships/slide" Target="/ppt/slides/slide17.xml" Id="R2650e23754b0488f" /><Relationship Type="http://schemas.openxmlformats.org/officeDocument/2006/relationships/slide" Target="/ppt/slides/slide18.xml" Id="R3ea59ffd7d0c42d0" /><Relationship Type="http://schemas.openxmlformats.org/officeDocument/2006/relationships/slide" Target="/ppt/slides/slide19.xml" Id="R740d6c21711c40e1" /><Relationship Type="http://schemas.openxmlformats.org/officeDocument/2006/relationships/slide" Target="/ppt/slides/slide20.xml" Id="Re9808c7e1273404e" /><Relationship Type="http://schemas.openxmlformats.org/officeDocument/2006/relationships/slide" Target="/ppt/slides/slide21.xml" Id="R62df6083ea9d41ef" /><Relationship Type="http://schemas.openxmlformats.org/officeDocument/2006/relationships/slide" Target="/ppt/slides/slide22.xml" Id="R8893be3e9ca84e01" /><Relationship Type="http://schemas.openxmlformats.org/officeDocument/2006/relationships/slide" Target="/ppt/slides/slide23.xml" Id="R6a4dc53f5ad647cc" /><Relationship Type="http://schemas.openxmlformats.org/officeDocument/2006/relationships/slide" Target="/ppt/slides/slide24.xml" Id="R5d9128d0454d475d" /><Relationship Type="http://schemas.openxmlformats.org/officeDocument/2006/relationships/slide" Target="/ppt/slides/slide25.xml" Id="R54d2619f449d45e3" /><Relationship Type="http://schemas.openxmlformats.org/officeDocument/2006/relationships/slide" Target="/ppt/slides/slide26.xml" Id="Rda7a682338294f7d" /><Relationship Type="http://schemas.openxmlformats.org/officeDocument/2006/relationships/slide" Target="/ppt/slides/slide27.xml" Id="Re33a72542af84f29" /><Relationship Type="http://schemas.openxmlformats.org/officeDocument/2006/relationships/slide" Target="/ppt/slides/slide28.xml" Id="Read27a24e895434b" /><Relationship Type="http://schemas.openxmlformats.org/officeDocument/2006/relationships/slide" Target="/ppt/slides/slide29.xml" Id="Re7640d95c1b04e11" /><Relationship Type="http://schemas.openxmlformats.org/officeDocument/2006/relationships/slide" Target="/ppt/slides/slide30.xml" Id="Rf4ffcb2a07e64c89" /><Relationship Type="http://schemas.openxmlformats.org/officeDocument/2006/relationships/slide" Target="/ppt/slides/slide31.xml" Id="Rfa1cf292562e4195" /><Relationship Type="http://schemas.openxmlformats.org/officeDocument/2006/relationships/slide" Target="/ppt/slides/slide32.xml" Id="R7c60eecb97974c29" /><Relationship Type="http://schemas.openxmlformats.org/officeDocument/2006/relationships/slide" Target="/ppt/slides/slide33.xml" Id="R71debcca28b04222" /><Relationship Type="http://schemas.openxmlformats.org/officeDocument/2006/relationships/slide" Target="/ppt/slides/slide34.xml" Id="R6c51ba816ce046cb" /><Relationship Type="http://schemas.openxmlformats.org/officeDocument/2006/relationships/slide" Target="/ppt/slides/slide35.xml" Id="R4c8383eddf73444b" /><Relationship Type="http://schemas.openxmlformats.org/officeDocument/2006/relationships/slide" Target="/ppt/slides/slide36.xml" Id="R2d1287af24474ed8" /><Relationship Type="http://schemas.openxmlformats.org/officeDocument/2006/relationships/slide" Target="/ppt/slides/slide37.xml" Id="R25458951d921489f" /><Relationship Type="http://schemas.openxmlformats.org/officeDocument/2006/relationships/slide" Target="/ppt/slides/slide38.xml" Id="R3789ca2ac4824649" /><Relationship Type="http://schemas.openxmlformats.org/officeDocument/2006/relationships/slide" Target="/ppt/slides/slide39.xml" Id="R8cc5eb84d21d4b79" /><Relationship Type="http://schemas.openxmlformats.org/officeDocument/2006/relationships/slide" Target="/ppt/slides/slide40.xml" Id="R7fee62165c6640e5" /><Relationship Type="http://schemas.openxmlformats.org/officeDocument/2006/relationships/slide" Target="/ppt/slides/slide41.xml" Id="R2c22ffd91bca4046" /><Relationship Type="http://schemas.openxmlformats.org/officeDocument/2006/relationships/slide" Target="/ppt/slides/slide42.xml" Id="R4476e8fd7f0b4bb5" /><Relationship Type="http://schemas.openxmlformats.org/officeDocument/2006/relationships/slide" Target="/ppt/slides/slide43.xml" Id="Rf101710918c648a8" /><Relationship Type="http://schemas.openxmlformats.org/officeDocument/2006/relationships/slide" Target="/ppt/slides/slide44.xml" Id="R4496a5c504de46a1" /><Relationship Type="http://schemas.openxmlformats.org/officeDocument/2006/relationships/slide" Target="/ppt/slides/slide45.xml" Id="Ra70b7c8e448046cc" /><Relationship Type="http://schemas.openxmlformats.org/officeDocument/2006/relationships/slide" Target="/ppt/slides/slide46.xml" Id="R9b9e95b987fd476f" /><Relationship Type="http://schemas.openxmlformats.org/officeDocument/2006/relationships/slide" Target="/ppt/slides/slide47.xml" Id="R30eb5e1cb2e64a6d" /><Relationship Type="http://schemas.openxmlformats.org/officeDocument/2006/relationships/slide" Target="/ppt/slides/slide48.xml" Id="R4ad3f9b27e13410e" /><Relationship Type="http://schemas.openxmlformats.org/officeDocument/2006/relationships/slide" Target="/ppt/slides/slide49.xml" Id="R4d6da70cf68a48fc" /><Relationship Type="http://schemas.openxmlformats.org/officeDocument/2006/relationships/slide" Target="/ppt/slides/slide50.xml" Id="R698b2e6ed76b4564" /><Relationship Type="http://schemas.openxmlformats.org/officeDocument/2006/relationships/slide" Target="/ppt/slides/slide51.xml" Id="R553b79c18544423a" /><Relationship Type="http://schemas.openxmlformats.org/officeDocument/2006/relationships/slide" Target="/ppt/slides/slide52.xml" Id="R30f1e3b7f1cf48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3cbaca130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6f892056a4c4a" /><Relationship Type="http://schemas.openxmlformats.org/officeDocument/2006/relationships/notesMaster" Target="/ppt/notesMasters/notesMaster1.xml" Id="Rf603e58cfe8b4b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cfdac687b4027" /><Relationship Type="http://schemas.openxmlformats.org/officeDocument/2006/relationships/notesMaster" Target="/ppt/notesMasters/notesMaster1.xml" Id="Ra1d29134517b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53bbde2e624d2b" /><Relationship Type="http://schemas.openxmlformats.org/officeDocument/2006/relationships/notesMaster" Target="/ppt/notesMasters/notesMaster1.xml" Id="Rcc8400d726e0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013d1495614a2d" /><Relationship Type="http://schemas.openxmlformats.org/officeDocument/2006/relationships/notesMaster" Target="/ppt/notesMasters/notesMaster1.xml" Id="R9e90b99daa48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a311795b742df" /><Relationship Type="http://schemas.openxmlformats.org/officeDocument/2006/relationships/notesMaster" Target="/ppt/notesMasters/notesMaster1.xml" Id="R4a55a6dab8aa41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c490af45bc44cc" /><Relationship Type="http://schemas.openxmlformats.org/officeDocument/2006/relationships/notesMaster" Target="/ppt/notesMasters/notesMaster1.xml" Id="R6d3e929abc25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8dd07112574d7e" /><Relationship Type="http://schemas.openxmlformats.org/officeDocument/2006/relationships/notesMaster" Target="/ppt/notesMasters/notesMaster1.xml" Id="R331881b9a36b4c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47612163f4651" /><Relationship Type="http://schemas.openxmlformats.org/officeDocument/2006/relationships/notesMaster" Target="/ppt/notesMasters/notesMaster1.xml" Id="R0b8ae42968744f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04d5da93804121" /><Relationship Type="http://schemas.openxmlformats.org/officeDocument/2006/relationships/notesMaster" Target="/ppt/notesMasters/notesMaster1.xml" Id="Rd643b1800ea648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8bc566631e4e61" /><Relationship Type="http://schemas.openxmlformats.org/officeDocument/2006/relationships/notesMaster" Target="/ppt/notesMasters/notesMaster1.xml" Id="R32d8d8f41af14e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7961997d0a4ab2" /><Relationship Type="http://schemas.openxmlformats.org/officeDocument/2006/relationships/notesMaster" Target="/ppt/notesMasters/notesMaster1.xml" Id="R4c28dd215f9240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b53c7640584b0b" /><Relationship Type="http://schemas.openxmlformats.org/officeDocument/2006/relationships/notesMaster" Target="/ppt/notesMasters/notesMaster1.xml" Id="R8e4e5ab7fa954c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2f2f31c0194858" /><Relationship Type="http://schemas.openxmlformats.org/officeDocument/2006/relationships/notesMaster" Target="/ppt/notesMasters/notesMaster1.xml" Id="R9f4f288208d549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b119f157984654" /><Relationship Type="http://schemas.openxmlformats.org/officeDocument/2006/relationships/notesMaster" Target="/ppt/notesMasters/notesMaster1.xml" Id="R5328fe680dbe4e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a85ee5f87a4b58" /><Relationship Type="http://schemas.openxmlformats.org/officeDocument/2006/relationships/notesMaster" Target="/ppt/notesMasters/notesMaster1.xml" Id="R29d1de2fcd364c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af4c4a835143f6" /><Relationship Type="http://schemas.openxmlformats.org/officeDocument/2006/relationships/notesMaster" Target="/ppt/notesMasters/notesMaster1.xml" Id="R42c4202f5f4546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5a3356f9c7411e" /><Relationship Type="http://schemas.openxmlformats.org/officeDocument/2006/relationships/notesMaster" Target="/ppt/notesMasters/notesMaster1.xml" Id="Rc7f998142fb741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3dcaccc2034361" /><Relationship Type="http://schemas.openxmlformats.org/officeDocument/2006/relationships/notesMaster" Target="/ppt/notesMasters/notesMaster1.xml" Id="Rc9002cd6445f4e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5023c4c7db4c7e" /><Relationship Type="http://schemas.openxmlformats.org/officeDocument/2006/relationships/notesMaster" Target="/ppt/notesMasters/notesMaster1.xml" Id="R0fe02070a12e4f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72472b48da4a28" /><Relationship Type="http://schemas.openxmlformats.org/officeDocument/2006/relationships/notesMaster" Target="/ppt/notesMasters/notesMaster1.xml" Id="Re4ddc00f17c842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b8c46d197e457f" /><Relationship Type="http://schemas.openxmlformats.org/officeDocument/2006/relationships/notesMaster" Target="/ppt/notesMasters/notesMaster1.xml" Id="R5339646cdd514e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e3d7f1a07c499d" /><Relationship Type="http://schemas.openxmlformats.org/officeDocument/2006/relationships/notesMaster" Target="/ppt/notesMasters/notesMaster1.xml" Id="Rbc08699909404e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8e4a85cb8846ef" /><Relationship Type="http://schemas.openxmlformats.org/officeDocument/2006/relationships/notesMaster" Target="/ppt/notesMasters/notesMaster1.xml" Id="Rb41f355d28f141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0e47dbd2c84d9a" /><Relationship Type="http://schemas.openxmlformats.org/officeDocument/2006/relationships/notesMaster" Target="/ppt/notesMasters/notesMaster1.xml" Id="R31891401a4b845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2b8cff6a284a79" /><Relationship Type="http://schemas.openxmlformats.org/officeDocument/2006/relationships/notesMaster" Target="/ppt/notesMasters/notesMaster1.xml" Id="Rb7cb88c452e742d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51ca702e684f48" /><Relationship Type="http://schemas.openxmlformats.org/officeDocument/2006/relationships/notesMaster" Target="/ppt/notesMasters/notesMaster1.xml" Id="R97fcb4add87f4f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371288adb94b04" /><Relationship Type="http://schemas.openxmlformats.org/officeDocument/2006/relationships/notesMaster" Target="/ppt/notesMasters/notesMaster1.xml" Id="R34e0399bf3674a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a212cf576247c8" /><Relationship Type="http://schemas.openxmlformats.org/officeDocument/2006/relationships/notesMaster" Target="/ppt/notesMasters/notesMaster1.xml" Id="Rf6083debf5394e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ffa0ec655346b4" /><Relationship Type="http://schemas.openxmlformats.org/officeDocument/2006/relationships/notesMaster" Target="/ppt/notesMasters/notesMaster1.xml" Id="Rec90dbacbd4742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4a302a28add4b1c" /><Relationship Type="http://schemas.openxmlformats.org/officeDocument/2006/relationships/notesMaster" Target="/ppt/notesMasters/notesMaster1.xml" Id="R0af693d52a2c46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f26eeb8a8fe4355" /><Relationship Type="http://schemas.openxmlformats.org/officeDocument/2006/relationships/notesMaster" Target="/ppt/notesMasters/notesMaster1.xml" Id="R7c907689cdf24f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05788839174a88" /><Relationship Type="http://schemas.openxmlformats.org/officeDocument/2006/relationships/notesMaster" Target="/ppt/notesMasters/notesMaster1.xml" Id="Rabca62c33a624c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e7ee4e0a664fb8" /><Relationship Type="http://schemas.openxmlformats.org/officeDocument/2006/relationships/notesMaster" Target="/ppt/notesMasters/notesMaster1.xml" Id="Re646d2a8a01545b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9939bed8ec44bc" /><Relationship Type="http://schemas.openxmlformats.org/officeDocument/2006/relationships/notesMaster" Target="/ppt/notesMasters/notesMaster1.xml" Id="R549a957aaee04d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90994a184d4a65" /><Relationship Type="http://schemas.openxmlformats.org/officeDocument/2006/relationships/notesMaster" Target="/ppt/notesMasters/notesMaster1.xml" Id="Rbe11e7a190b248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c7864eec4cd4017" /><Relationship Type="http://schemas.openxmlformats.org/officeDocument/2006/relationships/notesMaster" Target="/ppt/notesMasters/notesMaster1.xml" Id="Ree15d44122b148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15a7c48b2c4286" /><Relationship Type="http://schemas.openxmlformats.org/officeDocument/2006/relationships/notesMaster" Target="/ppt/notesMasters/notesMaster1.xml" Id="R848b94d8608f4c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400c810161248d7" /><Relationship Type="http://schemas.openxmlformats.org/officeDocument/2006/relationships/notesMaster" Target="/ppt/notesMasters/notesMaster1.xml" Id="R46937e102b8f4f4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29e990e35f043d2" /><Relationship Type="http://schemas.openxmlformats.org/officeDocument/2006/relationships/notesMaster" Target="/ppt/notesMasters/notesMaster1.xml" Id="R0ee742c645a14e6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82099581374e07" /><Relationship Type="http://schemas.openxmlformats.org/officeDocument/2006/relationships/notesMaster" Target="/ppt/notesMasters/notesMaster1.xml" Id="R5daf23a5edf549e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694f6f032c1443c" /><Relationship Type="http://schemas.openxmlformats.org/officeDocument/2006/relationships/notesMaster" Target="/ppt/notesMasters/notesMaster1.xml" Id="R392990ef3ed240c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c99a517db084702" /><Relationship Type="http://schemas.openxmlformats.org/officeDocument/2006/relationships/notesMaster" Target="/ppt/notesMasters/notesMaster1.xml" Id="Rc70eefbda0c5453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dbefa2795c4a2d" /><Relationship Type="http://schemas.openxmlformats.org/officeDocument/2006/relationships/notesMaster" Target="/ppt/notesMasters/notesMaster1.xml" Id="R9d9cafca4ac74c9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a78b6657d904939" /><Relationship Type="http://schemas.openxmlformats.org/officeDocument/2006/relationships/notesMaster" Target="/ppt/notesMasters/notesMaster1.xml" Id="R74630598095e4d0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ae95c1354d14ae8" /><Relationship Type="http://schemas.openxmlformats.org/officeDocument/2006/relationships/notesMaster" Target="/ppt/notesMasters/notesMaster1.xml" Id="Rafd8b1bb52ed4d2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02c741ec4704ce5" /><Relationship Type="http://schemas.openxmlformats.org/officeDocument/2006/relationships/notesMaster" Target="/ppt/notesMasters/notesMaster1.xml" Id="R209254fc89c0478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9fedd1e93e54b88" /><Relationship Type="http://schemas.openxmlformats.org/officeDocument/2006/relationships/notesMaster" Target="/ppt/notesMasters/notesMaster1.xml" Id="Rda3b1b89c02d42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7a8675e1c6f46c5" /><Relationship Type="http://schemas.openxmlformats.org/officeDocument/2006/relationships/notesMaster" Target="/ppt/notesMasters/notesMaster1.xml" Id="R1014716363d1430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ded6557c2c34d3a" /><Relationship Type="http://schemas.openxmlformats.org/officeDocument/2006/relationships/notesMaster" Target="/ppt/notesMasters/notesMaster1.xml" Id="Rfe342983c2824c8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a991410a36c4190" /><Relationship Type="http://schemas.openxmlformats.org/officeDocument/2006/relationships/notesMaster" Target="/ppt/notesMasters/notesMaster1.xml" Id="R80741b4606bb468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7cbe0523ffb432c" /><Relationship Type="http://schemas.openxmlformats.org/officeDocument/2006/relationships/notesMaster" Target="/ppt/notesMasters/notesMaster1.xml" Id="R818bcb272c784ee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bb0a6cb2378440b" /><Relationship Type="http://schemas.openxmlformats.org/officeDocument/2006/relationships/notesMaster" Target="/ppt/notesMasters/notesMaster1.xml" Id="Rc7d382ae8170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11e88560f4e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3a6b1011d84366" /><Relationship Type="http://schemas.openxmlformats.org/officeDocument/2006/relationships/slideLayout" Target="/ppt/slideLayouts/slideLayout1.xml" Id="R6e5b3f13c2e3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b3f13c2e3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52a3df8844e2" /><Relationship Type="http://schemas.openxmlformats.org/officeDocument/2006/relationships/image" Target="/ppt/media/image.png" Id="Ra0f62fe04bec4631" /><Relationship Type="http://schemas.openxmlformats.org/officeDocument/2006/relationships/notesSlide" Target="/ppt/notesSlides/notesSlide1.xml" Id="Re98beb80156843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8ea8a82b04d26" /><Relationship Type="http://schemas.openxmlformats.org/officeDocument/2006/relationships/image" Target="/ppt/media/image2.png" Id="R3e7e66fda288499f" /><Relationship Type="http://schemas.openxmlformats.org/officeDocument/2006/relationships/notesSlide" Target="/ppt/notesSlides/notesSlide2.xml" Id="Rd62da13b81a2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8fc9968e04240" /><Relationship Type="http://schemas.openxmlformats.org/officeDocument/2006/relationships/notesSlide" Target="/ppt/notesSlides/notesSlide3.xml" Id="Rce834820673949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40e703a74657" /><Relationship Type="http://schemas.openxmlformats.org/officeDocument/2006/relationships/image" Target="/ppt/media/image3.png" Id="R30ef43bd117d4a84" /><Relationship Type="http://schemas.openxmlformats.org/officeDocument/2006/relationships/notesSlide" Target="/ppt/notesSlides/notesSlide4.xml" Id="R32d7cc06f1a14f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4cb0a5c7f4fae" /><Relationship Type="http://schemas.openxmlformats.org/officeDocument/2006/relationships/notesSlide" Target="/ppt/notesSlides/notesSlide5.xml" Id="Rd7aace8347b0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18b0efd34b88" /><Relationship Type="http://schemas.openxmlformats.org/officeDocument/2006/relationships/notesSlide" Target="/ppt/notesSlides/notesSlide6.xml" Id="Rcfb464f4312d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4495ea17741e2" /><Relationship Type="http://schemas.openxmlformats.org/officeDocument/2006/relationships/image" Target="/ppt/media/image4.png" Id="Rf24bcbe8e6c943fc" /><Relationship Type="http://schemas.openxmlformats.org/officeDocument/2006/relationships/image" Target="/ppt/media/image5.png" Id="Rfd1b0540a8f14e1c" /><Relationship Type="http://schemas.openxmlformats.org/officeDocument/2006/relationships/notesSlide" Target="/ppt/notesSlides/notesSlide7.xml" Id="R3e56514b61a1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0e83b84e3493b" /><Relationship Type="http://schemas.openxmlformats.org/officeDocument/2006/relationships/image" Target="/ppt/media/image6.png" Id="R16db59a717eb4369" /><Relationship Type="http://schemas.openxmlformats.org/officeDocument/2006/relationships/notesSlide" Target="/ppt/notesSlides/notesSlide8.xml" Id="R2ebef32374b24e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fd41355a740e4" /><Relationship Type="http://schemas.openxmlformats.org/officeDocument/2006/relationships/image" Target="/ppt/media/image7.png" Id="R5409f672ac8f4c99" /><Relationship Type="http://schemas.openxmlformats.org/officeDocument/2006/relationships/image" Target="/ppt/media/image8.png" Id="R465bb35d491b4ddf" /><Relationship Type="http://schemas.openxmlformats.org/officeDocument/2006/relationships/notesSlide" Target="/ppt/notesSlides/notesSlide9.xml" Id="R5dd660a8fa064b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e26d37d04464" /><Relationship Type="http://schemas.openxmlformats.org/officeDocument/2006/relationships/notesSlide" Target="/ppt/notesSlides/notesSlide10.xml" Id="R1d70576c5740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7a487432d4d1f" /><Relationship Type="http://schemas.openxmlformats.org/officeDocument/2006/relationships/image" Target="/ppt/media/image9.png" Id="R07c361e564374cf0" /><Relationship Type="http://schemas.openxmlformats.org/officeDocument/2006/relationships/notesSlide" Target="/ppt/notesSlides/notesSlide11.xml" Id="R02143ed3b37b41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e756dd10c4e41" /><Relationship Type="http://schemas.openxmlformats.org/officeDocument/2006/relationships/image" Target="/ppt/media/image10.png" Id="R0c9beef1a42c466b" /><Relationship Type="http://schemas.openxmlformats.org/officeDocument/2006/relationships/image" Target="/ppt/media/image11.png" Id="R2f82fc76c59c4ae7" /><Relationship Type="http://schemas.openxmlformats.org/officeDocument/2006/relationships/image" Target="/ppt/media/image12.png" Id="R7fbfc3a7afb24023" /><Relationship Type="http://schemas.openxmlformats.org/officeDocument/2006/relationships/notesSlide" Target="/ppt/notesSlides/notesSlide12.xml" Id="R0d0ef5535d794f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199674b2941f3" /><Relationship Type="http://schemas.openxmlformats.org/officeDocument/2006/relationships/notesSlide" Target="/ppt/notesSlides/notesSlide13.xml" Id="R674c1ff682ad43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45d0ab96469b" /><Relationship Type="http://schemas.openxmlformats.org/officeDocument/2006/relationships/image" Target="/ppt/media/image13.png" Id="R461b601bae0e4414" /><Relationship Type="http://schemas.openxmlformats.org/officeDocument/2006/relationships/notesSlide" Target="/ppt/notesSlides/notesSlide14.xml" Id="Ra24546609a344d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5adac3a04ce8" /><Relationship Type="http://schemas.openxmlformats.org/officeDocument/2006/relationships/notesSlide" Target="/ppt/notesSlides/notesSlide15.xml" Id="R28282d68fb0c46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d95b2b3946b1" /><Relationship Type="http://schemas.openxmlformats.org/officeDocument/2006/relationships/notesSlide" Target="/ppt/notesSlides/notesSlide16.xml" Id="R0c552263c49b4c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6f11d0a424122" /><Relationship Type="http://schemas.openxmlformats.org/officeDocument/2006/relationships/image" Target="/ppt/media/image14.png" Id="R0eff55754f9c4e54" /><Relationship Type="http://schemas.openxmlformats.org/officeDocument/2006/relationships/image" Target="/ppt/media/image15.png" Id="R7903e51221a54610" /><Relationship Type="http://schemas.openxmlformats.org/officeDocument/2006/relationships/image" Target="/ppt/media/image16.png" Id="R9f54347a9adc422b" /><Relationship Type="http://schemas.openxmlformats.org/officeDocument/2006/relationships/notesSlide" Target="/ppt/notesSlides/notesSlide17.xml" Id="R687af6a9ffc849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e6f1789c74d5e" /><Relationship Type="http://schemas.openxmlformats.org/officeDocument/2006/relationships/image" Target="/ppt/media/image17.png" Id="R3c45c75e0b2846d3" /><Relationship Type="http://schemas.openxmlformats.org/officeDocument/2006/relationships/image" Target="/ppt/media/image18.png" Id="Rec9115356f924005" /><Relationship Type="http://schemas.openxmlformats.org/officeDocument/2006/relationships/notesSlide" Target="/ppt/notesSlides/notesSlide18.xml" Id="R297013e234c648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0c06e96e74af3" /><Relationship Type="http://schemas.openxmlformats.org/officeDocument/2006/relationships/notesSlide" Target="/ppt/notesSlides/notesSlide19.xml" Id="R94c379a395b340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8b79ba1c64d08" /><Relationship Type="http://schemas.openxmlformats.org/officeDocument/2006/relationships/notesSlide" Target="/ppt/notesSlides/notesSlide20.xml" Id="R2dc6ece5fade4d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0b2e97094488e" /><Relationship Type="http://schemas.openxmlformats.org/officeDocument/2006/relationships/notesSlide" Target="/ppt/notesSlides/notesSlide21.xml" Id="R6426c26452cc45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2bebeae1942b9" /><Relationship Type="http://schemas.openxmlformats.org/officeDocument/2006/relationships/notesSlide" Target="/ppt/notesSlides/notesSlide22.xml" Id="R322b38ce1fef40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df9ed148b43c6" /><Relationship Type="http://schemas.openxmlformats.org/officeDocument/2006/relationships/notesSlide" Target="/ppt/notesSlides/notesSlide23.xml" Id="Red923d2bd2e243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4691deba04951" /><Relationship Type="http://schemas.openxmlformats.org/officeDocument/2006/relationships/notesSlide" Target="/ppt/notesSlides/notesSlide24.xml" Id="Rf2be18b858b94e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e679e1f894ce6" /><Relationship Type="http://schemas.openxmlformats.org/officeDocument/2006/relationships/notesSlide" Target="/ppt/notesSlides/notesSlide25.xml" Id="R326229e42bfe4a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9d2ef39294370" /><Relationship Type="http://schemas.openxmlformats.org/officeDocument/2006/relationships/notesSlide" Target="/ppt/notesSlides/notesSlide26.xml" Id="R87677428e3ab40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2e4fd35e742f0" /><Relationship Type="http://schemas.openxmlformats.org/officeDocument/2006/relationships/image" Target="/ppt/media/image19.png" Id="Re4f266c4204343ec" /><Relationship Type="http://schemas.openxmlformats.org/officeDocument/2006/relationships/notesSlide" Target="/ppt/notesSlides/notesSlide27.xml" Id="Rbf4e87aa547043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bc21369c4456a" /><Relationship Type="http://schemas.openxmlformats.org/officeDocument/2006/relationships/image" Target="/ppt/media/image20.png" Id="R5ca10bf5543449e6" /><Relationship Type="http://schemas.openxmlformats.org/officeDocument/2006/relationships/notesSlide" Target="/ppt/notesSlides/notesSlide28.xml" Id="R59447e0267dd49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8782952b4082" /><Relationship Type="http://schemas.openxmlformats.org/officeDocument/2006/relationships/notesSlide" Target="/ppt/notesSlides/notesSlide29.xml" Id="R06522903deb141c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a8b23f6684db3" /><Relationship Type="http://schemas.openxmlformats.org/officeDocument/2006/relationships/notesSlide" Target="/ppt/notesSlides/notesSlide30.xml" Id="Rc27bd194fa3a41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9134f7ba649d5" /><Relationship Type="http://schemas.openxmlformats.org/officeDocument/2006/relationships/image" Target="/ppt/media/image21.png" Id="Rff1b12c3c87a40b5" /><Relationship Type="http://schemas.openxmlformats.org/officeDocument/2006/relationships/notesSlide" Target="/ppt/notesSlides/notesSlide31.xml" Id="R67adcc8cefeb41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af062035c435d" /><Relationship Type="http://schemas.openxmlformats.org/officeDocument/2006/relationships/image" Target="/ppt/media/image22.png" Id="R0f3689f5a10a49c6" /><Relationship Type="http://schemas.openxmlformats.org/officeDocument/2006/relationships/notesSlide" Target="/ppt/notesSlides/notesSlide32.xml" Id="R84433dee83294f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ecfbfb6104bc5" /><Relationship Type="http://schemas.openxmlformats.org/officeDocument/2006/relationships/image" Target="/ppt/media/image23.png" Id="R7bb38f1bcb604ef1" /><Relationship Type="http://schemas.openxmlformats.org/officeDocument/2006/relationships/image" Target="/ppt/media/image24.png" Id="Rad41fcdb0c3f456e" /><Relationship Type="http://schemas.openxmlformats.org/officeDocument/2006/relationships/notesSlide" Target="/ppt/notesSlides/notesSlide33.xml" Id="R0c22057b7f1848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6d13db0104f17" /><Relationship Type="http://schemas.openxmlformats.org/officeDocument/2006/relationships/image" Target="/ppt/media/image25.png" Id="Rccf5f315c9874c51" /><Relationship Type="http://schemas.openxmlformats.org/officeDocument/2006/relationships/image" Target="/ppt/media/image26.png" Id="R802cff93f3844e9f" /><Relationship Type="http://schemas.openxmlformats.org/officeDocument/2006/relationships/notesSlide" Target="/ppt/notesSlides/notesSlide34.xml" Id="Rdfc0a3276c4b4c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8a9f5e449495d" /><Relationship Type="http://schemas.openxmlformats.org/officeDocument/2006/relationships/image" Target="/ppt/media/image27.png" Id="R5c32eba93bb6458c" /><Relationship Type="http://schemas.openxmlformats.org/officeDocument/2006/relationships/image" Target="/ppt/media/image28.png" Id="R326e54d9a8c94521" /><Relationship Type="http://schemas.openxmlformats.org/officeDocument/2006/relationships/notesSlide" Target="/ppt/notesSlides/notesSlide35.xml" Id="R4f2de970ff7d41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473755d034715" /><Relationship Type="http://schemas.openxmlformats.org/officeDocument/2006/relationships/notesSlide" Target="/ppt/notesSlides/notesSlide36.xml" Id="R417ac6966b0c41a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a5d412bb24574" /><Relationship Type="http://schemas.openxmlformats.org/officeDocument/2006/relationships/notesSlide" Target="/ppt/notesSlides/notesSlide37.xml" Id="R7f02929d91054a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b532f21a44ac9" /><Relationship Type="http://schemas.openxmlformats.org/officeDocument/2006/relationships/image" Target="/ppt/media/image29.png" Id="Ra72ac08247444204" /><Relationship Type="http://schemas.openxmlformats.org/officeDocument/2006/relationships/notesSlide" Target="/ppt/notesSlides/notesSlide38.xml" Id="R03a560fba7bd40c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d52d497c4531" /><Relationship Type="http://schemas.openxmlformats.org/officeDocument/2006/relationships/image" Target="/ppt/media/image30.png" Id="Rd1be916ff4854b2b" /><Relationship Type="http://schemas.openxmlformats.org/officeDocument/2006/relationships/notesSlide" Target="/ppt/notesSlides/notesSlide39.xml" Id="Rf507a9f033594b6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a7981945c4d32" /><Relationship Type="http://schemas.openxmlformats.org/officeDocument/2006/relationships/notesSlide" Target="/ppt/notesSlides/notesSlide40.xml" Id="Rc80d9274a3434a3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e926fee494d71" /><Relationship Type="http://schemas.openxmlformats.org/officeDocument/2006/relationships/notesSlide" Target="/ppt/notesSlides/notesSlide41.xml" Id="R549c5c7ecc2c443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204a76cd438c" /><Relationship Type="http://schemas.openxmlformats.org/officeDocument/2006/relationships/image" Target="/ppt/media/image31.png" Id="R0e094d7615b44d12" /><Relationship Type="http://schemas.openxmlformats.org/officeDocument/2006/relationships/notesSlide" Target="/ppt/notesSlides/notesSlide42.xml" Id="R9710639d81c34ef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396e023fc4526" /><Relationship Type="http://schemas.openxmlformats.org/officeDocument/2006/relationships/image" Target="/ppt/media/image32.png" Id="R6ed75767bb8547ea" /><Relationship Type="http://schemas.openxmlformats.org/officeDocument/2006/relationships/notesSlide" Target="/ppt/notesSlides/notesSlide43.xml" Id="R40b1ba64ce724eb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75e3f3e494996" /><Relationship Type="http://schemas.openxmlformats.org/officeDocument/2006/relationships/image" Target="/ppt/media/image33.png" Id="Rbf54f2f11d714663" /><Relationship Type="http://schemas.openxmlformats.org/officeDocument/2006/relationships/notesSlide" Target="/ppt/notesSlides/notesSlide44.xml" Id="R79f40066735b442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2b631fb6a433d" /><Relationship Type="http://schemas.openxmlformats.org/officeDocument/2006/relationships/notesSlide" Target="/ppt/notesSlides/notesSlide45.xml" Id="R2d5a81d89f15471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27b41bc44483" /><Relationship Type="http://schemas.openxmlformats.org/officeDocument/2006/relationships/notesSlide" Target="/ppt/notesSlides/notesSlide46.xml" Id="Rb4ae8a603c9644b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083d1296040a3" /><Relationship Type="http://schemas.openxmlformats.org/officeDocument/2006/relationships/image" Target="/ppt/media/image34.png" Id="Rea438b59b57e4026" /><Relationship Type="http://schemas.openxmlformats.org/officeDocument/2006/relationships/image" Target="/ppt/media/image35.png" Id="Rbaa576467b734cfc" /><Relationship Type="http://schemas.openxmlformats.org/officeDocument/2006/relationships/image" Target="/ppt/media/image36.png" Id="R202a6f2f33634e93" /><Relationship Type="http://schemas.openxmlformats.org/officeDocument/2006/relationships/notesSlide" Target="/ppt/notesSlides/notesSlide47.xml" Id="R8fe48196b6b9437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3f837620b495f" /><Relationship Type="http://schemas.openxmlformats.org/officeDocument/2006/relationships/notesSlide" Target="/ppt/notesSlides/notesSlide48.xml" Id="Re0945deb145e45b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edf64bd434e56" /><Relationship Type="http://schemas.openxmlformats.org/officeDocument/2006/relationships/notesSlide" Target="/ppt/notesSlides/notesSlide49.xml" Id="R6735465c11554ae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6aa0a0c664497" /><Relationship Type="http://schemas.openxmlformats.org/officeDocument/2006/relationships/notesSlide" Target="/ppt/notesSlides/notesSlide50.xml" Id="R5a472dac139a401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f6d880f642ed" /><Relationship Type="http://schemas.openxmlformats.org/officeDocument/2006/relationships/notesSlide" Target="/ppt/notesSlides/notesSlide51.xml" Id="R5e7b215b1ce64f5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df2da17f7413c" /><Relationship Type="http://schemas.openxmlformats.org/officeDocument/2006/relationships/notesSlide" Target="/ppt/notesSlides/notesSlide52.xml" Id="R8b156aad74e14b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1770F-E1FA-498E-8ABE-47C2CFBF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2929-F089-4B98-BB9F-B99A102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E5E31-7F05-420F-A167-3B20C432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305B6-86A0-41A4-87AD-C4623CE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76CA-DDD7-4D0E-B1A4-15348CB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Rubric-aligned final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B01D6-0437-47E3-A03E-38140F6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62fe04bec4631"/>
          <a:stretch xmlns:a="http://schemas.openxmlformats.org/drawingml/2006/main"/>
        </p:blipFill>
        <p:spPr>
          <a:xfrm xmlns:a="http://schemas.openxmlformats.org/drawingml/2006/main">
            <a:off x="7467600" y="980405"/>
            <a:ext cx="3543300" cy="3944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EAFB6-6894-42F2-B526-0266D3F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13572-34CE-40BF-87AB-52A0D46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D0B5B-477A-449B-A1A8-E673843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76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D9128-716B-4803-9548-840F838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BA644-2648-4B00-816E-B06E7D32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3BEC6-44B8-4ADA-AC61-C529547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2A9EA-F2B3-4852-89D9-815276A7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8B619-351E-406B-9438-F09FD5A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palette-token vocab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92D88-6018-4450-A0CC-40225DE3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7CF56-25A8-456B-8AAD-DBD8E21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50F36-8A42-4AB3-9D1C-438E976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7348A-4561-4B2A-95E9-C665089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339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D542B-2E5E-4B0D-8728-9EEA130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Thesis: generate transparent pixel-art sprites directly in discrete palette-index space, then evaluate honestly with baselines, ablations, and memorization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7B096-330B-4E20-A0FB-A523295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15C80-F50A-47DF-A249-EEC21224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B322E-D2C0-4462-846B-9D5CEF6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1/14 main</a:t>
            </a:r>
          </a:p>
        </p:txBody>
      </p:sp>
    </p:spTree>
    <p:extLst>
      <p:ext uri="{BB962C8B-B14F-4D97-AF65-F5344CB8AC3E}">
        <p14:creationId xmlns:p14="http://schemas.microsoft.com/office/powerpoint/2010/main" val="14359005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11497-EAD7-457C-ABFF-40278C14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83F08-CC5F-42C6-B4B2-5D10B2B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7FA3C6F-3E27-4C6B-AD89-CF10D703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FD77813-F2CD-4A80-BB23-14E9EB5F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0DFC2-FCE8-411E-967C-EBDD8657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AB801-8D48-4E8A-83FB-7A10BCF6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B82B-3F8E-49F2-A994-89244974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problem statement and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97275-BCF0-4644-A17B-2FE75A1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326F4-F7E6-4ADD-8782-1A55B4DD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D68BD-A0DF-40E4-B084-4757FF1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2566A-A79E-481D-A229-2B2292BB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19F6E-F934-458D-BCA0-C72DE13F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pixel-ish pictures.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E8D90-BF1D-4871-9775-2A105A7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35FB-B8C6-44C1-8FAC-EA33ADF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D4845-63ED-4747-AFEA-4D7D8DC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A8026-D68E-49CA-BBE6-F53D6E8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E59A3-FAB7-4343-91B7-5A01455C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B7902-36D9-4091-AFAD-3BD9535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FD6FE-36AC-4AC7-8457-5C10E45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0B57D-CCEF-4FE8-8AA9-E1E5D095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C1D32-62B0-4A9C-BC93-5459DA56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66fda288499f"/>
          <a:srcRect xmlns:a="http://schemas.openxmlformats.org/drawingml/2006/main" l="0" t="18639" r="0" b="18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038600"/>
            <a:ext cx="22098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A3584-8ECD-4314-A49B-F9B3342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EDC9A-B403-4A76-800A-5AF41BCF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C8820-2BDB-4BFF-B084-2032A375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CA320-9C81-4173-A08C-9923A08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BD1CC-89F2-4EF6-8F0D-5BBACAD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A3053-5459-4515-A2DA-3B8700D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17994544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F0BE5F-46CE-4D9F-A0E3-C10DE8E8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AD1B2-86FF-4230-8FC0-4A50D09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9D5FB02-8512-4D80-9BDA-961C536B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B0D1AD3-98F2-472F-8C71-721E2B9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CF38A-634B-40BD-B1AF-64F8A36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4A15C-1A7B-4168-8869-0FAD0C08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9C09A-F072-4F83-8CF7-FA078BA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related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4D41F-F599-4B98-B381-920319FC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A4971-BE66-4253-9203-42FF470D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697E2-197B-487C-B2B3-62355DF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4065E-2623-4495-A043-DEF04909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Representative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4B823-4053-4259-A37E-96CF3990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38300"/>
            <a:ext cx="3057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contributes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57503-4846-4362-AE7E-FACF345D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38300"/>
            <a:ext cx="3724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Gap for this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BDF02-A103-49C3-AEE8-8A3E8D4A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57B13-7E7B-4048-9C9A-334C2952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00180-1208-4E3E-A687-150077B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621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&amp; Chaimowicz; MDIGAN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F6F0C-5726-48E0-A86D-451425A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Character sprite generation / pose imputation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F58AE-B2B5-473D-B904-A766DFA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621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Often conditional or paired-pose, not unconditional sampling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DB680-7020-4457-95DC-DDFA9D0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6DB67-AE48-4295-8337-82D937C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8422A-2CD4-4D2E-90B1-F32EE5E1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diffusion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86195-0D7A-4598-81AA-A080B36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SD-piXL; PixDiff-PIG; SDXL LoRAs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DB27E-06F6-4779-9ABF-6645EE1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Low-res or pixel-art-like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067CD-DB2D-48BA-B08D-9D83FB40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0510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Often continuous/image-first or prompt-conditioned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B17D4-B394-49E5-9CF3-FCF40A2B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3E0D1-ED2E-4EB6-A89D-F1F4C3D2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image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3FB71-AC8C-4F30-8CD3-884A1A68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480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VQ-VAE; VQ-style tokenizers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C3B87-E38E-444D-BF35-D8A527D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480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representation 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0C682-A342-4ACA-A00F-2530FD1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480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quality and generation prior remain hard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A6175-E992-4028-9D7B-7D10BF7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45AE79-53FC-42B5-88FA-2B429780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6B433A-0BDD-4FBE-B8F2-BD807BF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AE44D-A981-4A0F-8567-7C87F2B6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VAR, M-VAR, HMAR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6347C-B840-46C2-8647-477C159B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Coarse-to-fine image-token generation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94C81B-9E36-4FA7-B607-F41C17B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9100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Mostly high-res natural images with large codebooks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DA5DC1-464F-4CC9-9B0D-6364FC8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DDB73-99F2-4261-ACCE-8D6CD38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token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47A04-AA21-4F32-A365-E3F44C5F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 AR, MaskGIT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1CFA7-446E-4BB8-8C48-7EE6E91C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339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sequence or masked final-grid decoding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90D561-23BD-4019-B204-C0D84DFD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339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Good contrast to hierarchy; can memorize or fail coverage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4DF1FA-D82D-47A0-8285-66ECB222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novelty in our project context: applying next-scale prediction to tiny, transparent, palette-constrained sprites and auditing it against close baselines.</a:t>
            </a:r>
          </a:p>
        </p:txBody>
      </p:sp>
    </p:spTree>
    <p:extLst>
      <p:ext uri="{BB962C8B-B14F-4D97-AF65-F5344CB8AC3E}">
        <p14:creationId xmlns:p14="http://schemas.microsoft.com/office/powerpoint/2010/main" val="320341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53E38-9D75-4290-8D67-4C443038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8CB7B-F2ED-4024-8897-5672D996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0E0A05E-A11B-45C6-AF72-19BE78C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0024878-F098-4AF6-B4B8-40635D5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GOAL AND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8E8F0-F658-4DD5-B93E-A01D183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proposal target was a 32x32 palette-token generator plus HMAR and baseline comparisons.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568B9-BABA-4070-AB96-3B1A1D97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AB0E4-24CC-474C-8010-164F77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methodology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34177-9A44-4EE8-9CC2-89FB2C62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A282F-609B-4B75-93C4-60A3E3C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2390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0AAD7-CA80-48BC-A4FE-4361C70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85F8-3CC5-4E83-8164-CB657A61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56C7E-A9D7-4178-9759-D2970034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A5E96-D306-41B3-BBBE-C97FD45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9205D-96BA-4CA7-B976-CD37AAF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 + 32x32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20522-B382-49BF-8C9A-FD6B6623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B65C0-C346-4A66-94C1-A5E06026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Pokemon path, OpenGameArt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45695-33D4-4DE9-86DD-CFB35B9E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207B7-11C3-46E1-A739-D371E6E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74B8D-DDFB-4B10-BE22-DD9F32C7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Palette-index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9D655-C1B8-4255-B78E-73ECBC6F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D5D4B-8281-4470-93A1-84A46C3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0 + palette tokens 1..16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8BB40-9A38-4170-B358-DB49192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68E35-AB7C-49CB-A7B7-F93279DA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13486-828B-40D0-A330-6B63140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C467C-6AB4-4BC2-9525-A623106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3EDBD-5A3D-4122-8605-D9B4CBA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FEF24-2494-4F9B-B9E9-BAFB535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C855E-3CFB-494F-B784-6920E710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5C0F0-B79B-4D58-928D-A86389D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719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4F6D5-4EF0-4E32-AF71-243740D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BBBE4-DA5F-4400-BE75-39D4198D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5BE711-C4E3-41A0-9DA1-208C3A3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999FE-89B4-4725-A950-B55CDC6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687F2-0026-4201-B16A-A76F54A6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FID/KID/PRDC/MS-SSIM, external baselines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77D52D-5E55-4502-B743-D4BA352D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45746-9B1B-4BFD-BA77-FB0B54E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F901D4-1152-446D-AA2D-174F5CA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VQ-VAE, user study, 64x64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DB2C2-E53F-4D5E-85D2-CA2E95AD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/ FUTURE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338F8-5F1C-496B-8EE1-059CCA3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Disclosed as limitations/future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4C3012-5817-42E4-BAFA-E5F6DA1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476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43bd117d4a84"/>
          <a:stretch xmlns:a="http://schemas.openxmlformats.org/drawingml/2006/main"/>
        </p:blipFill>
        <p:spPr>
          <a:xfrm xmlns:a="http://schemas.openxmlformats.org/drawingml/2006/main">
            <a:off x="8706876" y="1657350"/>
            <a:ext cx="2017249" cy="36385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909CEF-1D3E-4067-8C3C-178718DC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deck is intentionally audit-adjusted: we do not claim broad SOTA, and we do not hide failed or incomplete proposal items.</a:t>
            </a:r>
          </a:p>
        </p:txBody>
      </p:sp>
    </p:spTree>
    <p:extLst>
      <p:ext uri="{BB962C8B-B14F-4D97-AF65-F5344CB8AC3E}">
        <p14:creationId xmlns:p14="http://schemas.microsoft.com/office/powerpoint/2010/main" val="18548103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A6C81-BA8F-4C3E-8821-905B2286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4A5DD-766F-419D-AF6B-C23BC797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F7E654B-DA8B-4FCE-A07A-D0E369E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48DDA25-8BF0-41E9-84DC-218DD61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A3E90-FB01-4738-AE38-76EA543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multiple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D26C7-120E-42C4-B3E6-421E3646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0D0A3-E484-43B8-A226-B8D5EF13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BE523-06CE-4740-9CAC-EC3310BD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56CD0-0D46-4EDA-88F4-95F79AA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78D78-2648-403B-8A3E-FD7D9E2A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52909-F348-4C22-8A74-9BF6184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E8521-2B94-4190-B1ED-89A8F09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ACC69-2D95-467D-8D73-D01C23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B63C6-08DB-4382-B44C-068E7D7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EEF17-96E6-4065-BF55-D90A43D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2907A-B505-40D5-997C-A6281528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84CD0-D02B-46C9-9245-D0C78AA6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5D961-0303-49C1-B085-058612A6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7315B-FC49-43B9-B145-26284819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1CDF9-EC19-40FE-9CC3-3BC8B35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79101-307E-484F-9247-1E01BC30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60DA3-C60D-4AF1-BF3D-ED594B10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6822-C094-4357-AE0B-4AE99B1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0E1B5-0755-4968-B195-10B3FA6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2DB1C-884D-4467-93BA-E5A8A31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472A2-CA8E-4F71-B787-DD72C39A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1E06E-8158-45E1-90DA-A2083E9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DC3D8-16F4-46DC-BC22-8E0AD219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E2EDE-17BD-49C6-9A12-509F6B75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24EDF-B637-40FC-9632-23BA745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62625-662E-40A4-9519-7C60DA8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C31084-1CB4-4684-8BF1-ABAC5A4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score, palette consistency, opaque ratio, edge density, FID, KID, precision/recall, density/coverage, MS-SSIM, exact-match audit.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718F8-E705-4033-A0B7-0DBE563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9FF07-4B9A-44B5-BE9D-BCD596E9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D9DAD-F882-4474-964E-780AC30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0EBB7D-B3B2-4787-907C-62850382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HMAR, generated/mixed data, Patch-VQ, Flat AR, Flat MaskGIT, SD-piXL, SSD-1B practical diffusion, Pokemon sprite LoRA.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35235-63CC-4865-A00F-83B82FB3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Important: Inception metrics are reported, but not trusted alone for 32x32 pixel art. The memorization audit is part of the evaluation, not an afterthought.</a:t>
            </a:r>
          </a:p>
        </p:txBody>
      </p:sp>
    </p:spTree>
    <p:extLst>
      <p:ext uri="{BB962C8B-B14F-4D97-AF65-F5344CB8AC3E}">
        <p14:creationId xmlns:p14="http://schemas.microsoft.com/office/powerpoint/2010/main" val="4691376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68EE90-B721-47A3-97C7-FF770C3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F698D-2980-40C1-8C7A-C3B5CBE2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CB4ADD61-3CBC-4905-BB8B-D9D37AB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66D26F0B-4E19-4505-997D-793110AF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7ADA-E30E-43F6-8A57-F8DB029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CE76E-A569-4F6C-A256-499F79C5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D3C8-FA5C-49E0-9E84-59C1AC3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808FC-53F4-441F-BE62-C5E59F3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E3543-A481-454E-9606-54BF76A3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4AC57-B9BD-4C59-A405-7668A65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1B685-FB38-4E3F-8CE0-B7819BB6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D3987-FE88-4943-90DD-8E3E3AE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BC7D9-1FDB-42EB-A7BE-4F881473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23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03BC2-B234-45FB-B634-0D06A65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04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90F0D-DE46-40F0-AB0A-FFA6FC7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0425"/>
            <a:ext cx="11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CB79F-535C-40AF-8A80-3C2451B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2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004A7-EE82-460C-93ED-CCD672B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9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EEC88-C528-418A-8CC4-826C0F7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73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81F69-B653-4D86-8B86-CF6ADA4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7300"/>
            <a:ext cx="455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0A0AF-D0D7-414F-908D-748B263B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96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7992B-FACE-4F33-ADD7-03458F4B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CD89E-938D-4E2C-B11D-2FEF969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D9338-490B-45E8-8C32-D1A5D225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1821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6E96D-C529-4584-93ED-8D94650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00E8A-9218-4816-94F1-6766B9D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DA69A-028D-4AE9-BEA7-CEDB385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10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130BC-F251-411F-974D-F189B86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1050"/>
            <a:ext cx="7286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D0A56-59DB-4176-AF24-56EE2FD3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34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BCFBF-389C-4215-9C9D-250884C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98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9558A-3394-459D-BCBA-7CF81EA6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79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59732-125D-432E-A0CF-D656B875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79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10ACD-0CC0-4314-8ADA-C3D1489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0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B7A1E-1AE4-49BF-ABB1-AD6899B6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5334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54DD9-56AA-47B5-8677-C14C3E11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C0CEBD-446B-44BD-A2DF-54484E7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716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9988C-E66E-4143-B543-B3C8B84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BC4141-3DF2-4A5A-AFD1-4327E4DA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C104CD-E261-4292-8A8A-2B5F99EF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8BA24-F03C-4F07-8D64-7BB278B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79067-1A34-482D-98DB-52BFCD9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D2EA56-9EBF-40F7-8358-BD6069E6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3A4697-CF40-4863-97B8-5F0278A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0C6837-4507-4EE2-A8CE-8D92778B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8E14CD-41CA-4F89-8CAA-9AE2E91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53C052-FF2B-4CCD-A6BB-C9FFCC38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EC0722-98BE-43FD-A4AE-E6CEF76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2A9337-C361-4B01-98AC-DD078B1F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7FFC92-9407-4408-A0A6-98AAEBC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2DFBF0-836A-49F2-BEDF-9960ED33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FE1F58-3DF1-4AC6-A40C-B31448E1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113F97-CC7A-4862-BD86-B9261CA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2A4906-6F5B-4859-86B0-EFE5673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2F26F1-2336-4DAC-8C70-6C277121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3EA8D7-5358-41D2-8087-9E996CB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D33D2A-EFA6-4133-A93D-72C778D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 length is 1,365 tokens. The final 32x32 map is both the last scale and the training target for visible sprite detail.</a:t>
            </a:r>
          </a:p>
        </p:txBody>
      </p:sp>
    </p:spTree>
    <p:extLst>
      <p:ext uri="{BB962C8B-B14F-4D97-AF65-F5344CB8AC3E}">
        <p14:creationId xmlns:p14="http://schemas.microsoft.com/office/powerpoint/2010/main" val="11557085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09CAC4-9155-4042-A5DB-7865F6AB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43F9-83B0-4F72-8897-DA58C0A8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56F15DA-E9A5-4ED5-A135-5C999EB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AC8A6F0-B868-489C-8676-17486FEC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CFAB-F307-4D3A-BC8C-3AE7824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93719-31BC-4304-9243-B817D3E8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7BB39-72EE-423F-A374-13F1CF2F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31FF6-4813-436B-9DF1-A24A6FC0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DB2D3-3913-4841-B1D8-7AEFE349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bcbe8e6c943fc"/>
          <a:stretch xmlns:a="http://schemas.openxmlformats.org/drawingml/2006/main"/>
        </p:blipFill>
        <p:spPr>
          <a:xfrm xmlns:a="http://schemas.openxmlformats.org/drawingml/2006/main">
            <a:off x="714676" y="1504950"/>
            <a:ext cx="4209448" cy="468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DE7D6-8CDC-4BED-AE27-522C87D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5334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b0540a8f14e1c"/>
          <a:stretch xmlns:a="http://schemas.openxmlformats.org/drawingml/2006/main"/>
        </p:blipFill>
        <p:spPr>
          <a:xfrm xmlns:a="http://schemas.openxmlformats.org/drawingml/2006/main">
            <a:off x="6500813" y="1524000"/>
            <a:ext cx="3838575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C217B-7676-407B-9412-8D7D5E9F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930A1-4CAA-44CA-B5D1-4197BFD4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EEB40-DDBF-4610-BEFF-440B6C1A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AA300-ADA5-49BA-BA6C-EBC11B0B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F5755-FE31-4DD5-818B-1A401245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C8C23-5A91-4A79-BE2D-17EB7EA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DF3B4-E6DB-42EA-9A33-A9C6F06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DD675-1129-4971-A929-AD0E317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61008-C169-4A56-910D-32A03FE1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95782-7C5E-4699-AEBB-C70807E0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5E4AB-126F-4707-B036-74D0820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4F831-AEBC-4842-9F6C-63BBD8F5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95201-4D42-42E0-8E7E-F876174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00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9C36F-2C12-4988-BF9A-6603D361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324EF-2731-4AAA-8F5F-889216A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43E8B-1D0E-42F3-8D3F-A0BBF68C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top_k=8. Palette consistency is important, but it is expected from the discrete representation, so we do not oversell it.</a:t>
            </a:r>
          </a:p>
        </p:txBody>
      </p:sp>
    </p:spTree>
    <p:extLst>
      <p:ext uri="{BB962C8B-B14F-4D97-AF65-F5344CB8AC3E}">
        <p14:creationId xmlns:p14="http://schemas.microsoft.com/office/powerpoint/2010/main" val="4983781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E5FD0-3AFA-4356-8D68-DDA8A7F1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116FF-7AB7-4F66-AA99-F39813A7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FD6C3810-F5C6-43E8-9B0E-BF53C386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447B557-C75A-42C0-B474-C079C865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9775E-4F45-43B8-A50C-86592631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was close, but the main real-only PixelVAR branch stayed strongest on the sprite-feature evaluator.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63AF6-D056-42F0-A298-6354692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99BE-8429-4971-B329-67991620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ablation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8B96F-EA43-4BF3-9B48-0DD52E0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81B7F-52BF-4654-A67C-724F3D85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b59a717eb4369"/>
          <a:stretch xmlns:a="http://schemas.openxmlformats.org/drawingml/2006/main"/>
        </p:blipFill>
        <p:spPr>
          <a:xfrm xmlns:a="http://schemas.openxmlformats.org/drawingml/2006/main">
            <a:off x="650264" y="1524000"/>
            <a:ext cx="5462221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B871B-7CA1-4A70-9723-31796724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53231-B3A5-4BE1-BE41-D374E8A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89016-737D-40D8-A45E-1EFC84EE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419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36025-412F-4749-9527-CDCD9224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04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F620F-9F41-493E-89B5-B763D6E5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4FC55-2437-4001-A763-699F617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8D01A-163B-4C00-B271-45E63297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38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69038-550C-44EB-BE30-58E0FDD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05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AF095-14F7-4FCE-88FF-D7D6198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00B07-1934-4601-987F-46FBF3C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DDD7E-CBDC-4C13-A9EE-F61F07F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066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FD53D-6135-4F77-A479-7C20A75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67E3A-9C91-4C88-92BC-1AABC783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4B540-3ED0-4982-A21F-26788A67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A7607-2683-4828-9BF3-D6D6CE31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04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6CF6B-AD85-4E94-85F0-D339C26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ABA3B-9E9F-4191-8D28-B31913E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B0951-1ED2-43E6-ABF3-377BC3F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27344-56BA-4AED-94E8-AFE3284A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7B04C-C6AB-4519-9573-A19C8283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05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C9566-5134-4188-BE9F-A923D44E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57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D38FBF-8920-4A8E-B25A-7CB93813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FD30B-48BC-4D2E-AE48-FF52A52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EF4AF-5900-4FDA-875B-F776AE3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EB98A2-FC03-4153-BE9B-0D74EDFA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414DEA-0179-4F17-801E-D91C41C0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B8965-359F-4652-8565-937B5255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7D526A-2A5F-41EF-ABA9-5612AB84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FFAC96-8168-4F8C-BFDC-0211E83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7375E-1F4E-4F49-8551-FE21CD6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CF0B3-EFE2-4317-9281-B3C61B33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7586C4-23A8-4412-A11D-06BD6FD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C118F6-20A9-409E-B059-F0C612E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7746EC-2861-4738-8E9B-348EF62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8505182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CF3ED-4B4E-4C1C-93E9-C22E07E9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5AB3D-9653-4A15-976A-21AE673D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8FB4564-AC01-4A97-BA1B-1DFB3830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1B5F9BA9-CEA5-46B6-8EB1-F10F99C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31C88-D92E-4155-9792-AAD798B0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83CA6-D5A9-4BB6-85CD-696B1C6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F3B3E-1D23-4384-BAD1-3AB6E48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quantitative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30923-13DA-463A-8E17-4BB09C8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44759-449A-4671-AF74-811E3107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762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9f672ac8f4c99"/>
          <a:stretch xmlns:a="http://schemas.openxmlformats.org/drawingml/2006/main"/>
        </p:blipFill>
        <p:spPr>
          <a:xfrm xmlns:a="http://schemas.openxmlformats.org/drawingml/2006/main">
            <a:off x="635397" y="1504950"/>
            <a:ext cx="4520406" cy="2552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70FD2-37FB-4B6A-8979-85FC1E1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bb35d491b4ddf"/>
          <a:stretch xmlns:a="http://schemas.openxmlformats.org/drawingml/2006/main"/>
        </p:blipFill>
        <p:spPr>
          <a:xfrm xmlns:a="http://schemas.openxmlformats.org/drawingml/2006/main">
            <a:off x="6084570" y="1504950"/>
            <a:ext cx="4594860" cy="2552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2F683-7D2D-4D2B-8460-F29D368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1AE2C-C465-4B4F-B9BD-D446E5E1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9130-A793-4445-8D4F-A11A166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A8981-B17A-4C72-B683-AFF211AB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2249F-3D4F-4088-B0FE-ED300010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DBEF9-975F-4817-90C5-3167E87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F1192-61BA-48AA-8662-F3629BC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F477C-3025-4816-BBEB-A0C1760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E748C-7F8E-4A9C-9C10-BABC4109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6B842-97F6-4241-815B-3E751666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392F9-B8E7-4CB2-9808-5DD379A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06932-A223-48AA-9B07-F4A869F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5BD2F-B350-4A9C-90C6-BF108E22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E6D6E-493F-44E8-9266-0F85D8C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9C80E-7E49-4101-961E-C6F2CD05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136F7-0339-44EC-A227-4F9842C6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A89C9C-30C9-4F1E-8A59-898A3E01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4D5EB-38DE-4696-A963-5DE31D15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0382E-6DF1-464E-86F5-1334E82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8F6A2-E23B-497B-98A0-83276A9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D5287-50BB-44F3-86DE-E5ACDA3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5A571-5FEB-41F9-9126-25A9DE9D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58A8D-8C73-4A6B-AAB8-6BA245A9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8F654-D96A-47D4-A436-1BAA0F8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25E49C-5643-4ABC-B4F8-9BA78F7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AC359-DEE0-4B14-B72D-353D0A10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B2E26-31F6-48EB-ACCD-CBD16BEC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7A8F9-CD6E-4282-B6E5-1FB5C06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733E41-D2EE-4DA6-9FDA-678704C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721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9512F3-7343-4115-96AB-71B27034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8E3AD8-3C67-485C-9321-65474BB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1C257-29CE-4375-8D7B-2EBB7A32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72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F3B92B-E287-410F-8354-F4145AB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dataset had zero cross-split exact duplicate hashes, so held-out exact matches are not explained by simple split leakage.</a:t>
            </a:r>
          </a:p>
        </p:txBody>
      </p:sp>
    </p:spTree>
    <p:extLst>
      <p:ext uri="{BB962C8B-B14F-4D97-AF65-F5344CB8AC3E}">
        <p14:creationId xmlns:p14="http://schemas.microsoft.com/office/powerpoint/2010/main" val="15027739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14132-8346-4DAF-A5EB-C0EBDFCE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38C7A-1FF4-4307-B46D-43CC925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7D6168D-AF8A-4765-B7D4-2EE2E7E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C658812-CBD9-4063-8523-3E3CC0DA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B797C-E3B1-4AE2-986A-6A39105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diffusion-style generators did not beat PixelVAR under the normalized 32x32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E0CF2-EAB5-4160-88BF-B58CD039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E4DBE-DFCF-4CC9-B3C9-03A3AFCC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baseline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FD668-2051-4268-A84F-6C47B5D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7A8EC-9065-49CC-9C68-75CC9E1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9DB56-11FE-49AE-A2C3-F003B551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DB5EA-889F-4242-BBEA-910D99A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2152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A5E5E-AEF1-4F2C-B077-D88F9D1F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D9341-BCA7-40C6-9A7F-4417A8D3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0738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5F3FC-0C88-49CF-B230-16A80D7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8838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48C51-7CB7-4AFB-B987-A281F4FF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8838"/>
            <a:ext cx="7132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16CD8-D0EF-4484-8D52-01DE538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812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3A8B7-DEF0-4275-B414-C4D334A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1B158-AC69-4113-BFD6-771B5185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2412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9E170-3BAB-4B96-9D82-ED7659D5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24125"/>
            <a:ext cx="73443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9B0B3-DE9E-46B1-89CB-5E702C7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1CE93-E5DA-4E4A-AA30-688D2B9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1313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2D571-F61A-4E5A-9A2C-B39635ED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94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CA414-0762-4C3B-85E0-C92D02F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94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98B8E-8201-402B-963A-BFB2502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17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72AC0-C0C2-4262-B66E-5FBB7E0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578DC-F9F6-4075-B3E4-AC1B7659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2E782-A43C-496F-89C8-FFAB55C9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F8751-DAB7-41DC-991A-C60EE6B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33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E3DFE-0F49-4863-BF7A-E18373C2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1013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01721-E866-453C-89F6-0D79D62D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91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241C6-1960-466D-9EAF-97FE812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9113"/>
            <a:ext cx="13148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97911-CA1A-4FD4-A63F-98B6D75D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14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8292B-4044-4504-9CFC-716B4CFC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668690-0DA7-4690-982F-59F1F88E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767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DF8F9-ED7D-4A4A-8B42-56E4A76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76775"/>
            <a:ext cx="91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DCA7F5-5718-4CF2-89CC-36AD656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442B6-7A43-486E-88CC-CEA33CA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6338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245EE2-0AB1-4F62-A703-85A8997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24438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C02FB-291C-4C3B-9C81-21CB9AF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24438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59C5EB-4C6C-4CED-885E-D4FBDA3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68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65C569-EA67-49EF-B12C-036687E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143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CE502C-2F44-43D4-A09F-4D62025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D6A2A-E44D-418D-8C5D-1A39F29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288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63FBAB-4E53-44CD-BCB9-CB2C6FA1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288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901CCD-1EB5-44AB-B659-37508927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66DF67-2B03-4C44-B6A2-7AEB2C9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639B6A-1E4F-4E46-9603-358E72E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 palette method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CA694C-712A-494A-8252-8DD9398F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526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valid attempt, poor adapted run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847B73-0BA7-44D3-A7FB-D29B645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AA7007-3A44-4F32-860A-CC44870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3C3B1A-2095-43A1-B8F6-EEDE020F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080436-684E-4643-812B-011428A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diffusion baseline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0D0C33-3477-4B05-A9E2-3F0D27F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384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sometimes; low precision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7D9F5B-75BC-4326-A392-51EC632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48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5FE3A5-F70F-4CAB-93A8-7F0938B1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13DDDB-8053-4E24-90AE-EB06935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sprite-specific practical generator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9ABDDA-27F3-4D96-868D-426180AC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242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external visual, still far behind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57A012-33F4-4C8D-899B-3EDAE7C9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D242D0-AAA4-4A4C-88CC-4B87B439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EE6C47-49AE-402D-9608-F1087DA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39ECEC-A236-42EB-8762-C581B0B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100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related sprite work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E548B8-F72C-47E3-BC48-9744C6A9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100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pose task; cited only</a:t>
            </a:r>
          </a:p>
        </p:txBody>
      </p:sp>
    </p:spTree>
    <p:extLst>
      <p:ext uri="{BB962C8B-B14F-4D97-AF65-F5344CB8AC3E}">
        <p14:creationId xmlns:p14="http://schemas.microsoft.com/office/powerpoint/2010/main" val="17572103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BAB0F-3AE4-41B9-BEBF-31FBC86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67199-65D9-4E5A-807C-F6E75B46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7E62DFB-71FB-4D14-A1C5-B0F4915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4E6D841-2865-44E8-814E-7D51D009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QUALITATIVE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A666B-3BD0-4531-9D31-CB70AF2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Samples support the metrics, but the deck keeps qualitative claims modest.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A0E7F-D368-448A-81FB-8A6F9B0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A4FB6-C9DE-4E22-836A-D1B69EB5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qualitative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BDB6C-A242-461D-A012-EB1F85F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6E5A0-473F-4DD8-B169-B33B3E7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361e564374cf0"/>
          <a:stretch xmlns:a="http://schemas.openxmlformats.org/drawingml/2006/main"/>
        </p:blipFill>
        <p:spPr>
          <a:xfrm xmlns:a="http://schemas.openxmlformats.org/drawingml/2006/main">
            <a:off x="676194" y="1466850"/>
            <a:ext cx="10782462" cy="3067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24B15-2850-451A-A141-AF49FEB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9CCEE-4F83-4651-B05F-7961A2E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and HMAR produce coherent transparent character sprites.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C7036-087F-4688-BEA3-ACFCAA7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35C33-3763-4774-A54F-8F0AE2C0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looks visually strong, but exact-match counts make it a memorizing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74BA4-3AEF-4DF5-83E3-758EE5A3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1E3CE-8607-4787-8FB0-69FD50A6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diffusion baselines often create frames, fragments, lineups, or style-mismatched sprites.</a:t>
            </a:r>
          </a:p>
        </p:txBody>
      </p:sp>
    </p:spTree>
    <p:extLst>
      <p:ext uri="{BB962C8B-B14F-4D97-AF65-F5344CB8AC3E}">
        <p14:creationId xmlns:p14="http://schemas.microsoft.com/office/powerpoint/2010/main" val="14626715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1BC25-FA60-4067-AFE6-B7ABB56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AD36F-7C50-465D-A3DA-CE7E7D2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5CC69600-3AEF-4C21-8A59-D4A453B9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DF8635D-1896-4D1E-BBF4-F5BBE6D1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264AC-4292-44B6-A688-186773F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0229F-C458-47CD-B48F-EC9FB85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974E4-7CDC-4043-9E83-D94722E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48D26-5BB8-4EF6-B89D-3771D00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C68CA-F62A-458A-9A54-C60AEA9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beef1a42c466b"/>
          <a:stretch xmlns:a="http://schemas.openxmlformats.org/drawingml/2006/main"/>
        </p:blipFill>
        <p:spPr>
          <a:xfrm xmlns:a="http://schemas.openxmlformats.org/drawingml/2006/main">
            <a:off x="823546" y="1504950"/>
            <a:ext cx="4010758" cy="3067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A461C-3C56-4438-88E3-C315653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C295F-A4BD-4CFC-906A-EA328F20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0C633-B223-4B99-AF37-B66F849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AC1B6-E106-46F7-8998-89F6D2C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386CF-03C9-4F24-961F-3AF6D2E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5A610-55C3-48C4-BD50-8682912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73D62-5F5C-48EB-8CC1-F4C9DE3C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2BA3A-D8C0-417B-A417-476D6C8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3E767-AE89-463B-B922-9D05DA9A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1BBFA-332E-4A71-AF75-27113270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80C28-7E61-4D77-AF87-69BB643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2A060-48A0-4D0A-80D0-947C1BCB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B69FF-C869-4F57-A3A1-9EDD207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82B19-D275-46CB-A069-CC19505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4AFCC-D721-4D6D-A466-8C1993E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AD17D-5B84-4145-BAF6-099633E7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C7F65-1652-4201-ADDF-1AAD3723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1582E-43A5-44B5-87CD-F204CD95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53032-5B8A-4D49-B145-D778C5C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C4B14-7EC4-41E7-B475-73D0009C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529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an automatic quality gate, not a human preference study. The honest claim is large-scale usable generation, not perfect manual approval.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F4A3E-1C3B-4A81-9A9E-887A416B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2fc76c59c4ae7"/>
          <a:srcRect xmlns:a="http://schemas.openxmlformats.org/drawingml/2006/main" l="0" t="24057" r="0" b="2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4991100"/>
            <a:ext cx="2019300" cy="1047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F1CCC-B4DD-4A58-A3AA-FB2DBD7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fc3a7afb24023"/>
          <a:srcRect xmlns:a="http://schemas.openxmlformats.org/drawingml/2006/main" l="0" t="24057" r="0" b="2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4991100"/>
            <a:ext cx="201930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384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81AC8-448B-4763-BB1B-FC41A8E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E8F07-44F3-40B6-9AEB-EC25383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3464F74-1958-410C-B046-39FD9A09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4E3B5536-E9C6-4BDB-B4DF-F4C4F7F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A80CE-9A22-49B3-A582-E5550376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strongest version of the project is honest about what did not finish.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63F11-6298-4F20-BD1B-AE9E07E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A166D-E643-46E1-AD4C-028F9DD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E3DFC-4FE0-4459-9224-F74BC8C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13/14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50916-E88B-4B3C-9202-9B7B649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8105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D62D6-1A57-4466-9DC0-E1848592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C0AB3-8DD9-4C66-B058-F7D1AD02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B1B96-EA9E-41C4-A01B-9490392A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4010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3E01E-6829-490B-AEE4-ADB6F5C8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1B571-0ABE-43E2-8166-4F113CE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30E34-DD25-4F58-8FCC-4D325D84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C22B6-2C2C-4D70-8B20-BBEFFA6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 but reconstructions were too soft/ghosted for pixel 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A1438-C1CB-46D7-AB81-325B027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6D53F-F86D-4839-ADB5-CDEC58F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8053D-F73D-4CEA-BBB1-1DBD351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8/16/32 palette ablation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E1D2D-0F0F-42BD-903A-368CAA5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FF0E1-6C45-4B33-ABC0-9122CF7F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8-color and 32-color runners exist; GPU metrics 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0533A-A1C2-4F37-9EDE-B231DCC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E8520-A57C-4557-A7D0-AA98880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B449B-30AC-43BE-A776-014D4BF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73C2B-D271-4313-AA2D-741C3DE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528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runner exists; GPU metrics 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767A3-45ED-4E02-B84E-53C397B4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35395-6DC8-4C38-9A2F-20D9F17B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073D2-D687-46E8-A088-26709717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7DAA0-6602-4E94-A7D0-610E204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593B9-AAA1-4906-A8A8-2100798A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requires separate survey/randomization/collection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E0F43-CE59-41BE-B153-FACB427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52CDC9-CAF3-40D8-A929-054C342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AA33B-6D71-4290-A82F-E548DD9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4F9A31-D373-4FAB-9590-57DE053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grows from 1,365 to 5,461 tokens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37D081-FBCA-40A4-A463-50FF68FC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000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EBC680-2D56-4460-9731-2DBB74BB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3C52D7-D129-44F9-A35D-D7E90EA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96D8FA-0044-4057-AEAF-93FC496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7AD1B7-3F8C-4637-8654-134D83C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813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790F83-ECBB-42FB-8309-A15ED36B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32x32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5D22DE-52E2-4135-8C26-B2AE80AF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652F09-9B2C-422C-A9B2-4C15766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A2EC0B-C291-4FAB-8961-3B122A8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528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5,461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27F6BD-FF51-4232-92CB-E20EDE6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64x64</a:t>
            </a:r>
          </a:p>
        </p:txBody>
      </p:sp>
    </p:spTree>
    <p:extLst>
      <p:ext uri="{BB962C8B-B14F-4D97-AF65-F5344CB8AC3E}">
        <p14:creationId xmlns:p14="http://schemas.microsoft.com/office/powerpoint/2010/main" val="3805429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225A2-DF47-4A31-96AC-CD92A0A2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73F07-9A5D-44EE-A8C1-84323B54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0AE3748D-BEA8-484B-8013-07465EC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1637CFD3-006E-49B9-8C12-8C070FC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095CE-BB72-4AC2-8360-49BDFEC2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71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completed the core 32x32 palette-token generator and reported it with the audits needed to avoid misleading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F1919-D698-436D-816C-319C825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14400"/>
            <a:ext cx="228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b601bae0e4414"/>
          <a:srcRect xmlns:a="http://schemas.openxmlformats.org/drawingml/2006/main" l="9894" t="0" r="9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952500"/>
            <a:ext cx="22098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8804C-92A0-4416-AF37-6BA1D93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1C3F4-1115-4FC2-BBCB-6F1D7958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Methodology: coarse-to-fine palette-token generation works for transparent 32x32 sprites.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C67C6-AB8F-4078-BA27-92A8DAC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E9B8A-A1F9-4EAE-A6D4-99CE331A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Results: PixelVAR is the best comparable proposal branch on the sprite-feature evaluator.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6BBA4-2EFE-4FED-8C08-5681B053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6BEAA-38E3-45FF-9EE1-BD48C4D6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Caution: raw FID alone would incorrectly promote a memorizing Flat AR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D748D-7916-4D4B-863F-62FE5490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8310-32E9-474A-A234-01DE0F5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Future: run pending palette/scale ablations, then user study and 64x64 as next-stage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EFF1E-0D9F-4188-8680-DDDA715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Main talk ends here. Backup slides follow for Q&amp;A.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E00AC-9B7E-48D7-B3E1-0AC24CA1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871BC-F1AC-4199-94A6-07F7044A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81D24-E1F3-4B70-911D-CC28582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14/14 main</a:t>
            </a:r>
          </a:p>
        </p:txBody>
      </p:sp>
    </p:spTree>
    <p:extLst>
      <p:ext uri="{BB962C8B-B14F-4D97-AF65-F5344CB8AC3E}">
        <p14:creationId xmlns:p14="http://schemas.microsoft.com/office/powerpoint/2010/main" val="19306719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95FB4-0F66-484F-BEDF-0595B7B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32048-D417-408C-8485-EE1663B6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9B1C974A-69FB-462D-B7D0-A0F61FC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B994CE04-2EEC-4930-AF9C-12B6E5A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PROPOSAL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D7559-A4E9-4043-B2F9-351FF31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Detailed DONE / PARTIAL / NOT DONE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ABF2-F6D5-4075-AC30-71EA0652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1CD4B-BA7B-4285-9C8B-063CDE33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47434-AE10-4816-B784-DAC82D9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1A0DA-DF9D-4FB1-8959-DD611D3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5727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B50AF-5021-46BF-B5E8-5431F461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8B5E5-077D-4C1D-B949-8595400A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C6AEB-6F1D-45FF-9A10-88AB1A14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57F60-943E-4DD2-B77B-B85FA9C9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71BAD-4B67-4D33-B9E7-B913974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5655B-D692-4380-8240-1190BC6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F66C5-B248-451A-8C57-CA8A3DEB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 selected after original Kaggle source failed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C9A5-32DD-428A-BD82-8C4C0CC9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745A4-CC23-427E-9C51-C2D7BA9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85286-559C-46F6-89D1-8A5A1548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16-color palette-token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68E88-3CDF-464E-85AF-E4619A9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955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E8D25-7285-41F1-BE17-43157B5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+ 16 palette colors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202E0-9F39-4939-87A3-90F86739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2964F-21DC-4D2F-917F-22C3381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8B6C4-FFB8-4555-8E83-BB21804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94223-340D-477F-A302-21E30B7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EB2AF-7FB3-40B2-ACBC-2797C004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993E3-0682-44CB-99CD-F3E0BFC8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0E3A4-5BD2-4CD1-88F9-1CA66D24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1B9BC7-A908-4BA8-B289-EA8729A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66253-3E63-4468-88E6-7B65E9F8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refinement ablation 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2B850-D4B0-4D81-91C7-08D80B1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4365C-F628-46AB-A23C-D5188CA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/ MaskGIT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A4897-9109-4323-984F-F9BF1DD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D3126-5D76-4CB7-8C3C-BC31F54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measured; Flat AR memorizes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E469D-0304-420F-B3F1-C8462E7C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7423A-B27C-45E2-912A-5B6C67EE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23D1FE-D3F2-4AF6-98D7-85C89CC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D85F97-2434-450C-9214-C2B1586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D07CE7-1679-4288-9A29-BA5A6B62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LoRA; PixDiff-PIG no runnable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5896BE-1BD7-4B72-A647-5D46ED6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390C53-D38C-4AE1-A309-422A7AE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10C572-6488-4E93-A8B4-33BC8FAA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0A5E0D-D848-4C13-A6F5-925E4C2C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483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8123921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8498E-6B3B-4AC8-BC0D-511E070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F53D-8B53-4B8F-A107-0327DDC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691388C4-6741-46EB-A371-FDA9554C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081C16F5-B0DA-49FA-8455-7DDAE6C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METRIC GLOSSARY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B547C-0D59-41D5-B214-E5EEAC8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the reported metrics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6B654-CC0E-4B05-BAAE-B577F263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521AB-691A-4E6E-87E0-A66E4CB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839BB-EDCD-486F-A18D-96FD8DEC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5C6D7-F766-4E60-948E-EFE2187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28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3EFF-9E18-4A16-B9E2-37147E39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193F9-69AC-4EDC-A972-2DBA7EF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3A41E-B968-403A-850B-0B6F73F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A4432-D08A-428A-B42E-28B528F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AB518-83AB-4BA4-B8FC-54AD390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6D28-25A9-45D0-BDD5-31F3293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C248C-1CEB-4F4C-A247-39F6528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selector, not Inception FID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EA8F1-E297-4382-960F-C92C2F7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283CF-BECE-411E-A265-A29FA065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5E4F8-D416-4035-AE1B-2EB9A204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47777-0035-4D8A-BDEF-B73B6F2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share of opaque pixels in fixed palette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19EAC-D099-4088-8721-2257EBE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expected 1.0 for token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419B2-5F04-4B7C-8C7A-DE1D52C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C3E1D-ACA5-48C7-914C-773BB70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5E5D2-AB36-4387-9665-F879F074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Inception-feature distribution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7F141-B131-4EEA-9231-A5227EDC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but imperfect for tiny pixel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7FC81-A0B2-48F7-BD36-1226E5B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8BE61-105A-4AC5-92BF-E86B2C1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8FDF4-7C34-4AD8-BEF3-78F5DBFF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25B14-6862-4CC1-BE79-80BCD915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BD275-FE4F-4A57-AB03-0975C5DF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must be read with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2E0A8-FE59-4091-9855-F04FDFA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C54D1E-6C3E-4383-9F9E-B7374CC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8274DC-BED3-4A98-8DAA-1C90579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PRDC-style neighborhood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4AA79B-41D1-492E-A82D-01F3722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24E45C-4A3E-4468-8487-C0F7E97D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B79BE-0648-4530-9304-E0ED346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932897-8F18-42BA-B65C-7867BBBF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5BCAEE-5B23-45D3-AA38-D35DA6B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0B408-6B80-4280-9328-3D66E76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compare alongside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3F1716-70DB-4D5B-930C-0696B47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45674F-E1EE-42A0-9852-6B458CF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473D5E-3761-40B7-B303-8E1601A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05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0D6A86-4B6B-47A6-9991-C8C5267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critical for suspicious raw winners</a:t>
            </a:r>
          </a:p>
        </p:txBody>
      </p:sp>
    </p:spTree>
    <p:extLst>
      <p:ext uri="{BB962C8B-B14F-4D97-AF65-F5344CB8AC3E}">
        <p14:creationId xmlns:p14="http://schemas.microsoft.com/office/powerpoint/2010/main" val="16766410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24143-6647-4985-91FD-86CB417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0EC5-AA45-44AD-A24F-CF702D8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1A2EF60D-F300-4BC0-B8D2-4F5F55C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ABD4C888-DE83-4601-9E29-8EF4B26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EXTERNAL SAMPLES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457B2-D5FE-483B-9FC8-B1C8B72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baseline visuals and caveats.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622FA-6E74-43D0-B493-B8FBC49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07152-EA5B-4552-BFAC-A7ADF795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39EC4-C10E-4FE9-A7B0-AC3B172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E8B73-315D-4811-B117-1172B2E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55754f9c4e54"/>
          <a:stretch xmlns:a="http://schemas.openxmlformats.org/drawingml/2006/main"/>
        </p:blipFill>
        <p:spPr>
          <a:xfrm xmlns:a="http://schemas.openxmlformats.org/drawingml/2006/main">
            <a:off x="552450" y="18316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4E49F-0ED3-4819-B1FC-1DF4A1A9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3e51221a54610"/>
          <a:stretch xmlns:a="http://schemas.openxmlformats.org/drawingml/2006/main"/>
        </p:blipFill>
        <p:spPr>
          <a:xfrm xmlns:a="http://schemas.openxmlformats.org/drawingml/2006/main">
            <a:off x="552450" y="35080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5DCC-5561-441F-9E0F-304B4B9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4347a9adc422b"/>
          <a:stretch xmlns:a="http://schemas.openxmlformats.org/drawingml/2006/main"/>
        </p:blipFill>
        <p:spPr>
          <a:xfrm xmlns:a="http://schemas.openxmlformats.org/drawingml/2006/main">
            <a:off x="552450" y="51844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504CD-845A-4191-98D4-B7118BF5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63817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D687D-5374-4888-B127-EE592160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26E93-E32E-4A85-93A1-25AE73D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Visual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3A910-ABD9-4660-AEBA-AC6497F8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CCD78-6AED-4C1A-B684-7A391B7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F7A8C-85D2-4A6E-9544-8D2FBEB5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507FF-8054-4275-8E0E-82FC9123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noisy tiled color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F952D-A219-43FE-8677-CF55DD6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adapted prompt/image optimization, 16-image metric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1B244-2DF2-4A46-AD33-6B6653A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F6536-548A-4999-8888-1F792FC6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38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4C811-44C7-4634-857D-D5C5804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F519A-69B9-4F26-B5D1-9DA6082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some sprites, many lineup/crop failures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3655C-8FC7-4F88-B562-760B216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prompt-based generator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FDFF0-B9C5-40D2-BD60-E1B838D4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84A73-25F3-406D-8673-2E73FB2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F8DB8-EDEC-4B95-8AB2-E19254A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best-looking external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44A06-8810-4A6A-A98E-94C2CE1F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style, fragments/frames remain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17E89-408A-4AFA-A39C-679A90CE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1606A0-6E91-4470-97EF-158C157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38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2CD09-6D97-4486-9E48-1142831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4F8E7-AC29-46C1-8DDA-FC1D225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metric row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592E8-47D8-4663-A9D4-F71B6089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</a:t>
            </a:r>
          </a:p>
        </p:txBody>
      </p:sp>
    </p:spTree>
    <p:extLst>
      <p:ext uri="{BB962C8B-B14F-4D97-AF65-F5344CB8AC3E}">
        <p14:creationId xmlns:p14="http://schemas.microsoft.com/office/powerpoint/2010/main" val="26270861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554B3-C59E-4254-9D84-EBB6AE1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6CBDC-3D24-4EF9-AD4C-99B8D33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B7DC273B-5958-43B3-8DAE-52C3AF9B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64CA5C11-EB2B-43AB-B0F5-A09F0F6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LEARNED TOKENS AND DATA MIXING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7BB4A-56A6-496C-91DB-DF274C1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Why the final model stayed deterministic and real-only.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5069-882C-4BEE-9896-A7EEDEB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8C606-3C40-4F11-B05F-D26F8965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6BBCB-D971-47FD-8065-FA26BFC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4/38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A361E-1EAE-481F-8E19-77918BF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5c75e0b2846d3"/>
          <a:stretch xmlns:a="http://schemas.openxmlformats.org/drawingml/2006/main"/>
        </p:blipFill>
        <p:spPr>
          <a:xfrm xmlns:a="http://schemas.openxmlformats.org/drawingml/2006/main">
            <a:off x="647700" y="1562100"/>
            <a:ext cx="2590800" cy="2590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2F349-AB7B-48FF-88D2-3DF6993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240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115356f924005"/>
          <a:stretch xmlns:a="http://schemas.openxmlformats.org/drawingml/2006/main"/>
        </p:blipFill>
        <p:spPr>
          <a:xfrm xmlns:a="http://schemas.openxmlformats.org/drawingml/2006/main">
            <a:off x="3732263" y="1562100"/>
            <a:ext cx="2327175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EDFF6-F30B-4B3B-89FC-BEFB54C9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5720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8EB11-7AF5-496B-BDC5-2379720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1E490-41AD-48EC-8A09-89860B0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9BD72-A42E-4FEE-80CE-11FD35C3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764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BCB3F-6E5A-4668-B866-355A35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47CFC-54A2-4442-A858-479DD6FF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1005A-344D-4391-9C52-B33FC8F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soft/ghosted reconstructions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54A60-F449-41C6-84B5-FF63E76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promoted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11001-8713-4C4A-BC8D-4D1D65D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59681-552A-47FB-96A8-387250E8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EE818-8D04-4F58-A754-DF210E22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E3E9B-A78F-4460-86F8-8C06D26A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 codes used; coherent but blocky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3BF3F-C979-4A20-8BCE-37256F0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0E266-89EC-4AB2-86E2-56836A4D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AC2DF-05CE-4CDE-9811-0AAA35D7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Generated-keep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6F6A4-2801-4DC5-9BD2-BEA0D75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good self-reference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B6FBC-1FE7-40F3-9AD1-FD2D6FD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direct real-validation winner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EBA5F-FAAD-456E-B83B-05EDEAFF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3EDA0-E38A-42C4-9635-C870691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C09E2-3498-410A-9D89-D8E80E7D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generated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CD0A4E-AA5B-419B-8D90-0CE5399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0.00755 real-val 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7F5D9-F029-4297-95D9-047AD78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real-only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83AD8-0A0B-45A4-8E74-C505435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0FBF0E-8ADE-4310-9EC1-D36FEF08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63950-2298-48EA-A734-60D6D87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0.00778 real-val score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F14D85-6C9A-417D-8F4A-965142F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148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real-only</a:t>
            </a:r>
          </a:p>
        </p:txBody>
      </p:sp>
    </p:spTree>
    <p:extLst>
      <p:ext uri="{BB962C8B-B14F-4D97-AF65-F5344CB8AC3E}">
        <p14:creationId xmlns:p14="http://schemas.microsoft.com/office/powerpoint/2010/main" val="14759082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75ADCB-5936-412B-8E01-F430D9F0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AFACA-D2DC-4221-BDF5-736207F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B0D2BF31-172A-4F9D-AF69-E8224E32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5F79B912-2230-490C-A6FE-CDEAA6B9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2F383-0AAC-4D6A-91B9-A1F8D75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Where the evidence and next commands live.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B0C75-D629-4E4C-B639-7C43027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15F41-0ED1-4E04-B706-D190A11A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1B666-AACF-4E5F-B872-84B38DC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5/38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8DA5A-8957-4956-90CE-4D04F11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4A199-7E73-470F-8AD6-28455C3C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1B276-962B-4FFD-94BC-935F5A0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3830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6A868-1EFC-4AEC-A359-EE7466C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7041A-E093-4D21-88ED-17C448E6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D2A7A-C06A-45FE-BC93-834932CE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621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reports/final/final_report_narrative.md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77076-3981-413A-AAEB-EAA0B48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6C5E3-4C70-4B37-95C7-BEFB62B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61995-D521-4614-A1BA-1D6154B0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Internal decision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1A1D7-8598-4701-9564-6B29D20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reports/final/model_decision_table.md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108D4-C959-4A41-A206-F17F8DA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C77B5-C2C6-4FB1-AA7A-BF04BAEB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CD6A7-F49E-478B-B2FE-6CC8133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27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reports/final/known_metrics_comparison.md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56253-9FEB-44D5-93F9-00B3D85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D9486-B009-4C88-887A-5D24E89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CF97D-01F7-481F-BEB9-E432D10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BE17B-E654-4968-99E0-3B6EEAA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480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reports/final/external_baseline_comparison.md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1F254-8A65-4D6A-99B4-6087DFB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6430BF-BD29-4AF9-A51A-C24F393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7C935-BCA5-4FC9-A1C8-0298543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reports/final/memorization_audit_summary.md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FF668-790D-4930-8309-300BB9D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56C38-5CB3-4BC2-B05E-8EF9A51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C6A68-C486-481E-A0C6-9E9920E3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Stretch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47479-0B86-43FB-B86C-C50CF348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386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reports/final/proposal_leftovers_stretch_plan.md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584BF-87E6-4B66-A13D-E2BF0BD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2713D-9C56-4F6B-9CE7-DC2A92F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D173C-9888-441C-8FEF-ACB952F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339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reports/final/reproducibility_commands.md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99B5DE-A48B-4CDC-AD80-A2546536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4191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C871FB-F7BB-4658-AC0C-CB58D2B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Pending stretch runs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DE71A2-01DA-445F-8EC0-4A0F364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prepare-sprites-palette8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train-sprites-palette8-ladder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prepare-sprites-palette32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train-sprites-palette32-ladder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train-sprites-scale4-ladder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DB8A9-CD23-4322-AC3E-51A9CE54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673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Branch: codex/pixelvar-external-baselines</a:t>
            </a:r>
          </a:p>
        </p:txBody>
      </p:sp>
    </p:spTree>
    <p:extLst>
      <p:ext uri="{BB962C8B-B14F-4D97-AF65-F5344CB8AC3E}">
        <p14:creationId xmlns:p14="http://schemas.microsoft.com/office/powerpoint/2010/main" val="51174593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2E584-8DA3-4CDF-AB23-29123BB1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26F7A-2793-44B6-AA30-102EA064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1436C579-0EA4-4DE6-9749-81FDE497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626F693B-0B5C-4395-BA6B-3E1AF0BC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MASTER EVIDENCE 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CDA23-A782-4F80-9B37-B7AC36A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was missing or too compressed in the short deck.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C93B8-2326-4677-8456-4C79DA8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D1211-058C-4FFC-8636-00F16263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Master appendix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979E6-5DE2-40CE-A25B-38FD993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6/38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6DFE2-1C0F-4532-B114-C75BDC6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287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4FA5F-670E-4EE9-A179-77C74797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3319D-1203-46BC-A4BB-E5A721C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Missing / compressed 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56202-ED37-47C7-9E1A-34ACE26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Added in this master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AB528-F9E0-44B9-BA22-B4AE7B67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5CB4D-CBC2-460C-B3B8-7B41091A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68CCB-2B1A-4F9F-AA60-F52A305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proposal-to-final mapping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7451D-1427-4425-8C78-DF89EE2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proposal, final status, and deterministic-token pivot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19C54-36B3-42A0-A55D-64437D9B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2DB12-E6DF-4C5C-96D8-122FC27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0549F-52FD-4977-91F3-6C7CD9D4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2970D-158C-4B4E-99BC-4E20771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sampling sweeps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E8D58-78BE-44BB-BFC1-7F64853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PixelVAR, HMAR 1/2/4/8, generated-keep, mixed, OGA, Patch-VQ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DDFB3-C479-4FDF-B13F-B7ECBCB5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FC015-598A-4190-B278-D2469398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1B555-E3BB-4389-BFE8-30F64D5B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known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07070-C87E-4617-A55E-3B51A0F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FID, KID, PRDC, MS-SSIM, palette/domain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8434B-6902-4FFD-A1B8-F734342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BE781-3A35-4632-8771-698D569E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59C5E-841E-43E3-8606-05D9D68C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D78CF-5599-4573-AC89-1542CE6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memorization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8FF58-D61D-4A2F-9131-43FD472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Train/val/test exacts, generated duplicates, split-duplicate caveat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61289-526E-4D94-BA7E-4AFCDE2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69254-8A2F-4650-AD31-DD86CD1C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45834-406E-44A7-8262-F863AAB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 detail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B0F43-5F5A-48F6-8945-60195F8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8145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LoRA, MDIGAN, PixDiff-PIG, VQ-diffusion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93BCC-E395-4246-A9AB-5B3005B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84298-0C41-4CB0-BD2C-B7D20C38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20CFD-30E4-41EE-A13E-6E0150AF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27BBF-A20E-4685-A471-C2B8C5C7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170K generation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CF2BEE-F407-4E36-8B3A-83AEF48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9580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8192 pre-run, 170K package, keep/review/reject sheets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0B022-FE77-42E7-BB5F-B14C5E87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814EF7-0BA0-40A3-A3A5-7481FCE2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0A74D7-E080-4AA2-ABC5-DA96B3E6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Implementation work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00742E-1BB7-42B4-95D9-A7F2EB83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Models, scripts, Modal actions, tests, evaluators, adapters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B0AC7B-F3B4-4A97-A03E-4AAFCA4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FB866D-8B00-4B9C-AC2F-8967C49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85B841-FB9B-40E6-ABFE-B8AF901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47C9C5-54EE-42AC-9805-2B794BD0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Infrastructure and limitations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B1F9C-F539-433B-8CF9-AA5AA7D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520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Kaggle replacement, Lightning/Modal friction, pending 8/32/4-scale/user/64x64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85551F-6A78-4CD9-815A-1A05677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Intent: over-document the work now. The front 14 slides remain the short talk; everything after this can be trimmed later.</a:t>
            </a:r>
          </a:p>
        </p:txBody>
      </p:sp>
    </p:spTree>
    <p:extLst>
      <p:ext uri="{BB962C8B-B14F-4D97-AF65-F5344CB8AC3E}">
        <p14:creationId xmlns:p14="http://schemas.microsoft.com/office/powerpoint/2010/main" val="304859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1D3E5-98C7-4559-A5CF-16124B34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5E85-62B8-4500-B687-68F2717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11C881C4-1003-431E-BD60-493DDC5F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3751E1BF-534E-4020-AC4C-CE1838FD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ORIGINAL PROPOSAL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25C70-DF4C-4BD9-9E02-1A60C93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proposal promised a palette-token VAR project with HMAR, baselines, ablations, and user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3C4F6-5E51-438D-98BB-5218157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A8B3-A56D-4332-9C85-A71725A3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Proposal source: PixelVAR_Proposal.pdf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9D4C3-D722-429D-AE6D-9D07C7D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7/38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1EE7B-2BC2-43AD-8A9A-F9AA337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763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9B4EF-3647-48CA-99C0-FC59E7D4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section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9E353-D3C6-4D62-A2D6-36348AAE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04950"/>
            <a:ext cx="4105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Original commitment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44784-AC55-4907-84FB-AAE280D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0495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D4463-2104-42AA-BA52-282F28A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8C798-A68A-479A-BF66-5C766FF2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Stage 1 tokenizer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621C3-1F12-4F39-9AEE-C48123F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288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Multi-scale VQ-VAE with 16-32 codebook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9B43B-BA6E-4497-86F6-9A7DC240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288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path partial; deterministic palette tokens became main v0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D3740-7AC4-4DC1-8079-3489124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30072-ADC0-461F-9F61-E8087EDF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BB03F-6C90-4231-8922-4717C64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Stage 2a Option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241C1-D222-4D39-A233-4DFEC943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384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VAR-style next-scale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2D1CF-304C-4DC2-9132-46742F6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Done; main result var_sprites_v0_full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9B1D0-05C1-4656-AAF0-B45E77C0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89509-A923-4C70-A175-D7D05B8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Stage 2b Option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783A1-ABD7-46A3-BA94-2CABEC7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HMAR-style intra-scale masked refinement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692F3-EC8D-4432-881C-81DE83F2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480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Done; refinement-step ablation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7100B-E4FA-4BB5-BC09-223D0876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80B2DD-77E7-4406-A2F6-46789F24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78349-70E1-437B-9623-FA1372A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2CBFD-AC41-47F7-81FE-7E64EB66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76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Sprites 170K, Pokemon sprites, OpenGameArt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5BD26-EAA3-4226-B0D2-441819D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576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 main; Pokemon and OGA paths built/used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7CCA4-509E-4142-921D-EA9627E2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0DBDF-943C-40F8-B68C-C695B7B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64B8C-44E9-4A74-9517-9CDB6E21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PixDiff-PIG, SD LoRA, flat MaskGIT, raster 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249C1-3072-41AF-B90E-F5283027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672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AR/MaskGIT done; SD-piXL/SSD/Pokemon LoRA run; PixDiff-PIG not runnable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0FBEB-C586-401B-9979-4787CB1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79599-DB5C-4658-9016-A5072BE0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43470-75D9-4760-BFF4-3F408E8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7E2D0-0D5F-42F1-A8E0-B5D1C37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768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FID, palette consistency, edge crispness, user study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C6AA61-1F21-4F85-9C71-30FB78B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768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metrics and audits done; user study not run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4F3250-7BE8-4218-BE02-EAE26DF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FCF807-5269-4457-938C-82D9497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FF7A8F-89A7-4F2F-BF66-87B41631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86400"/>
            <a:ext cx="410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8/16/32 colors, scale count, refinement steps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41118F-589A-43C5-8E48-39AD3B0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86400"/>
            <a:ext cx="477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Refinement done; 8/32 and 4-scale made runnable, metrics pending</a:t>
            </a:r>
          </a:p>
        </p:txBody>
      </p:sp>
    </p:spTree>
    <p:extLst>
      <p:ext uri="{BB962C8B-B14F-4D97-AF65-F5344CB8AC3E}">
        <p14:creationId xmlns:p14="http://schemas.microsoft.com/office/powerpoint/2010/main" val="156841101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20245-B134-4468-ADB0-8B68793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DC5E-44DC-4684-8E11-A1E9DC6E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572C58E5-5BD4-4A81-9671-7B5AE30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3AA13314-DDAD-4874-9EAF-58CE140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PROPOSAL-TO-FINAL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5D92D-6F08-42CB-8098-A0809D43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completed work is strong, but not every proposal item became a finished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002E8-4E80-4BA5-9838-474F08B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AF161-BFF0-45E1-80D9-2F83065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Proposal 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DE3C9-A115-4CCA-B33F-683587E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8/38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7CD6B-DCD6-41E0-A49D-07AF984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7632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EE4CA-9199-40C5-A779-1B16F65B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0D24-19D3-4634-BD9A-3C0C763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4668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DF90D-D718-480A-845B-E129E597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66850"/>
            <a:ext cx="586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/ 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8D5A1-CE93-4F96-8533-9995E661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016C0-6B60-4B5C-8476-C64017FC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 and 32x32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5CF83-8A86-47F1-99AF-B2D732E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907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FC6E7-7F53-476E-8C65-E51C0E3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907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Pokemon path, OGA curation, grouped splits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40CAB-F994-426D-9B3E-46DF5A5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13603-77E4-4023-B711-05469E6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64DD8-10F7-42B1-B2CA-E3D2388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Transparency-preserving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3F6A8-D780-4875-8301-98451B6C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47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9B484-7AED-4AAC-BA0D-55F2336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479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 0 transparent; palette tokens 1..K; no white-background hack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9AAF6-3BA1-4B17-9A20-713A6D98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9BB39-6504-4F58-9A8C-2E7AF62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6556E-7339-4603-A742-6D83BCE1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051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99147-0BE2-4070-A3A1-F65D747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sprite-feature score 0.00147 at temp=0.8, top_k=8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BAE3E-A8C8-48C4-A6C5-FFDBD7E0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8AC97-94DD-4341-825D-80BEB3A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447C7-BCD8-4A85-AE8E-C8138E17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9E2C2-F7D6-4EF6-8324-A77F69C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2FCA5-273E-42E2-8DD4-308A86B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Steps 1/2/4/8 evaluated; step=1 best at 0.00189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1ECB7-1660-4E2E-8C22-A710AEA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6E6E5-84C4-4939-BEAB-33CF4A99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 / Flat MaskGIT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22920-1AA0-4B4C-ACDD-A4EF217E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C7829-EAED-462B-8708-7F2773E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95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4096-image known-metrics run plus memorization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A66B3-53B7-4698-8477-56E4907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16B79-FD48-4D41-8DC3-03B3B242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DAB74-A44D-45D9-B11B-C18F2BB6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EC169-7548-44E7-8EDC-36F52E64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767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901F7-77F7-47B1-8A85-C3A24A4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 run; MDIGAN/PixDiff-PIG not direct runnable rows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FF1D1-6766-4756-8729-DD5BDA0D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2F3BE5-57CE-4497-9D8D-85608C5D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 tokenizer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3C372-C9B2-4EB4-AE35-80A70FF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DDBC2A-374C-4590-808F-A9392DB7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339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Implemented/tried, but reconstructions too soft for pixel art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D16216-82B0-45DA-B7DF-2C17795F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6C9C1E-57E1-4005-BA4D-5CA853C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AB3240-0975-46C6-9378-860B15CF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8/32 palette and 4-scale ablations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9B98A2-4FFB-4979-B17A-B5AAE10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911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0F766C-935F-437C-B1D4-BF0F2CB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911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Configs and Modal actions exist; GPU metrics pending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12FCEE-063A-46C7-A782-D56E871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D3016F-24C2-46E3-8C7B-BAF365A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8C3689-7F33-4084-A185-C602E5D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D94938-617E-4802-9E41-7DC937A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483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Needs survey design, randomization, collection, and analysis workflow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3B5A4-6DF8-4B11-B9B1-D774875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A3343C-A2C8-4807-A8AD-BBAABD1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8849E4-F3F8-4FBC-AB53-3D9E243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583169-886C-44E5-80E3-E3F607D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05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8262E7-5704-4070-9F62-97875D71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05500"/>
            <a:ext cx="586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 count jumps from 1,365 to 5,461; postponed after core proposal work</a:t>
            </a:r>
          </a:p>
        </p:txBody>
      </p:sp>
    </p:spTree>
    <p:extLst>
      <p:ext uri="{BB962C8B-B14F-4D97-AF65-F5344CB8AC3E}">
        <p14:creationId xmlns:p14="http://schemas.microsoft.com/office/powerpoint/2010/main" val="115271633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4E5BD-A5C6-46DF-9B0F-3CB6DEA0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AB0A-215E-4DBF-91BD-6EF5576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3-marker">
            <a:extLst xmlns:a="http://schemas.openxmlformats.org/drawingml/2006/main">
              <a:ext uri="{FF2B5EF4-FFF2-40B4-BE49-F238E27FC236}">
                <a16:creationId xmlns:a16="http://schemas.microsoft.com/office/drawing/2014/main" id="{22E36CCC-65F9-4BA4-A94F-008B5DD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3-label">
            <a:extLst xmlns:a="http://schemas.openxmlformats.org/drawingml/2006/main">
              <a:ext uri="{FF2B5EF4-FFF2-40B4-BE49-F238E27FC236}">
                <a16:creationId xmlns:a16="http://schemas.microsoft.com/office/drawing/2014/main" id="{32E0BC09-D92C-4063-9390-C33BB19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CFE73-02C5-40B7-A707-840869D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main path moved from neural VQ-VAE to deterministic palette tokens because pixel quality mattered more than latent elegance.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F4494-5320-4A0C-B0A8-A01C087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45DBC-52F9-449D-9211-97F8FFD4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484F-6F57-48CC-9C34-F957E325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9/38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DD2F6-A89A-4B88-82BA-C01D9D1C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96B38-A77C-4F81-B882-2E746CA2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DD19C-5247-4328-8369-8D577408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68D67-E938-454D-BBA5-FA7C8B4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 a multi-scale neural VQ-VAE, freeze it, and generate learned palette-sized codes with VAR/HMAR.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587A5-1432-49E0-A09F-F28A739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7A8AB-CEE7-499E-BDE8-8EA5E3DE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6231E-0D34-4DB4-B86E-124D6D6A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3623B-C1B0-45EE-9D3E-B1B33EE2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 deterministic palette pyramid already matched the target semantics: transparent token plus fixed palette colors at six scales.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505B3-1923-4F1C-9D21-D94FF87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09E09-02FB-4271-8411-488C35C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34EF8-4EB6-4EB6-9AD5-A6A81104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was defensible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2C72B-3935-4443-BA38-4AFEE0A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Neural reconstructions were too soft/ghosted for pixel art. Patch-VQ worked as an ablation but was blockier.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F350F-393C-4EA6-A112-2F8461FA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334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8C227-2462-4789-9489-D423B1E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471AB-200B-4557-9EBA-3AA021E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4C652-B237-4106-BBC8-C7ACE9F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0F551-AECF-43E2-A4D7-BBA3E94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E0019-836F-413F-9168-E7660A61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Deterministic palette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E7AAF7-D3CF-42D6-A076-6F4E0FD1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Crisp, native palette, 0.00147 main 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D42B7-9C5A-4892-9F17-D159DDC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E1AF3-3665-49BF-A903-31CCEB5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AEC87-3347-415B-9A4F-517F816C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0D9A3-04C5-4C7F-A269-8D81F86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66E02-1FE9-407B-8DA3-2D2C1FF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reconstruction quality not good enough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4DC73-5DDC-41B2-B1C4-E9DC21A5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partial / not promoted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1263B2-2C6C-49B2-88AC-7991750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2E6580-C455-49FA-BE9C-04F58728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KMeans tokenizer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0F1446-3BEC-47AC-8999-735C9A3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 codes used, coherent but blocky, score 0.04689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121777-08FC-4E8F-95DD-A409818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</p:spTree>
    <p:extLst>
      <p:ext uri="{BB962C8B-B14F-4D97-AF65-F5344CB8AC3E}">
        <p14:creationId xmlns:p14="http://schemas.microsoft.com/office/powerpoint/2010/main" val="12149920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638FA-A601-4519-A902-98DD85E8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D374-E22D-4F0E-BFCD-F5E013C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4-marker">
            <a:extLst xmlns:a="http://schemas.openxmlformats.org/drawingml/2006/main">
              <a:ext uri="{FF2B5EF4-FFF2-40B4-BE49-F238E27FC236}">
                <a16:creationId xmlns:a16="http://schemas.microsoft.com/office/drawing/2014/main" id="{7C83344B-6F12-465C-90E5-ABB9AC2D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4-label">
            <a:extLst xmlns:a="http://schemas.openxmlformats.org/drawingml/2006/main">
              <a:ext uri="{FF2B5EF4-FFF2-40B4-BE49-F238E27FC236}">
                <a16:creationId xmlns:a16="http://schemas.microsoft.com/office/drawing/2014/main" id="{5B946135-9924-4BC1-A02F-7151AD9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AND TRANSPARENCY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27B18-DD8E-4A8B-8A0E-62215E0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implementation made transparency and palette membership explicit model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8381F-7761-4069-9B06-710FCC5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0D9F8-C526-451B-9609-708B58C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087AC-00C6-4378-8829-DB5B45B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10/38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FA64F-329A-4B13-B62F-7007F37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3BBA6-86B9-4867-BB22-A84891E3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Contract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B93A2-9735-408E-8029-FA7FF3B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042A1-ED83-4F58-A928-FE9BAA1E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DD927-A06E-44CD-B718-ED0F8DDE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72C50-6CCA-48DE-BFA5-FD07D42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235E7-B482-42EE-ACCE-0EEA847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B9CDC-AFCA-47C9-B5E1-33AB63C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background is part of the sprite structure, not cleanup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D8F2-8E88-436F-ACE3-CAAFBAF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2AF68-30FD-4F46-9428-16AA950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8BC9A-75F8-424E-8498-109329C6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449C5-4DE4-4C05-BBBA-F5FB626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D1C0D-E61E-4A2C-9CD0-69D4AEAC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predicts fixed palette indices directly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07D9F-5D66-4D27-B097-CB66665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F5ABB-7FA7-4200-81EC-115C9CEB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Reserved mask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21D07-2433-49DF-BD1B-42567A11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separate from transparent for HMAR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66C93-E12B-47D8-8B8E-4581D79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refinement does not confuse missing with background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BA6F7-DF12-4C6D-AEF0-9666452E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68387-90BA-4C73-859F-81A5864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9A33C-E584-483C-9E01-9D4D957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 schedule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93A8B-A743-46BC-8C8C-2D9A00A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1, 2, 4, 8, 16, 32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BD42F-3614-47CA-9FEF-B56ADB02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six-scale coarse-to-fine pyramid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C95E77-E948-4FF9-AA9E-1472500A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9A6C9-839F-4356-AE80-6E20556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7360C-DD3A-4D2F-99E7-A071F5B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448C8E-7084-4AA6-B85B-6E0F1F4B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sum of all scale maps; final 32x32 contributes 1,024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D880E1-27B8-4FC7-A5EA-7A8ADF2F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3B7E3-7933-42D9-B404-2BD55AE0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25436-5E27-4093-95B8-7AA83ECB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09D710-62A0-4C20-8355-44130FDC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grouped by character/sheet fields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6BDE9D-4BEE-409F-A1CC-AD034EE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reduces train/validation leakage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2EF541-0194-4D1B-AD47-3106E81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4DAA2E-0C9F-4F85-A1C4-EB810E1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D0F90E-A7BD-4BF2-AC97-5BAC7D85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34587F-2623-4D07-B962-DA6E32A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66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72DA65-E6E7-41DB-BF80-C77FC2D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E4ABE0-08E3-412F-8E3E-3529048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CB16A1-472E-41CD-8DA1-74CFD82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120276-2E03-45C3-AF31-AD02F98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189636-EF9E-4529-822F-E183BB55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9A6EA5-1B0F-463A-834C-BBF970F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B16B3E-5D51-4533-A8E3-4780C4AC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619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F69BA4-200E-4CEC-9ED6-F42039C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1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4BC142-0EA6-420D-83F9-B77FAD2D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460706-50FB-4185-9048-25981A21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BB3C1B-9FFE-40CD-AEAC-93A715D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192A6B-1D79-40BB-AFAB-12699AD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95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421F55-2D3F-496C-97B8-B81A7C80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E60A68-3665-4C6B-936D-90D5F0D0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C3F418-4FE6-4552-8DAD-D6E2E51F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B41BBF-E570-4D0A-82D2-92A05C25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71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304DF1-9043-42F9-B45D-4BF6496E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561FCD-F864-4E5B-9A02-AEB76D1C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4C03F1-1327-473C-9C2E-0CC5BE56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09AD5F-17CB-45A7-9322-77114F8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48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B58559-954D-4A85-BCEF-21C7DF18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why palette consistency reaches 1.0000 for token models: it is an expected property of the representation, not a standalone quality miracle.</a:t>
            </a:r>
          </a:p>
        </p:txBody>
      </p:sp>
    </p:spTree>
    <p:extLst>
      <p:ext uri="{BB962C8B-B14F-4D97-AF65-F5344CB8AC3E}">
        <p14:creationId xmlns:p14="http://schemas.microsoft.com/office/powerpoint/2010/main" val="45890487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FC788D-16F0-4276-9BEF-0D8B2656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BE841-E2D7-4317-B366-8C9CF9B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5-marker">
            <a:extLst xmlns:a="http://schemas.openxmlformats.org/drawingml/2006/main">
              <a:ext uri="{FF2B5EF4-FFF2-40B4-BE49-F238E27FC236}">
                <a16:creationId xmlns:a16="http://schemas.microsoft.com/office/drawing/2014/main" id="{5EBA4ABC-6A1C-44D7-9223-2FB1E67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5-label">
            <a:extLst xmlns:a="http://schemas.openxmlformats.org/drawingml/2006/main">
              <a:ext uri="{FF2B5EF4-FFF2-40B4-BE49-F238E27FC236}">
                <a16:creationId xmlns:a16="http://schemas.microsoft.com/office/drawing/2014/main" id="{1622FEC4-13CA-410D-9BC6-4048C07F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DATASET REALITY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EE30A-2F7E-4F30-8722-1938AED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original Kaggle source failed, so the final study used a live replacement plus auxiliary Pokemon and OpenGameArt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9DDFF-60BD-4197-922D-DEEE43E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3386-C0CC-44AF-BE1B-F71697E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Experimental setup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F93C0-EBF0-49FC-88D1-E403C3D4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11/38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02EE3-18C5-446F-A66B-B4B7DE6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7087E-7A75-4D6C-BBCE-CE5E1C3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424AB-FA0C-4801-AF11-ACCA226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29A0-65B2-4764-9819-E6EE68A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790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560C1-191B-40F4-B334-39327A6F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5655D-F05F-4215-868E-454C117C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CC262-3EAD-4C79-8565-5406FF5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D5ABA-79F3-4C60-8D3C-37B546B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C50E7-CA7F-49F4-B1A9-2A4E342A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9159C-9F24-4D87-B6ED-1F0F7111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86E49-AD09-4B64-A8DB-A9EBF6F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8C4CC-9558-4FAF-8738-F2FBC48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05341-DBB0-426E-85FD-15160DF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AE51F-AC37-442B-BC7C-E7C2AFB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96E32-5FC4-4D17-9DAA-8D9A0F5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AE087-5E78-4EA5-A8C6-C739989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2882C-A79F-4F09-B433-FA40A082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001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E623D-C2FE-4B50-9F45-A1F6ABB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Source / 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B6E2F-AF20-4F81-8C52-35B9E574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C21DD-0434-4E52-9AB2-01C609A4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2748D-A94E-4760-B50B-ABF4450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35BD3-576E-4E0E-BCC8-B7ABF87A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brentspell Kaggle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FCD1A-1AFB-4949-8CED-A00C317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E48F0-8EAA-4550-86FC-133C8D19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blocked: inaccessible/forbidden; page unavailable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52665F-4472-4DC2-BFDC-9CFBCBBD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A22D0A-CEB8-49EA-83C7-A135C24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90116F-0990-4AF6-B775-FD2D347C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TalBarami/msd_sprites replacement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21338-BCEC-4949-8E17-4A0FC17C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dataset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D8A9F-0160-461E-BDAC-68DDCAB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909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final train/val/test protocol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79A44-6328-42A8-84EB-5C12B91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E26769-FCCD-4228-9591-AB46E6A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1F8EB1-0702-43B4-AF61-3A53889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815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debug/prototype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A2A494-FADA-4797-A668-63BEEDCA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early pipeline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AFED6C-AFFE-46A6-9F03-5083543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DC3FE7-CF32-4B36-9070-6E797FE5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D73404-4278-4158-9D99-F4EC4620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curated public set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460748-9913-41F5-95E8-FC9DEF16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720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mixed-data stretch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410C5A-D913-4FEA-B15A-D44D6677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4,659 frames, 105 groups; useful pipeline, distribution mismatch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525371-212E-4210-878B-F6B865E2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03082A-4FE6-43F0-AAEE-B13287A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170K keep 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9A69DB-F2E3-4379-BE07-066E005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expansion experiment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8BAC05-A7CB-4A1E-83AE-FF2045F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626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 generation worked, but generated/mixed training did not beat real-only</a:t>
            </a:r>
          </a:p>
        </p:txBody>
      </p:sp>
    </p:spTree>
    <p:extLst>
      <p:ext uri="{BB962C8B-B14F-4D97-AF65-F5344CB8AC3E}">
        <p14:creationId xmlns:p14="http://schemas.microsoft.com/office/powerpoint/2010/main" val="149783707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C3405-6A1C-45A6-9D40-667F55D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F8CB4-62D5-4226-94D8-E6804F0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6-marker">
            <a:extLst xmlns:a="http://schemas.openxmlformats.org/drawingml/2006/main">
              <a:ext uri="{FF2B5EF4-FFF2-40B4-BE49-F238E27FC236}">
                <a16:creationId xmlns:a16="http://schemas.microsoft.com/office/drawing/2014/main" id="{6E4A8277-2D9C-409E-8BA1-6BE1D8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6-label">
            <a:extLst xmlns:a="http://schemas.openxmlformats.org/drawingml/2006/main">
              <a:ext uri="{FF2B5EF4-FFF2-40B4-BE49-F238E27FC236}">
                <a16:creationId xmlns:a16="http://schemas.microsoft.com/office/drawing/2014/main" id="{4089C8F6-48E7-41FA-87CC-74A2D0B4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IMPLEMENTATION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3BFC-1A03-488A-98A2-73FFBDB4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project includes models, data tooling, external adapters, audits, and tests beyond the headline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D6080-1522-4067-80A9-CF293BB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69908-FDD8-4D69-8683-91E354AB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Implementation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B31F8-79A8-4FDF-BE43-4B4BE60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12/38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4F562-E936-430B-BDD4-2F52E932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76325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C8037-8E91-47B9-A127-978DDCE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31FD7-5434-4D62-966C-913D05BF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04950"/>
            <a:ext cx="882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Implemented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32546-9E0D-4E02-A863-1AEED53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1AB1F-FBBE-4EA0-AAE8-DAEE79E8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BA55E-F806-42CC-B62E-89B3A27B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288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transformer, HMAR transformer, flat AR, flat MaskGIT, VQ-VAE, Patch-VQ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96232-228A-4EF7-ADDC-BE6B3F3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CC3A1-2A11-4D67-B9B6-6685BF5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91252-B755-447B-B8EA-6E4911AF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355C3-74EE-42B2-806E-BB46323C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 modules for VAR/HMAR/flat/VQ, checkpoint helpers, overfit/debug/full configs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086A1-8732-4DAA-9C9D-85507B2F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43143-8257-45E4-83C4-5A6DEB98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8B097-A4C0-4688-9992-C3C68F3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337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preprocessing, grouped splits, deterministic tokenizer, palette extraction, dataset mixing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ECA47-69D7-4436-834B-D609B5BA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F388C-7EFB-46F6-AD7A-C2B035A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64103-41EB-42B8-B526-4BC3218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63E0B-BB67-4F63-B047-1827A9C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861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evaluator, decoded Patch-VQ evaluator, image-folder FID/KID/PRDC/MS-SSIM evaluator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82E2B-4594-4B9E-9A75-D02ED1A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B258E-8FEE-41EC-B11F-E64DB1F2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DED97-B8B0-429D-B22C-C1CA3001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386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memorization audit, nearest-neighbor artifacts, sample-sheet builders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35A9E-FC1A-44F3-AB52-01955A7B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8A099-1B29-4F56-8D72-4E4071E2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D083EE-E8B3-44A7-95E3-941DA14D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9F2CB-ABF7-4BBB-B038-1BBA7FF9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910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adapter, SSD-1B practical diffusion, Pokemon sprite LoRA, image normalization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E2D54-5E71-4C03-80E4-506B06D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9388B4-6493-4633-B5BE-EEAE379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0093B-1B08-4F29-97B5-0F38728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B200 actions for preparation, training, evaluation, generation, baselines, audits, downloads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83DD74-5D55-494C-A44E-BC6DA5AB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7643B-989C-4B81-A002-37BB3F4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7EDF2-449E-409C-8C91-D9A7C002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A5030E-DC5B-4D7A-8FF5-6B3B517B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959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tokenizer, splits, palette/transparency, dataset, model, curation, VQ-VAE, external adapters</a:t>
            </a:r>
          </a:p>
        </p:txBody>
      </p:sp>
    </p:spTree>
    <p:extLst>
      <p:ext uri="{BB962C8B-B14F-4D97-AF65-F5344CB8AC3E}">
        <p14:creationId xmlns:p14="http://schemas.microsoft.com/office/powerpoint/2010/main" val="84006319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2222F-FD45-4D1C-95B5-819E8778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ED09E-534B-46A0-BD7F-927C34C9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7-marker">
            <a:extLst xmlns:a="http://schemas.openxmlformats.org/drawingml/2006/main">
              <a:ext uri="{FF2B5EF4-FFF2-40B4-BE49-F238E27FC236}">
                <a16:creationId xmlns:a16="http://schemas.microsoft.com/office/drawing/2014/main" id="{EE7FA5E5-3BE9-4BCA-9CDD-D92347D7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7-label">
            <a:extLst xmlns:a="http://schemas.openxmlformats.org/drawingml/2006/main">
              <a:ext uri="{FF2B5EF4-FFF2-40B4-BE49-F238E27FC236}">
                <a16:creationId xmlns:a16="http://schemas.microsoft.com/office/drawing/2014/main" id="{3C952A6D-9465-4ECF-8A9C-7940193D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PIXELVAR SAMPLING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9C723-CF5F-47C3-8534-DBE5FD0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checkpoint was chosen from a temperature/top-k sweep, not a single cherry-picked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F5CE0-0D17-4100-911F-6237246F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0701E-6437-42EF-8F67-1948EC6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Sampling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E74A9-978E-4EDD-BBC8-B4AE0453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13/38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94458-3929-411A-9D6A-C06C096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A5C82-B14C-48C1-B0B0-2AB18D5A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AD8E1-6D1C-4ECD-9510-E91465E8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D85F5-B9B9-48D8-B554-016A6B7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E1492-EAA1-424D-90D9-ED369067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F1130-13DD-4A42-8A60-4396527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C824C-0BE2-4E08-8079-5B2E9BD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5BDBD-7348-4888-BFBF-AF78414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206DE-F62F-4197-A147-0067372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9F8D7-E566-4824-A77A-CA98A70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3233-8B92-48D8-99FE-4B48E99C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3371F-D46A-4AA8-8F79-FC1F695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B922B-2FCF-40CD-A17E-8695B068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24696-70B0-46A9-A9F4-522FEB5B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58A66-3649-412B-A0B3-6B9FBDE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239A1-D3A7-4981-B71E-5D9219D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8C494-FF6C-47C8-B3C3-408380B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106A1-1286-42EA-8280-081CD641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9D6F1-423D-4A96-B49B-1BBCD3DB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9E207-609E-422F-A8CA-2B9666C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33F84-B8B5-49C5-88D9-B209D91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0.2381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FDB1F6-66C7-4812-BA22-AF6B6151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C053AB-F5A2-4C97-AEC0-1E9EEAF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B72815-37D4-42FC-9C82-3AD35332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287C9-1711-4EDB-9080-30ECA7A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40EF8-1593-483D-874E-A6C9EEC7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5EEAD4-669B-4B11-B648-182211EA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E0A639-ADB4-4F21-A872-6D546FFA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0FEF27-4132-4DB4-9D31-090A9982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D8511-9549-4669-A009-CF9EB40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66BDF5-1E9B-4819-AB33-3A78D5C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92F3B8-8FFA-4393-9339-0F1F369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53CDB9-A1F4-4205-9F6A-4578AAB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ECCD42-E596-457D-BBD5-3AE646F6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2C476C-76A5-4DBB-9FD4-EABABA59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9087AF-4B33-47E1-B2ED-A6D846B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3335FA-42EE-431F-9E77-4AE5078D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12BA6C-AE17-4B7D-9326-844C9259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DBDEC1-D1B6-44F9-8728-FD96120A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C457FA-1B7F-46F7-A3A9-3C0A947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6BD300-1362-4B1B-A8E6-3C030177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0.00596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E70C11-AC17-41B1-A44C-7B85FC87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4CCB4C-ABB7-4391-89A0-34150287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535283-7995-4CD6-8821-F95D5FE0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D1A063-351B-46F8-958F-99F87798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1F02A5-D9E4-4339-885E-1980E15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7FDE3B-9F74-4803-BAC3-3828EF3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373036-CAD0-474D-B51E-709C2B8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DB8C98-46DD-4DEE-8526-4A983AFF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0.00637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4D3633-95A6-4530-8FC1-2EC7E1A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0FDE42-3602-49F6-BF0D-1CA80E6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0.2459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28A2F1-BCB6-4842-955B-A00A694B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0.1917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8C72AA-B28B-4F8F-9882-095C2D0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58A190-E351-4A47-8E95-A419935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CDC497-DD85-4376-AE6F-2D837C8A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445C9D-287D-4BEC-B570-CE556C0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0.00659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E49807-F24A-49D9-ACB9-5165C5C5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E36432-1B91-48CD-8C22-35B79996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73D616-516E-4CC9-BB68-20269D4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18FFAD-CE50-4956-86BC-C1F772A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D085B4-ADD4-40D2-95E7-A6F0789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1BF2DC-01F6-4841-992A-A21B53B0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366C7F-0EE6-4D53-A521-70BBF833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2D4F25-B9EA-4F4E-A929-2F575E3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0.00856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AC8120-292D-445A-9964-3D23CE2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7FCEE9-7487-4465-BB95-FE899F4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0.2164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6B97A1-4750-4AA9-8075-3E010DF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EB3FDF-E223-4A49-802B-279F7906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3940FF-0D30-4D58-89FF-DDE16E4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357B0C-DF68-401F-9546-5440AA09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E1443E-7A11-4A13-83BC-962C07D5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0.00956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7A58E5-2D0F-4BCF-8F99-03704CBD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CD2978-9AE4-4E34-AED0-709C59B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A99B17-F950-4B01-AB0E-F99723C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FAA1FE-095C-4AD1-B332-667BE3C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266c4204343ec"/>
          <a:stretch xmlns:a="http://schemas.openxmlformats.org/drawingml/2006/main"/>
        </p:blipFill>
        <p:spPr>
          <a:xfrm xmlns:a="http://schemas.openxmlformats.org/drawingml/2006/main">
            <a:off x="7372350" y="15430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380793-8296-4DCB-92EB-EDE76B8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Reference validation: opaque ratio 0.2354, edge density 0.1811, palette consistency 1.0000. The best score also keeps structure close to reference.</a:t>
            </a:r>
          </a:p>
        </p:txBody>
      </p:sp>
    </p:spTree>
    <p:extLst>
      <p:ext uri="{BB962C8B-B14F-4D97-AF65-F5344CB8AC3E}">
        <p14:creationId xmlns:p14="http://schemas.microsoft.com/office/powerpoint/2010/main" val="194900844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EC04F-9113-42A2-A92A-1A59CA38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D6987-EBB6-4F4B-88FC-F086DC6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8-marker">
            <a:extLst xmlns:a="http://schemas.openxmlformats.org/drawingml/2006/main">
              <a:ext uri="{FF2B5EF4-FFF2-40B4-BE49-F238E27FC236}">
                <a16:creationId xmlns:a16="http://schemas.microsoft.com/office/drawing/2014/main" id="{C5D55119-55E2-4D5B-BF85-70F9FE8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8-label">
            <a:extLst xmlns:a="http://schemas.openxmlformats.org/drawingml/2006/main">
              <a:ext uri="{FF2B5EF4-FFF2-40B4-BE49-F238E27FC236}">
                <a16:creationId xmlns:a16="http://schemas.microsoft.com/office/drawing/2014/main" id="{B847034E-0B57-4842-8653-86409D3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HMAR REFINEMENT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6F39F-0975-47BB-99D5-65DB48A6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masked refinement did not improve this low-resolution palette-token regime.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483AF-4F8E-467F-91C0-4085ED3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32939-2E9F-4622-B968-718EB5DB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3615-784B-44B4-83D2-E4952F00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14/38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C3A02-4D37-493F-9CE7-DDA10B74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9B4DA-8CEF-4770-A8A7-2EA8969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Refinement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76636-5674-4279-9DF6-777E64A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temp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5A102-A3C3-45FA-B99A-62EBBCC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top-k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A72E4-F847-4481-9D21-01F53832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049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CF870-3F8B-4B66-B724-94366A1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9A95E-C080-4A1B-8CB7-9FED26CC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8FCD2-B50D-4040-820C-72E54FCB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62020-9A77-4811-AB75-0EA6B6B9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30507-5FC6-43AA-BBE3-DC1B7E1A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2DAB6-E840-4011-88DF-DD5D9C24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288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7B201-5173-4630-94E4-8C46279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288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64E36-503D-4485-921F-E4D88399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288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B27A3-3F3B-440D-9622-FCB68ED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2C2C5-D8A3-439F-9162-26F824BC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88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E1169-5401-4A32-A300-FB0B8B5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288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closest HMAR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DBA9B-436E-4BB0-973D-808CB46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27315-3D2F-4795-80FA-6445DCE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8A617-ABA5-4612-A13A-5B09E3BB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7EDB0D-935B-42BA-BFCC-8E7EF41D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BF76E-DB0E-44B6-AB5E-0C764269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BC529-48FE-481B-BDFD-78493D3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DE400-D3FB-4423-BDF4-5F441FE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48865C-F2E9-42D7-B8A3-20DFFDF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9A91C6-C41A-4350-88F6-F5F7004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146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step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ACE41-929B-4EEE-9B08-4B1DFD1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F33DA-D437-4605-98CD-6C8D504B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70AC6C-1819-40BE-B7FE-2475FFB2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3CFE04-1250-4D49-8254-85C5A2D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5C3EE3-FB6D-47CB-B05D-11DF486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04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4B031-9126-4DB9-A122-2DE66AB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042A2E-0449-49D1-9BD3-9BC6EF2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04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293E65-B1C5-4529-B3DF-83FA163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04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slightly better than step 2, still worse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D8545-7203-48F5-89AA-0FB3E79F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61F766-26DD-45E8-965C-FB4DC6A0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6CB9C1-C7B5-4E16-A8A0-E604692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360DBD-9DB0-4059-96E6-0DEE79BB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48AA94-89EF-43C9-B038-596B188A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AB4D31-6783-4CEE-BC11-7C57FF7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62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50A5FC-7784-46DB-9934-274A378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0.2191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9FBD71-F545-4A6A-9A02-964B145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862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2B2087-860F-4C81-B371-7F23C71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862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over-refinement hurts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50A234-8576-4754-9B6F-A75122C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10bf5543449e6"/>
          <a:stretch xmlns:a="http://schemas.openxmlformats.org/drawingml/2006/main"/>
        </p:blipFill>
        <p:spPr>
          <a:xfrm xmlns:a="http://schemas.openxmlformats.org/drawingml/2006/main">
            <a:off x="8515350" y="1698241"/>
            <a:ext cx="2305050" cy="2566169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FBED42-1934-4EAC-923B-58245EC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3D98CA-08C6-47B6-AA37-8B9C1B82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 B was implemented and trained successfully.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D7CDAF-68F4-4610-8F41-3CB0216F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5F8AEB-1A8F-4BE3-B446-40F7951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Step=1 is the only HMAR branch close to main PixelVAR on the sprite-feature evaluator.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269960-ECE8-4157-9A8A-52DBD38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90D243-10F3-4F5E-B716-44466B0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hypothesis that more refinement would fix tiny outlines was not supported here.</a:t>
            </a:r>
          </a:p>
        </p:txBody>
      </p:sp>
    </p:spTree>
    <p:extLst>
      <p:ext uri="{BB962C8B-B14F-4D97-AF65-F5344CB8AC3E}">
        <p14:creationId xmlns:p14="http://schemas.microsoft.com/office/powerpoint/2010/main" val="106508235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82B48-DE85-4A0C-B913-005CAD1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0C236-1E80-4C26-BA11-42EE93BD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9-marker">
            <a:extLst xmlns:a="http://schemas.openxmlformats.org/drawingml/2006/main">
              <a:ext uri="{FF2B5EF4-FFF2-40B4-BE49-F238E27FC236}">
                <a16:creationId xmlns:a16="http://schemas.microsoft.com/office/drawing/2014/main" id="{5069B25A-6CE7-4537-8A12-260E349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9-label">
            <a:extLst xmlns:a="http://schemas.openxmlformats.org/drawingml/2006/main">
              <a:ext uri="{FF2B5EF4-FFF2-40B4-BE49-F238E27FC236}">
                <a16:creationId xmlns:a16="http://schemas.microsoft.com/office/drawing/2014/main" id="{B32EF016-AB36-4515-921D-2B7E8DB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FULL HMAR SWEEPS: STEPS 1 AND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1081D-A570-41C9-884D-B22259C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step=1 and step=2 HMAR runs were each swept across temperature and top-k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7C235-9748-482E-80E8-E546F50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7CB3-95C7-48F1-B5AC-64F734B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detailed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13AB6-603A-498D-BDA8-7E818A7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15/38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3EA9D-3DB2-452A-B87C-1B2DEE4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1D09-F9AE-43E4-B95F-720ED90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s1 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23B85-8B62-41C9-BACB-811BFA36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430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54CD2-669E-4269-90EE-7C00C867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FFE4-0B6E-4D15-86D2-CA540B2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A6666-0910-4323-B067-9563610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5C1BB-AA89-43B6-85F9-62D26C1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59524-5C5F-484D-8E78-4768AD8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033B8-8948-48D1-B06F-E3E57D39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669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FD2DD-5BCF-4C74-8620-98F3C5FF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8DF63-485F-42AE-8DC2-AF20569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7137B-75C2-43A4-8DEF-D9CE34E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E80D6-47E3-41A4-BB4A-AE9621C8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A8CAD-FD3B-4797-8325-5CA6D211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7C2C9-B946-4DF8-98A6-54D69B3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B01B-DDB0-4580-93BC-C7E6F28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1C778-D021-4949-BA80-F595A2B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32FC2-0EC3-4D51-BCAF-1195548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0.2379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CEFF6-7D69-402F-8358-E992B4EB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FE09F-3BAE-45C8-9EE2-F07EA6E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F1620-F9E6-41C1-AB8E-BBB0B02A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C74FC-6E3E-446B-B100-4BAEF63A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146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7E6B2-96D5-4E9B-8C19-CF2FFAA8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578D3-DB2D-4821-963A-BFB2837B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0.2382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998F4B-2677-4491-819D-0790FC00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0.1870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5AA9BA-0FAE-44B6-B41E-12DCB61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75EDD6-7B9B-4A3E-B2BC-38B975C0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F1B70-9089-4735-8F4F-6F97818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BAB25B-CC0C-4DC3-96ED-9ACFD45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96FFD1-CC06-479F-A0BE-B98BD87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0.00647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F20053-A653-49D9-9459-79AE1FB1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CD16D-891F-4BBC-9AFE-EB6C1CBB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A654D-34BC-4987-95F7-303622D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81113B-B8EE-4B83-A63F-DA15F21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1AF9A2-B0F0-4DA5-9BBB-ACACBAE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623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9C5606-884B-4F13-A8AC-26036624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C99D16-9F08-4460-9FCF-893C54C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0.2450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D1943C-EA9A-4ABD-9BB5-DAE0877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0.1923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BFA201-5D33-4011-A21E-9630F990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F9A596-4B45-4DDD-B4DC-80F50E4B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9C3BA5-B5A0-4F98-9A80-97640A1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A0D67E-91E6-47BC-85C0-1D5123EB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E1D953-C693-4393-8EF2-F34876A8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0.00968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E57998-BB68-4ECB-BBBF-394BEC3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C1D65C-0CB5-4BEA-A650-32737528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0.1755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F3C4E5-52FD-4BCF-AB5B-B99FA56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9E2607-041A-4367-A181-EC300B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0A01A-801D-45DC-BF8F-1FDBD23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100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1B50A4-C652-492B-99C0-35335FE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0.00978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9E78DD-D7A6-44F4-B5E5-EA94A1CE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0.2152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9E40F7-3E3A-4AB6-88C8-ABCEDDC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70E0C7-3584-45F2-840C-F1064BB4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BA4CE3-46CE-450B-AB43-E9108A0B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967DE6-2CE8-4AE3-AB30-D81BEE9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3C72B4-D41F-4C14-9CE5-F86C94A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EFFB78-2AE1-4B5E-A678-57E89FF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0.01174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AD558A-64F5-4694-9431-E1653C6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0.2146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897C33-C3D6-41F4-9CF4-5BD0BEE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BC4DE9-2621-4FDD-8B52-428DA15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5EF597-FDE9-4E2B-8B62-1AEAA91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AB53ED-AB6A-4987-8E6D-30B04B44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577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F165B8-F8DE-4D29-9F52-AEC45209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0.01419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D3F788-2C37-4659-A391-39D827DB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0.2153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6F8DF8-CBDB-4D2E-A455-9F414B18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0.1738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30E010-668E-431B-BAD3-60D41A9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9FD715-BF99-4C98-ABA5-9D14AD1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430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s2 temp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C3F98C-843D-4068-B5DB-D840E72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430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D227BE-2F3C-42B7-A379-13EC18A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B30400-A8CF-4B3F-B0F6-B0D2A220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0CD7DE-FCA1-49B3-9D4A-F9C4B339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421240-36A4-4325-898F-AFCBE427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881E71-66CA-4C71-87E4-F20BC72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B9297DD-E973-4032-AF19-459A65C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8669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FFAAD0-359F-4D63-9EC7-A692B33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1F1CD2-1970-4367-A2BB-4665C241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3D99B0-34A4-4DD0-9122-3EB2AF06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016AFA-043D-419D-BEB8-990FC92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718259-81D5-4069-AFEA-4AB4FABC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75242AD-27A9-49EC-97E0-02140D8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8FB6FFF-1B03-4F49-A137-97282247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907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610367-14DE-452D-895D-E672DA1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0.00435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4EF184B-AD4E-45EE-8F50-7C8B1D6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0.2386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902C78-CC6A-4554-9273-9B421AC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0.1892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F5E206-B433-45E8-B88D-79F5805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E8CDA91-ABF2-4303-BB9D-31850EB8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98DEAF-6747-4658-9BE4-F639D26C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146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DE4AF73-771C-4885-809D-63D88EA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0.00594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4305D9-73DA-4910-87C0-801C46C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0.2354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D9B6E8-50E0-4EA8-B590-DF09B9B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647FFE-2D93-4547-AEBF-C6204A7C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00DE37-4A7D-4055-A46F-C6A4851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DC7B4A-1F3D-49FB-A2D3-50C4D08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88A46A3-9366-494D-98DA-D830D7E1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384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908B8F-DD16-4E5D-8261-458FF38A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0.00650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E49118-5FF6-40AF-9B51-1740534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0.2359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36E1AC9-D738-4AF8-A335-27350E3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0.1864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EDA010-180E-4E05-80EB-18B2501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794B86-1C2D-40C0-994E-D1FD54A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4D4B83-40BE-4E73-950B-E7060BA1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623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20A0A94-C365-48D1-A965-DD3F2047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0.00933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DCA2F76-58F0-4D5D-9AD5-6865192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54DC6CD-F491-4295-9153-831B5779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0.1813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FDA233-891D-4266-9FE7-9E27720F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B09ABA-8DC7-4B2E-AD89-815D50DF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972180-8F49-485B-B507-5DFC285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B448E4-BA6E-44B8-9503-F6A9E75D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861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72ABE3-3E1C-448B-81BA-E60C384B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0.00961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A00ADC6-9D72-4DB4-A215-466264A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0.2274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11BBD3F-DDF9-4A09-9AFF-7186D68F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9DBF34D-508D-45F6-9E62-2AF1BD9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9D8DBE0-112B-4417-A99E-3D3838B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69047E2-4711-4FF9-B8A7-2A18D0FA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100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201FD2A-9CB9-4E70-B93D-C4C15DE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0.01018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801BDAD-046E-4057-8E68-9138CC6F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0.2142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582496-D4FC-4E31-AC22-7D451FF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08B5A6-7DE2-4152-A69F-D228C44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D564D7-A93F-4DDB-B26F-29326E5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2E6C704-D229-44A4-A8DD-DB75D940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1CD5ADA-E817-465E-8908-D5D3D511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338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3CEEE2-BF76-4C92-8E62-D8AABABC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0.01443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4591C6E-D6D3-48CE-B881-73FBC78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0.2101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51646F2-FAA8-4826-910C-29653155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0.1692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46BA74-A311-4DD5-9809-D77665F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A627A6B-9C90-4E3B-ACAB-A04AE27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5C8340A-73FB-48DC-81F0-0853A36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577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FB2C501-FE9F-4F21-8A85-3F55792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0.01836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3CE45B7-66A6-4244-906D-1D0C5D6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0.2105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83E8AF0-8051-4A5D-BE0D-040E0AD9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0.1688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93B2822-06CE-4F29-83EF-2620461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Step=1 wins across the HMAR family. Step=2 does not improve the best sample-quality score, even though some structure metrics remain close.</a:t>
            </a:r>
          </a:p>
        </p:txBody>
      </p:sp>
    </p:spTree>
    <p:extLst>
      <p:ext uri="{BB962C8B-B14F-4D97-AF65-F5344CB8AC3E}">
        <p14:creationId xmlns:p14="http://schemas.microsoft.com/office/powerpoint/2010/main" val="191533016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2E3A5-3398-40D5-9904-59ECC0B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1B5C0-83D0-4B6C-9342-B367967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0-marker">
            <a:extLst xmlns:a="http://schemas.openxmlformats.org/drawingml/2006/main">
              <a:ext uri="{FF2B5EF4-FFF2-40B4-BE49-F238E27FC236}">
                <a16:creationId xmlns:a16="http://schemas.microsoft.com/office/drawing/2014/main" id="{06C2D8D1-3E2C-4CDB-966D-DBAF210A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0-label">
            <a:extLst xmlns:a="http://schemas.openxmlformats.org/drawingml/2006/main">
              <a:ext uri="{FF2B5EF4-FFF2-40B4-BE49-F238E27FC236}">
                <a16:creationId xmlns:a16="http://schemas.microsoft.com/office/drawing/2014/main" id="{FBBB8880-2383-4FAD-84C6-8C1C3430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FULL HMAR SWEEPS: STEPS 4 AND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2CF18-6042-40D8-8D92-E664BDC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Longer masked refinement had more chances to edit tokens, but the measured result got worse.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C28D6-7F58-4147-AB71-1FF9661C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79B84-0BD3-497F-96FA-BCB037E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detailed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2E0B9-A541-4AB9-9ED8-7AED855B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16/38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1598C-61C3-43F8-BDDB-9D9861F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42299-5141-4FC9-B4D5-9BF22BCF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s4 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C1E05-FEFC-43B4-93AB-20B568DF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430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47569-437C-4000-B2EB-D1FF6B9B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FE08-33B5-4745-9CD9-39AF91A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B4D5B-F1E1-4FE4-AECC-642F2B29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F853C-F33F-42A1-A4EA-B350354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544BC-673C-4122-A258-D5E7F9B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9A08B-5394-4DCD-9C53-A134B0F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669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B67A-C781-4C08-9F41-6941931E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F299B-6AEC-46A7-A0F7-CEC71510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CB199-ABA0-46FD-B996-CC31FB6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22662-63CA-4692-9BA4-5627622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85307-1EED-496C-BBD9-BB0221F2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7F8AC-FE6D-4CA6-AD8D-2E74F9D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E15DD-B775-4FB0-AE14-686E1F8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4B71B-1F54-4973-84B8-7407826E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0.00472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D9892-B249-4E89-BACE-820C067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0.2378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EFBEA-5A55-43A1-8110-D012B22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53863-A823-4C07-B3CB-0CD6954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CB65C-02E0-4EEB-9DBF-79351C3F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EC06FD-3883-441B-BBCC-B6324DCB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146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60670-3AEA-48B1-9B49-420B9CBE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E867FB-B13E-42C4-B9B3-1D17820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DBCD2-E751-4688-B885-4CD9D52A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13C03-3B78-4ED4-8BF3-D2B309A5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43C2F-7FEB-4F02-B7FD-6E1029A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62B658-3B85-421E-8B48-E84B1282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2138CE-E047-4A15-A583-3ABD0FB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27B18B-21AA-48C7-9D0C-B98993A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0.00575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343A4-440B-4426-BC31-0030D01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0.2254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451D18-C6A6-49E1-B4AD-5DC93A9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0.1783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4D5FC9-9CEC-41B2-925D-9BE81BDC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2D27D2-39F6-4628-81EF-0D44DCE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E23027-BAF6-4B90-BE0C-1BFE25E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623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FAC532-ECDA-49A5-8245-FE76111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F6805A-3E06-46F4-A5AD-C306D89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65B3AA-9AED-45CE-991C-2DA8F15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0.1852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87FDFA-21B9-4E91-8E09-BD13FB85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7961BC-913A-48E4-ACCC-841A5BBC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CB1FA7-927B-4B35-945E-C43E5E49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2A1378-E269-42D6-B271-EF47D19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78DAD1-4425-4D4A-9B14-8FDC27DC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0.00865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366DA-B678-4B25-8E6A-5E0FEBC6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0.2395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0546B2-AA8B-4654-8968-9138D3FC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0.1912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2A2E06-47B3-41E7-9793-900511A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B41801-8582-45CE-B932-62764424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C2DAAB-2131-40A7-B79B-F246301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100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F3149D-7799-4F3B-B77B-C5B59DBE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4B3330-8534-4AB8-8698-555FB3BF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0.2153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727914-5E10-4CB7-9269-BCC0DB4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AF7AE7-5DFD-4937-9CB2-B4200EBA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DA14B1-2FE6-4437-97E4-912F0CF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BD2BD8-A3E8-426E-88EB-5549B0E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725204-880C-485E-A194-D9A1F4A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97F4EC-F58A-4F6E-9BAC-6DB7D87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0.01295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73531F-CF8E-4DA3-94C5-61AEB29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0.2130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80B7D7-D9BF-4A47-86D6-F3936E50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7BA29E-E87D-4EC8-9802-966188B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928326-5272-4466-842C-D6ACAE6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3F8C75-4E41-4DF2-A3BA-90E0EF54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577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3F5C95-AE28-418C-B06C-FCA59DA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0.01324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BAFC89-3F65-4BC9-8608-A5189DFB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0.2135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589C7A-21E8-47F9-8F56-D2FB4AB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D61318-AEAF-497B-9CFD-D924697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88BAD4-731E-4130-AFD4-00E70F23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430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s8 temp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86CCCC-1006-4896-B48F-45F9597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430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6CB0DC-05C8-4492-B961-EE0AFE4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7EED80-7255-460D-894E-E3B8E72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4474AB-B416-435A-B243-E5D7B6A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C7D242-42A3-4FB5-B584-C48C2DDF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7CD08F-FB7B-4A92-BDD5-5C68E6A6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1B40540-9586-4870-8D00-D2CC190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8669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7357C3-56D9-4744-8AA9-27BE3351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DC1BB7-8AAE-40C7-AD38-7E79C0C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0.2191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3FD1B6-2260-4449-AB96-6F5B979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66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65A037-642E-443A-92D3-B728EA1C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21A2FB-2F66-44E8-AD04-26859F5A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C609C2-F624-45AA-B2E0-43A66186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2E5E00-14DD-4E54-A80C-20BFC6A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907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B30540-E7E5-4DF0-8A14-26EF9A7C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0.00840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B45769-B1F2-4E87-B7BF-822B86D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397F2E2-EE3C-488B-80E9-7B27837C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1907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584F320-6AB7-4BC0-BD14-C1AFCC5A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03C746-B153-4115-A79C-0A42F549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F51A16-605E-40C7-8D90-4AD8993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146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E775216-484D-4603-B8F7-4EE2ADC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0.01136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9A31181-330E-4353-8896-3027097E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0.2185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B5B7A2-5AC5-4DE3-8343-5E9148E2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146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0.1762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2E2543-CDCA-4148-8D9C-434EE6F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2D9CE1-5EAF-48B2-BACF-5F35760E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B0BB0F-2FD7-4778-B45C-366E7E86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632450-C225-4B20-9D4C-F116729C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384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B2C9605-C3EF-4750-BD6C-412B31D5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0.01267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09BE84-2D1B-4C6A-B947-978DCC9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0.2165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B9ADC-8426-4571-8514-3E6984BC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384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A175A74-5502-4B6D-900D-A7C14C2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55736E-8CF5-48D4-827F-6C9A335E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3C1CED-98A4-46BC-BA98-E36D432D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623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1BADB85-EE96-42B9-AA1C-5341F83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0.01272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473621-844E-47CD-84B6-928CEBA8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0.2206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B63FCF-2130-4238-8C20-9DB281E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623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0.1781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C8EBAC9-82FE-46ED-8C2C-186B7B8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A4A7A83-506F-49D7-A324-1EF23F0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CB03D3A-D447-41A5-B050-E9B28742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2DAC89A-D39E-43FB-8BA7-4E0BD1F5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861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E66F08-E273-4BA2-BE16-0731EE5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0.01278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80F056-7079-4DB3-BB7B-F82ABA8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0.2226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A0703FF-D8FC-4493-B624-9196EF0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86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0201E3-5279-4B1B-8291-68B8B01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0011DD6-6783-4BF6-A0BC-FC162D1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229AB93-9186-40CF-969B-36F758A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100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1447B34-C561-434B-8CD3-6540ECD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0.01322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78259C-18D2-464D-A05D-3592577C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0.2118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4B5EBEF-BCC0-471B-B3A6-856E5852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100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1FE3AF8-A997-4A57-9880-E5237942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EC0548B-C545-4EAF-BFD6-49C653C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D6314E9-1A90-4548-B3F8-DED3C3C8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40BE080-8869-458C-867D-2A28BFC6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338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7C6E844-AE71-4D06-B486-560920E6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0.01432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40E4A1C-1B48-4F73-852C-CDC52688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0.2104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681B482-CD28-45AC-96F4-023194D8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338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0.1704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9523852-D08F-470D-9610-388F7D48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8BBFFB3-BE72-4E40-954B-5EC6835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771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2802741-A9AE-4636-A832-67371F0A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5770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B5D9372-D5F6-4624-864B-E2643F8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0.02329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5EF3C80-53AF-4A37-82BC-32CE79E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0.2088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535EDA8-BDE6-4A02-8E0F-DB2876F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0.1688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63E66F7-C8FA-4377-AA93-7709876E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important interpretation is negative: iterative refinement did not become the final model even though the proposal made it a serious Option B.</a:t>
            </a:r>
          </a:p>
        </p:txBody>
      </p:sp>
    </p:spTree>
    <p:extLst>
      <p:ext uri="{BB962C8B-B14F-4D97-AF65-F5344CB8AC3E}">
        <p14:creationId xmlns:p14="http://schemas.microsoft.com/office/powerpoint/2010/main" val="31938041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F390F-E68F-47D7-993D-B99A92ED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F90C-0E51-462D-A38E-702FBAB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1-marker">
            <a:extLst xmlns:a="http://schemas.openxmlformats.org/drawingml/2006/main">
              <a:ext uri="{FF2B5EF4-FFF2-40B4-BE49-F238E27FC236}">
                <a16:creationId xmlns:a16="http://schemas.microsoft.com/office/drawing/2014/main" id="{75F0FEAB-B11A-4494-86C2-A225C03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1-label">
            <a:extLst xmlns:a="http://schemas.openxmlformats.org/drawingml/2006/main">
              <a:ext uri="{FF2B5EF4-FFF2-40B4-BE49-F238E27FC236}">
                <a16:creationId xmlns:a16="http://schemas.microsoft.com/office/drawing/2014/main" id="{4B7A6D48-EE76-4248-A681-C8DBC89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GENERATED-KEEP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F3A9-F887-47EE-BA50-27620E3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generated-only keep set scored well against its own reference, but it was not a direct real-validation winner.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AFE9A-2C8B-4D7F-915B-9D500B42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6B7BD-FDDC-4FA0-9EAA-61E1DAB3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Data expansion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213C0-A297-42CC-AF48-429BEB36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17/38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596AC-8752-44E0-8303-9E7125E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A51E4-E612-4BD0-80E7-F74CA27E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6AF76-7A51-4624-B82D-6B4A7EF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087D0-7B73-4A94-8633-A2ACDDF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63961-3D61-4E89-9C14-FB8B350C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C88B5-4C99-4EDF-84BF-66F1F92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E92C1-1BF3-4F3F-A005-18743E6C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7D9E-BF9F-4D9F-B714-55EE8843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CA839-F670-4A5E-A026-AA803152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B6940-5E55-4E3D-BF14-63DC3AE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97778-116E-4330-AAFF-7EF3A41E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0.00157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142AA-030A-4C94-929E-7036CC8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32F6D-2793-424F-BF42-F7B7AEE2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50A27-4CB7-4688-9117-38F5E8D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0.1761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8F3B2-8E3D-4CB4-8491-FFC023B6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6C453-9725-436B-8722-20D1D24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EDB1D-44DB-42DC-B59A-2ABE415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E86F2-BD24-48B1-BFA1-9BFC6B5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BBF4F-6E9F-42BF-B8A2-8E68FF4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0.00394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9124B-BD42-4B92-88B0-4D59DBF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1A6DE-49E3-4814-85FC-B8B8470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0.2157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5FEEB-E92D-4A1A-9D0D-A936B3D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1EAC2A-942F-4A69-8F0A-E3CCAAB7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4FFA6-5333-484F-82FD-7805CC6B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87896C-538E-4495-8AD1-E9D73D2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E922FD-7DCB-4094-9FB6-AABCD3B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0.00482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2A8908-3270-4BB3-9D90-E2FB2747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0ED8B-4FEC-4254-823B-46DA293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2E3FC7-43C0-4A70-BC93-CD76E6E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0.1674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5E877-9DD1-4126-9506-FC1EEA6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EC1D4A-1BF1-47AE-88FD-A8F2DF1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CBA796-A8AE-4019-B18B-AC0AE29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68A810-D24D-43C1-BE46-6F693B7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C61570-1601-4839-8DC6-5FC9323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0.00673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CC5796-8BCD-4A5E-932B-C797D3D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996511-A60B-4256-A8AA-F04B8E0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0.2052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F4D0A4-29C2-4166-9FDD-B3102D2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0.1662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25675-7C47-436B-91D9-6897192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C6CCDC-3194-424D-8B2D-B6926E8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4B2765-00E3-4231-A496-71C94B45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7F463B-ACE7-4F24-A430-7814829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D25181-0169-4144-9A37-E3927F28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B499A9-A604-4E80-8831-31E2162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58C6C8-7CCA-4D43-B2C0-D1F4EB58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0.1684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DD5F6B-4057-4EA2-9DA5-1252E1B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A2F433-BE5C-4053-8257-DC8F712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CBCD1C-C0D4-466C-ABC5-025C2DDE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5AB0D5-32BD-4942-AA5E-2DCAA4B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293724-65A0-4125-BCEF-C1FDED3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0.00977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554F62-5E8E-4DED-8807-A4BC79E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CBB794-9FB6-4D18-AAC3-48A1B86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0.2097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51B0A1-2E94-4CA1-ADC6-92D00F6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5D8A06-58B1-4A95-81F9-4272C35F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C046CF-755B-4ABF-A695-CDDF17CC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E41677-E8B3-409D-B97F-F62C662E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578CBF-2829-40CC-9B23-C25E88C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0.01473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A51CD2-D196-488D-903C-C772238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B44750-4503-42AD-ACE9-FFF85F4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1E8FEE-426B-44EC-A593-69C9FF9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0.1871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A9A38-FD66-43D6-9D2F-AB02D2F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D34F1E-FB33-44A7-87B2-0BBBFBF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B7EAE9-5E1B-4524-B2BC-8A3817F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30F7F4-FB66-4A9B-AE88-CFC5B441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8811DA-7DE0-4416-94EC-86D00911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0.01510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2F3908-3E06-4DD3-A4EA-6FDE49A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A794B4-7585-4DC7-9D60-D0BD8F3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0.2235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6F045E-937B-40F2-90B1-6E4138C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0.1837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C6885E-1C8C-40E5-AA3B-026A0C0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0A03EC-CB3D-41A4-9DBC-90FA3494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2B7FC2-B0C1-475D-B512-80601EE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B5C004-F821-4957-8391-027DD6E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0.01690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92FDEE-8AA4-4F18-AE76-B7505F1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807182-A63C-4CA1-BD5E-B20C4048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36D1C9-D271-4A7C-9F10-7C227766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0.1879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86096F-26BC-4F47-8F7F-3DF69DB7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12c3c87a40b5"/>
          <a:stretch xmlns:a="http://schemas.openxmlformats.org/drawingml/2006/main"/>
        </p:blipFill>
        <p:spPr>
          <a:xfrm xmlns:a="http://schemas.openxmlformats.org/drawingml/2006/main">
            <a:off x="7372350" y="15430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9D515C6-D1CC-4B21-8568-418D71C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Caveat: this branch uses generated-keep validation as its reference, so the low score is useful but not an apples-to-apples winner comparison.</a:t>
            </a:r>
          </a:p>
        </p:txBody>
      </p:sp>
    </p:spTree>
    <p:extLst>
      <p:ext uri="{BB962C8B-B14F-4D97-AF65-F5344CB8AC3E}">
        <p14:creationId xmlns:p14="http://schemas.microsoft.com/office/powerpoint/2010/main" val="161405798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163B4-81CD-4E7A-8F17-5BC5F1D4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3283-D87A-48DF-8081-5F1E76E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2-marker">
            <a:extLst xmlns:a="http://schemas.openxmlformats.org/drawingml/2006/main">
              <a:ext uri="{FF2B5EF4-FFF2-40B4-BE49-F238E27FC236}">
                <a16:creationId xmlns:a16="http://schemas.microsoft.com/office/drawing/2014/main" id="{FC66BED7-406B-4800-8A4D-A0CC08D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2-label">
            <a:extLst xmlns:a="http://schemas.openxmlformats.org/drawingml/2006/main">
              <a:ext uri="{FF2B5EF4-FFF2-40B4-BE49-F238E27FC236}">
                <a16:creationId xmlns:a16="http://schemas.microsoft.com/office/drawing/2014/main" id="{07F2D2AC-32C2-4B06-8D48-8AD4137E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REAL + GENERATED MIXED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BED3-B637-400A-87F1-73CAE613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Adding generated keep samples to real data made training larger, but did not improve the real-validation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72790-1E4E-402D-9E28-1085A55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64AD0-2365-4539-8483-307D03E7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Data expansion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636D3-B813-4761-AF56-45232EA7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18/38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BC2C8-DA3F-4C51-80BD-3EACEF28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73019-4667-4213-AE89-1926C6E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46DB0-194F-4DB8-836D-532FD5DC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AB17E-5648-42AE-BE16-BA07873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4A9D3-6BCE-4114-8819-BE2527F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51746-E77D-4C94-A08C-87B670C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5C1C1-6636-4A44-95D3-62D5C653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6AE5A-7922-4B57-BE01-20EA33CC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7068D-2CC1-479A-AD8C-4B12935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BF91C-CACF-46E8-A4B7-D0F6513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407DE-8A62-4905-AD3B-29AB665B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F79FE-6125-4318-873C-D3241C63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44BB0-0B4E-4A51-841E-C092AE3E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ABBBF-06DD-4634-8EE6-C1F5A5B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BCC3A-57F4-4A9C-886F-1B2C7292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516B4-1DAC-4A7C-9352-9A8A2BD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E842C-38BD-4E8C-9CC1-7AEB948B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0E71D-B48E-45D0-8404-2DFA93EA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44686-7B3B-47A5-8CBE-631A32C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0.01047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8ADE9-92A1-4EA0-9FEE-08C7A99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E670D-E818-4006-8AF3-38CA0D7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D5F9D-47D4-4393-AEC4-9B02526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0.1782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1DC654-DB9A-4C3F-AFA4-9C147FE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6F721-EADB-4777-A08D-E73C054D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29823-288B-4BA3-8B67-5FAB9CF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9032A-B67C-47E4-A8CE-15DB6098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0.01548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967BF0-DB74-4944-89DC-AF3F7F23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FE0CE-C3B4-4ED2-81DD-13FFF090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F4E5A-051A-4DA0-9489-00699A1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EE599F-A6B9-488F-951B-B4DC6D9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225801-DFB7-4E6E-8310-EDD4B539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473E8A-B92C-48B0-A10B-B3B63291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685B1B-61A7-434C-B486-70631B2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A3D1C9-54DC-4C1C-97EE-D8FA258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0.01813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955B21-C89E-40AD-BF4B-79EC847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3E721-D4AC-4CB0-A7A8-F1B2DA1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0.2096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4CFD76-30E8-4CE5-ADC5-96CA9DB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0.1694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01A50D-17DE-42DF-A884-CCDB9D2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D52C98-AC36-4919-9984-B9B88C74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E5D752-DECB-4F48-8421-B913B9C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D860E1-CA2B-4664-9FE9-3790000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0.01904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CD7543-5380-496A-9D8E-84E0E9C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23928-579D-47F2-9837-8A009C7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0.2132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12DC54-C9DA-4370-831E-1B3E816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1CB681-3BCB-46BB-B768-18003983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0EA7DE-4C9A-4262-8980-5D5BA3FE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B53FA9-DB0A-4B87-AC4E-2517FCB7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C4BA1A-64DD-4F12-93A6-B8D555D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32DAAD-3A71-4D41-87A8-CE26E25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0.02043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E989D5-ABD2-4BF1-9FFE-4FAA3F1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2D35B2-8042-4665-AE18-CBE735A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BFE9CA-E6B3-45F3-8D17-EA839E9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4D12F7-C3B9-4C7F-A887-410DAB23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041828-87B8-47F2-8942-DA48488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C1E40C-C26F-45F3-9E7A-FF6C8596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B720C5-A5A0-4D68-9766-7A16EDD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0.02101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81A5ED-3292-43D2-9DCE-D8A3CDE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7B73DC-A16D-455F-88E4-70F57FC6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0.2090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BFF587-9921-4976-9480-BC5DC2C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0.1684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A3554B-BBA4-4A94-AA97-3DC73BA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847F95-1839-434E-8FDA-68FEF356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5B7B72-CBE7-4EB9-9F91-76C7CA79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4F34B5-AA20-4387-B50B-AF4EFCB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ABD653-6FE1-420A-B00D-E1189681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0.02127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D45ABA-D5B2-4BE4-9EC9-09E6FD4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CE10BB-C2D1-40C0-AF7C-C322EF9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38CDE5-2C29-4411-9FB0-B068B51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0.1678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032FCD-0D85-41E3-8B1A-354EEEC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F28D5B-5CAB-496B-8A36-BA8AE003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D6F868-CEB4-4334-B546-0F887069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BBD383-7DCC-4534-9706-917A762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0.02438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33D3AC-4F43-48D7-94D6-18E9D8E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87CA6C-EA31-4A50-B4BC-FB7BB693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DE863C-DE44-451B-9091-1BB45FA4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056BE0-DEDD-450B-BAF6-4F62F59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689f5a10a49c6"/>
          <a:stretch xmlns:a="http://schemas.openxmlformats.org/drawingml/2006/main"/>
        </p:blipFill>
        <p:spPr>
          <a:xfrm xmlns:a="http://schemas.openxmlformats.org/drawingml/2006/main">
            <a:off x="7372350" y="15430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2D6D2D-2EB5-47CB-8957-3914CF15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samples were not automatically better. The final real-only VAR score stayed far stronger at 0.00147.</a:t>
            </a:r>
          </a:p>
        </p:txBody>
      </p:sp>
    </p:spTree>
    <p:extLst>
      <p:ext uri="{BB962C8B-B14F-4D97-AF65-F5344CB8AC3E}">
        <p14:creationId xmlns:p14="http://schemas.microsoft.com/office/powerpoint/2010/main" val="71392197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8A1DA-0D52-47B3-AC02-EA2E87B9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2C216-5675-4539-803D-451192D8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3-marker">
            <a:extLst xmlns:a="http://schemas.openxmlformats.org/drawingml/2006/main">
              <a:ext uri="{FF2B5EF4-FFF2-40B4-BE49-F238E27FC236}">
                <a16:creationId xmlns:a16="http://schemas.microsoft.com/office/drawing/2014/main" id="{2983B9DC-68CC-48C2-923E-3091C01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3-label">
            <a:extLst xmlns:a="http://schemas.openxmlformats.org/drawingml/2006/main">
              <a:ext uri="{FF2B5EF4-FFF2-40B4-BE49-F238E27FC236}">
                <a16:creationId xmlns:a16="http://schemas.microsoft.com/office/drawing/2014/main" id="{4144BB7F-8FF2-4BE5-A049-F141DA3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OPENGAMEART-MIXED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E9061-019D-4A21-80CE-DFCAC235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public OpenGameArt path worked technically, but its distribution did not improve the main MSD validation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E9821-5B4D-4573-A44C-C70E60B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5AE01-44E2-44C3-82CB-8AA536F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Data expansion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15292-F1B0-4A14-B966-674DA1F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19/38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4BD33-11B4-4F0E-B86C-C410D43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DA24E-A240-43C8-B76D-BD43560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6D9A0-7C4B-48FD-A73E-ABD0C45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F47B3-81A3-4152-BE0F-9C81A02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7049B-01E3-48E3-B264-1EA97006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F92BB-5E7F-479D-A06F-FA11165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C3206-1E44-4851-AA4F-A4B5A4F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A7326-16E9-4C06-B1D4-F6B6F0B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B0B93-34A9-4253-ABBE-1FF8FF2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87C55-6157-4269-88AE-A94223A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C8C29-651F-47D4-8434-A660BEF0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BB7C8-87C2-466C-AFCE-FAE6C771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E128E-2D8C-4003-869D-3DDBE152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347FC-3D90-4051-98E0-DA24ABC2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46974-9F02-437B-A3A9-2F4C9FD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557F5-2FD5-4835-8AA9-08A45B2A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8C299-E0CE-478D-8B3F-8860702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3EEF2-AEA8-431D-BA39-01BC46B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89628-8E18-4B83-B55C-34BD5954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0.01234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5F311-FB7E-4F9C-92B9-1AD9DE5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9F5C5-91E1-4A26-AE9C-FC234FD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A51786-4490-474E-8DC7-EFE4FFCC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94EB1-73F3-4DC2-B843-EFAC385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AC659-59AE-4E44-ADE9-29C99ACE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2CED6-23CA-4D38-89D9-BD74CD4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6030A-9924-40F1-8655-8F1CD0E1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0.01629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996EE-2C04-486C-97C7-CDC582E6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92B5B-0F8E-4AD5-A611-9B58BE6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0.2287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73882-D44B-4F11-BC6E-8A7F13DA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79C84C-6AAE-4C07-9F70-98B8E24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80E6C4-D7AE-442E-9346-1CC62A9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9C6D22-3983-4E15-A467-92A8C06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BD8DD-1C57-4154-92F9-5CD7CCF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147097-E7E0-4678-A033-833363D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0.01652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9B9EBE-79A3-4A13-BFC8-F58C38FB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9C7A12-765C-43BD-AEBE-EBD7D6F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0.2094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A4E6B8-2577-4A7E-8F35-123FBC6A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0.1691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DC629-4685-49C8-ACB8-A0946FE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E61489-AB04-46AF-81B7-2838A447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6D785E-F06D-4776-9C99-C2F875CD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DFA1D3-AE9E-44E5-ADA4-70F60C65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0.01689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ADC716-40EE-43F4-90F8-05CFE1E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142879-6B56-460A-B8DB-E319B75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8E3D94-C879-4208-98C7-D877E7F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0.1688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3FD27-67AB-4E76-B94E-BE917E5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9AFF41-ACA0-4A56-939E-A899742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4E61FC-9E52-414C-A772-6F72D27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46546B-FE0B-446C-8DAD-4FEA8006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0F8754-9335-491C-B899-EE047FD7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0.02012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3EB2CA-5B32-492A-8341-A7BF2CE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13C4EF-C993-4357-9456-8DBCBD4C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A4F386-0BD7-4D03-84E8-598987F8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0.1889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69DA50-C921-4591-920C-1A9E137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9142EC-E0EF-4EA3-87DD-8DAC00DD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8FB2E6-2A7D-4713-B020-3B765E47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8B64A-DF52-4196-B8D7-82A17877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0.02145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F97550-8A4C-40BA-86AC-BCE146C8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8D995A-9C47-4763-BDC6-7BAB6C45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36B584-7280-4C32-B60B-2CFCA35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0.1666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C320C5-E1D2-4B30-B2DA-55313DD9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3DB046-DD98-4F27-8B94-73B7AC9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2609D4-979B-41BD-BD26-91517CA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4D88F5-367B-4F57-AF1A-2A18074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28F87E-7701-4C8C-A229-3605499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0.02284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51C7C4-44FF-4AEC-990E-3491CAF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489038-3CE4-4396-B7C4-B0DC6FE3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0.2122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A32AC4-BFB1-4D34-B613-5229872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50439E-96D6-450B-9AD2-88E24CB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265193-910A-47C8-BDA8-44D6FB9D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31A640-9358-4AD3-85F1-ECFD4816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9722E0-878D-4B86-A9FA-294CD6A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0.02584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D7167B-DF01-48DD-A5CD-03C9358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4803F5-304D-4BC0-B5AA-11B00C5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69B69F-CF96-4EF3-8EF9-B2C3407F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0.1932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1D022F-D16A-4875-9472-DADCC48F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38f1bcb604ef1"/>
          <a:stretch xmlns:a="http://schemas.openxmlformats.org/drawingml/2006/main"/>
        </p:blipFill>
        <p:spPr>
          <a:xfrm xmlns:a="http://schemas.openxmlformats.org/drawingml/2006/main">
            <a:off x="7943850" y="1657350"/>
            <a:ext cx="2114550" cy="2114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672C46-644D-447A-A1AE-7D6B0F5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1fcdb0c3f456e"/>
          <a:stretch xmlns:a="http://schemas.openxmlformats.org/drawingml/2006/main"/>
        </p:blipFill>
        <p:spPr>
          <a:xfrm xmlns:a="http://schemas.openxmlformats.org/drawingml/2006/main">
            <a:off x="8467725" y="413385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1BC5DC-9ED1-40A0-9C30-92DF0A7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curated set: 4,659 frames, 105 groups, train 3,493, validation 502, test 664. Useful source, not a quality win here.</a:t>
            </a:r>
          </a:p>
        </p:txBody>
      </p:sp>
    </p:spTree>
    <p:extLst>
      <p:ext uri="{BB962C8B-B14F-4D97-AF65-F5344CB8AC3E}">
        <p14:creationId xmlns:p14="http://schemas.microsoft.com/office/powerpoint/2010/main" val="168815292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C3821-A060-42C8-85C4-6816978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64DA8-928E-4862-B4F4-061DAF4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4-marker">
            <a:extLst xmlns:a="http://schemas.openxmlformats.org/drawingml/2006/main">
              <a:ext uri="{FF2B5EF4-FFF2-40B4-BE49-F238E27FC236}">
                <a16:creationId xmlns:a16="http://schemas.microsoft.com/office/drawing/2014/main" id="{C1BFD4DE-AF98-4141-B00C-78831F14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4-label">
            <a:extLst xmlns:a="http://schemas.openxmlformats.org/drawingml/2006/main">
              <a:ext uri="{FF2B5EF4-FFF2-40B4-BE49-F238E27FC236}">
                <a16:creationId xmlns:a16="http://schemas.microsoft.com/office/drawing/2014/main" id="{5A9AE8E2-EB50-4953-B8D4-1830A8CC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PATCH-VQ LEARNED-TOKEN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EE02E-6F74-4A6A-B732-AADF64A0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Patch-VQ verified the learned-token direction, but the decoded samples were blockier and used a separate evaluator.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3C3BD-41A1-4AFE-9A8F-AD0ACD5B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B48C1-AE59-4FE1-9E41-1CBEF380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30F2-F144-48C9-AF62-B6F3F5BC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20/38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32999-D75F-4157-996B-B3E59FCA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9882-F530-4E2B-9154-661C405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DE87E-EEDE-47B3-9ADE-2290A802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78C44-A5FE-467A-AF71-A0C505B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668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Decoded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E775A-0212-43B0-BCBF-F1D820FC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4668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E9C1D-116E-464E-A76C-52866BC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46685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Alpha 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8A218-1B1A-4A28-95A2-20AE949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RGB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5047E-50DB-4C8C-94E2-3CBA65BF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Entropy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E05F5-7231-4788-B8F6-D4E2800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BDAF7-F8D6-4C30-B774-B48D896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50E95-64EB-4D04-AC2E-F7DE52F7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0F8AD-85F5-4ADD-A025-3583358E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7907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0.04689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645DC-5FB5-4E17-BB65-AA678AB4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907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8E893-3852-4D70-8CC8-7772271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7907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85BC8-E86B-42F6-A987-60455F8F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907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6B9A7-A589-4213-850F-B95619DC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3.4266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24040-6462-41B4-8931-FEB643E7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FE774-0CE2-401C-A3FC-3C6D3C0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8EF00-889C-4E78-B0AB-EF4BE506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62E76-3AEA-4C92-AD65-0DD76607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AA5FC-CC69-4F85-BECD-D1B007FB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098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0.05271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A02D2-4124-4AB2-A93C-0016FD47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0.2361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A232CE-7799-4B18-8F3E-A9A2BA8A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098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08AEB4-0802-4B54-B54F-486F9C7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6DC22-F1B8-4E4B-86EF-F26FB663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3.4488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88E39-1903-4289-9B8F-4D23E39D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240D7B-C103-4217-80C5-5E7342B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2460F6-C40C-4E8E-905D-3D5D7EA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FBB8C-80D9-4BD2-8404-2846859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289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0.05403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D37389-9521-446D-B309-B72039E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289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0.2337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371B7C-FE2D-4F1E-BADF-F4DCB20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289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2549B-663A-4A59-8543-1B2907D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0.1351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CCB620-74D6-43B7-AF80-E4F9A92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3.4667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4EC606-CAFC-487D-B071-903D9CF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69DEE5-84A9-474A-A45E-3B0D244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668CE8-85F7-4BC4-BD64-FCEFF561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A278B1-0DC9-4679-BEBA-461BFA2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2C5AF-4271-45F8-BA30-C64ACBAA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480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0.06289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E2D0B0-1C06-47D1-A12E-2C34A764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480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0.2240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E5E0E3-8B2F-4FFD-9C9A-17004208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480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B455FE-8EE5-4A30-BCEE-1E6EA2F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0.1290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DCBF8D-F3A2-4426-AF37-E4DECB11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3.4780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C9A175-BCD6-40EE-9D1C-46A19A6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3813C0-6E65-484E-B356-B9BD6EF0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6C2425-C554-4368-BE5A-0E2BE1D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8C6B62-E027-4C05-9FFD-BBBA456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4671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0.07695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8AB954-7FD2-435C-AB88-DBBD430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671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0.2201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E0DE04-93BD-4BA6-A1F5-57E0879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671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EBA2B7-FA53-4BA3-970E-36500D4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0.1275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7DBAB5-9B81-4841-A191-1AD40AC3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3.5117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46C8D4-BD87-4C6F-9557-94003C8D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D7475F-6D2B-427F-B926-8143F51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EE7233-CB68-4ED8-9F7E-837CBF46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117C38-2222-457E-9A19-DC39BF5F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98A5F2-0BBA-4A96-86C0-F295BAFC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862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0.07905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C15FE6-DF6A-4D90-B132-B0A4FCC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86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0.2094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66CE20-8C2A-43C7-92C7-D7DB410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862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0E13F2-183D-44C9-8087-1A5D1B3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0.1206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62AE3A-0447-475F-B185-77BD90E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3.5017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A301F7-298A-476F-943F-1D17560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892022-738A-47A2-A610-CB491689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78A2E6-5FDC-4F83-9234-F9CB755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6889A9-29FD-4480-9CB3-FE18CD44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0.07954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892189-8C54-409D-A8BA-2AA1348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053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5F9BFD-71A4-496F-B577-DF5E090D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053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0.0496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1DF87F-8F94-4A2C-BFAF-7B3DFE0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053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0.1276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2ED9C5-0823-4E78-A18B-A9824DE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3.5221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266D83-CD72-429A-B95B-AC90A33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550201-03CB-4345-874C-50D040DC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9D5A91E-F552-4178-8718-82B2085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CDE796-A1D8-442C-BEF3-1ACC44D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0DD7F3-1020-45B6-AC1B-C467D31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7244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0.09294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530B0D-6BD0-4300-A3A3-B442371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244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0.2074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AFEA4C-07D2-4D27-96CB-9035D210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7244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48EBC5-7D40-41D2-AE1C-1B496D9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244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9228AF-BBD5-4325-AC9E-754B6F66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3.5217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0F91B8-2E85-4356-A6B5-A4F065B0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C021D1-D1E0-4DF8-92BF-2EDCE9F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0DF896-81B5-499C-B585-85C82E3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581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4F9200-705C-4AB9-9890-E40EEB0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1435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0.10577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D6B72E2-0D05-4652-95B1-B20AA399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435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0.2080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05CBBB-3FDB-497E-A7E7-6A08665B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43500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0.0472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16DEE6-278B-414B-AA43-234C10F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435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0.1221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9377D9F-A396-4EBA-A3C1-565A5D7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3.5459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3E93B0D-26E6-41F9-9828-94353CF5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6685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5f315c9874c51"/>
          <a:stretch xmlns:a="http://schemas.openxmlformats.org/drawingml/2006/main"/>
        </p:blipFill>
        <p:spPr>
          <a:xfrm xmlns:a="http://schemas.openxmlformats.org/drawingml/2006/main">
            <a:off x="8505825" y="15049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C502C0-AE06-412A-90DA-98E3CFFA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cff93f3844e9f"/>
          <a:stretch xmlns:a="http://schemas.openxmlformats.org/drawingml/2006/main"/>
        </p:blipFill>
        <p:spPr>
          <a:xfrm xmlns:a="http://schemas.openxmlformats.org/drawingml/2006/main">
            <a:off x="8593054" y="3600450"/>
            <a:ext cx="1540042" cy="1714500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61A2A4-E04E-4FB0-A030-AA10392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Patch-VQ: token map (93,312, 16, 16), vocabulary 512, used codes 143/512, VAR val loss 0.10122, val accuracy 0.96905.</a:t>
            </a:r>
          </a:p>
        </p:txBody>
      </p:sp>
    </p:spTree>
    <p:extLst>
      <p:ext uri="{BB962C8B-B14F-4D97-AF65-F5344CB8AC3E}">
        <p14:creationId xmlns:p14="http://schemas.microsoft.com/office/powerpoint/2010/main" val="195603237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6B6B1-7C2B-4283-9EC5-EFB7341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CA0D5-81D9-4D2F-B10E-AA3957D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5-marker">
            <a:extLst xmlns:a="http://schemas.openxmlformats.org/drawingml/2006/main">
              <a:ext uri="{FF2B5EF4-FFF2-40B4-BE49-F238E27FC236}">
                <a16:creationId xmlns:a16="http://schemas.microsoft.com/office/drawing/2014/main" id="{E67C51E1-3714-466D-80B6-15F4A90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5-label">
            <a:extLst xmlns:a="http://schemas.openxmlformats.org/drawingml/2006/main">
              <a:ext uri="{FF2B5EF4-FFF2-40B4-BE49-F238E27FC236}">
                <a16:creationId xmlns:a16="http://schemas.microsoft.com/office/drawing/2014/main" id="{AE15F2FA-3EEE-4AB0-9911-6F8662F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IMAGE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2EDEA-701B-4C48-AEA7-9EA44346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favor Flat AR, but that result is not trustworthy without the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7FEF3-56FE-4977-8862-58762F85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1BB70-EF62-4DE1-AD80-5B800C4C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DB3BD-5F79-4BD6-8D6E-65E55E80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21/38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5918A-F7F8-4EEE-9D59-BC3CBE5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04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3C72-9D64-42A6-9B73-269B20E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8FD85-A3AC-4F87-AA3B-326EA8F3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37340-4C96-4CD6-9E71-8A10951D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07F68-5594-4CF6-B032-A21E830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F515D-388D-48B7-BF2C-F23092E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EC36D-78F9-4B8C-A12C-CE53695D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AA251-10FD-4F67-8535-A641402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64544-3BDA-4F57-AAFC-7E3A9CC4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191BE-9A5A-43C9-A5F8-7817344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421DF-290F-414B-8E7A-D30E50E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6262C-2B28-413C-BBBA-F506E85B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0AC59-29B3-42F9-B425-35DB120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9.3558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21237-673B-48AC-8F52-7CAC6F91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3243C-FCD3-4449-8664-8A7DDBAF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B564C-410F-499C-9CC5-AF241C6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79882-9F9D-4EFE-A2EA-A2C8DE4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0.7654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D007A-DA7A-401E-A5D1-520BB2EA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4D468-058A-4807-AF94-A69A903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A9964-485B-4EE6-A78A-D58024D9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EF909D-A1D4-49DF-8A22-B47DBEE4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05FF4-D850-452C-87AC-3CC4913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DB2F5-9D3F-4674-B476-8053DCD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2434A-CE84-46B5-AE40-202CE78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12.6555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CEBC5A-106B-45B5-8629-4D4045C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16EE55-8E7C-4B7F-BB70-73169378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74E05-F68D-43E0-BF9A-928A80A5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DFA9E-95D0-4683-A7FC-B9BC2EF3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CC7BC-A58D-4294-BA90-1388173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7AAE0-2D5C-4CDA-A89B-AD639410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31DB9D-475A-4447-BB51-C463AAB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853FFB-1D17-4CD9-9AB3-CA6FD63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B13CB3-09D9-4308-9DB7-92D3DB3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22877F-C2A9-457A-B283-01AB013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76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7A3FC4-20D4-4AC8-B166-9335AC9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D25BE-3A95-43A0-9BE1-8D0770D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547779-B6F5-4E6B-98A0-4D2A6C7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E9CB2-F0D1-4993-924F-2A88C16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0.4093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D21841-C537-425C-806B-A2F3AEF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2C0D73-7E56-4035-B96F-7F41391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5898A0-E492-46B0-9AD3-F42B680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47EE85-6F8E-4370-BCD7-BF362D2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145B9F-2E4D-477D-977C-F4ED8BC5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A46EFA-006F-45E2-8D71-51769AC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D1AC7F-7EA6-49B6-8AF6-17E5F6C5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52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BF999F-9916-452C-941A-936950A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4DADC3-2A59-4129-9FC5-4174FD5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0.1545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171C24-5C3C-49DD-B593-99C4D91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2C390C-353C-40A4-8FE9-067D837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58350D-405A-48E6-85D0-D6E9D78C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160C91-3C3E-4732-8F46-6478581F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5F409F-3B76-4186-BBB5-B6F0E8A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1610C8-4082-4E5B-8AE1-0CCD5D8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2eba93bb6458c"/>
          <a:stretch xmlns:a="http://schemas.openxmlformats.org/drawingml/2006/main"/>
        </p:blipFill>
        <p:spPr>
          <a:xfrm xmlns:a="http://schemas.openxmlformats.org/drawingml/2006/main">
            <a:off x="1715492" y="4229100"/>
            <a:ext cx="2665016" cy="1504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2FE93C-98F6-4514-AB41-08D7BA0C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e54d9a8c94521"/>
          <a:stretch xmlns:a="http://schemas.openxmlformats.org/drawingml/2006/main"/>
        </p:blipFill>
        <p:spPr>
          <a:xfrm xmlns:a="http://schemas.openxmlformats.org/drawingml/2006/main">
            <a:off x="7123509" y="4229100"/>
            <a:ext cx="2821781" cy="1504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1A4C39-D6D8-4943-8767-3FC075FF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Conservative reading: HMAR and PixelVAR are the strongest non-memorizing candidates measured; PixelVAR wins sprite-feature, HMAR slightly wins some Inception metrics.</a:t>
            </a:r>
          </a:p>
        </p:txBody>
      </p:sp>
    </p:spTree>
    <p:extLst>
      <p:ext uri="{BB962C8B-B14F-4D97-AF65-F5344CB8AC3E}">
        <p14:creationId xmlns:p14="http://schemas.microsoft.com/office/powerpoint/2010/main" val="193459270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A1FB62-17C9-4473-A30F-ECB2265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41C41-80C4-4A73-BF48-0BFC300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6-marker">
            <a:extLst xmlns:a="http://schemas.openxmlformats.org/drawingml/2006/main">
              <a:ext uri="{FF2B5EF4-FFF2-40B4-BE49-F238E27FC236}">
                <a16:creationId xmlns:a16="http://schemas.microsoft.com/office/drawing/2014/main" id="{F82CC6CD-E32A-4515-BD8E-0CF134FA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6-label">
            <a:extLst xmlns:a="http://schemas.openxmlformats.org/drawingml/2006/main">
              <a:ext uri="{FF2B5EF4-FFF2-40B4-BE49-F238E27FC236}">
                <a16:creationId xmlns:a16="http://schemas.microsoft.com/office/drawing/2014/main" id="{C6FF489D-09F7-4399-829B-CB70FFC3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PIXEL-ART DOMAIN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737C9-5892-445F-A137-FE9EAE3A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perfect by construction; structure and exact-match metrics carry more interpretive weight.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70B74-D856-4439-A7AA-2EC6D659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8A064-59DF-4026-8CD2-A88DF1F8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Domain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5F792-92CF-4817-8124-FFB9737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22/38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3C413-A8F3-4C9F-B373-0DCBDDA4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1123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490A8-3FA8-4A21-B8CD-F0F3F1E7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25A9-812E-408A-B971-D94B739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562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08F5E-95EB-4795-AD0E-A9454AD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9FB51-2824-4484-9767-0B4556E5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DAF15-9A46-468E-A39A-9DA7FA2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C5523-79CF-4D19-9095-A1D5AC0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ABDF2-C921-433E-80B6-E7BBE4C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Unique colors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2058E-696F-4523-8E1C-F78BCB6E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 NN 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289EF-D280-44B6-9A7E-470F34E6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A8281-9E5F-4ADF-8113-DB72CBD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ACECC-D77C-4D6F-8129-06AF7B8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66877-5189-4949-A614-9110EFF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B3720-9B0F-4AAF-9BE3-A56258C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A4513-ABEF-4FD1-8970-2029BF9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E5609-2542-42FE-A7A4-841405B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8B358-898C-4158-B9F2-9C15DEB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BD4DA-993D-4546-8B13-1DFABA68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11.9294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DF980-075D-4143-8967-DDE2B73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5.2384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0FC4C-D0DF-4D1C-A735-F3B2A56C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2444D-6311-44D2-B4CB-49E5D54F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3CD81-1A29-4D46-AA6D-09D907BD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9BEF7-2DE5-4681-A3B3-D3CFC31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06623-4A67-4051-9183-4E9A916F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D0BA95-2C6C-439E-B1F1-B7B46D66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CD1510-31E7-43BD-B175-E77E086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7CA2BE-1504-4ECB-863F-E2B2F52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EA16A-B53F-4D74-B822-8BE9F798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76449B-5CA9-40C5-83DC-5F8A0BD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11.8301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53171F-58CF-46FC-B0C6-9C93375A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230349-A5B7-42D6-851F-9D64763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0.000488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44C1B0-8B06-4AA1-9B95-8BB4833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534B55-84A9-48DB-AAF7-215427BE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3F9D0C-DAE3-439E-B62C-B73ABE6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190C99-586D-43C4-80CC-C9C5F02F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74B54B-9E70-43F2-A022-2C8120EC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3DFE5D-1026-4DE2-9916-146F4B3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00EB79-DE98-43D7-AA44-E3AAE3F6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2BC28B-D9E6-4E0F-8060-2254EB5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11.0378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25C12B-DE23-416E-85F0-74F9182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3.4928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09119E-C2CB-4A14-BA7D-86EE6FFD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8401C2-083E-4295-80F0-718683DC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EEC1AF-309C-4E24-89CC-07A048C3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25A5BE-F2CC-4883-8474-57E11818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6E4F60-74D5-444F-BCC7-EBA3AC25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82FE1-8D85-4062-A0AA-DACE586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B27E41-B526-4509-ADF3-E62D336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39B799-26FB-40CE-A9FA-83AA8C8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0.1631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6E32F5-12BA-4416-8F9D-D75EE17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F84ECA-32CB-445A-AEF6-6EE7452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11.8718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E8373B-C1E4-42D9-BD5B-B0D2484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9.5599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A5767F-DDF1-49FA-AB58-F18015AE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D6C262-9BF6-4CFC-AFB6-A162D3A1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A2F441-A838-49D1-A952-26F8CD4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A1E94F-96F9-4BE0-8BD7-CEBD403E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9C51AF-B6A4-4E3A-AF0B-09B334DC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60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match reference edge density closely. Flat AR has great-looking metrics partly because it reproduces data. MaskGIT under-fills sprites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129118811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4B85A-1106-4388-8A10-A64C94B3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63868-F354-4556-8EE7-5D466DAB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7-marker">
            <a:extLst xmlns:a="http://schemas.openxmlformats.org/drawingml/2006/main">
              <a:ext uri="{FF2B5EF4-FFF2-40B4-BE49-F238E27FC236}">
                <a16:creationId xmlns:a16="http://schemas.microsoft.com/office/drawing/2014/main" id="{2E5DCDBC-6769-48CB-9EF4-06E9CFD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7-label">
            <a:extLst xmlns:a="http://schemas.openxmlformats.org/drawingml/2006/main">
              <a:ext uri="{FF2B5EF4-FFF2-40B4-BE49-F238E27FC236}">
                <a16:creationId xmlns:a16="http://schemas.microsoft.com/office/drawing/2014/main" id="{132D5073-F1B9-4E14-B6E6-C2165AAE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9CD6F-3E9F-41A0-9F12-9ECDC5F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serious read uses metric families together, not a single leaderboard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88B69-C2E6-4C8D-B7AF-81DAC63C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74347-3B5F-4159-BCFD-D42584B6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Metrics caveats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E974A-5A89-4EA0-A61E-630FDC8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23/38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9713B-F5E7-46A0-9FF3-B7179B7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763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58FCB-A752-4187-BFA7-CD3D050D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7D3DF-9BFA-4637-82F0-82A3E0B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049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tells 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231A9-9730-4971-B36C-F4192911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How we used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C0990-5D07-4A16-AADC-52FB95C7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4D851-9667-4CE8-AC17-C1310FB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CAA84-B523-428F-99F6-EF63FA9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28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palette, silhouette, entropy, and edge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5A50A-1800-49C7-9BCF-34D35BF4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 for VAR/HMAR/data branches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B7705-19EB-448F-BCA8-F91488D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095FF-E9A4-4FF3-B372-744D0697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C0E09-063D-4874-9C49-FB1B79A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29BEB-AF1C-4074-9084-A04A40B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0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Inception-feature real-vs-generated distribution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20095-AA00-4C23-B27E-45EA67B6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reported for credibility, but caveated for tiny pixel 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2FB3F-6919-4873-9AEB-B48BBF8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CD64A-AA4D-40AF-94DC-685D076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B37FB-B2EE-4AFA-BBCE-828C1478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EF8CF-543E-4233-A1CD-FDC1DEE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read together with memorization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553E8-659A-4C2B-B9A7-E51EF02F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7D9D2-7C45-481B-AF5D-013FD72E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4D03B1-A6FB-4D69-AE7F-2CBE973B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C17D8-280B-4D41-AAC2-3A8622F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 neighborhood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068BC-E60E-482B-9E88-6345194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43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far below PixelVAR here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2E6A5-EDBD-413D-8E41-8C63CDB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085C7-4DFC-4AAE-A8FA-B4F5E1FA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DB9A8C-0CB4-45B2-9A42-9F3D367E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F5E20-E43C-43F5-9E1A-6FE0F0EC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lower alone is not always better if samples are malformed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AD50C-D0F2-447B-850C-E028B0A7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DAC281-10DD-40F5-AA51-CBFCAF5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072B8B-F57C-4741-A238-132790C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2BC26D-C736-4309-9950-552E9B3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compliance, unique colors, opaque ratio, edge density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99D02-C1B0-4B36-A78B-306ACFD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domain checks; palette consistency is expected for token outputs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A6177-B8F2-4092-8ED4-6BA490CE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AE6AEF-91B4-41E4-8E2A-80B7DDF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AD12EA-7706-46F7-8002-9CFC8DC6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 or duplicated internally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11A69F-5167-4581-8401-8D44907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57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decides whether Flat AR is a clean winner or a memorizer</a:t>
            </a:r>
          </a:p>
        </p:txBody>
      </p:sp>
    </p:spTree>
    <p:extLst>
      <p:ext uri="{BB962C8B-B14F-4D97-AF65-F5344CB8AC3E}">
        <p14:creationId xmlns:p14="http://schemas.microsoft.com/office/powerpoint/2010/main" val="113008972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C8F05-C82A-4980-82F9-CD87C3E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09FFA-67E4-448B-B57C-F00C00C1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8-marker">
            <a:extLst xmlns:a="http://schemas.openxmlformats.org/drawingml/2006/main">
              <a:ext uri="{FF2B5EF4-FFF2-40B4-BE49-F238E27FC236}">
                <a16:creationId xmlns:a16="http://schemas.microsoft.com/office/drawing/2014/main" id="{EAD0F192-A568-4BCC-B654-9C60ED70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8-label">
            <a:extLst xmlns:a="http://schemas.openxmlformats.org/drawingml/2006/main">
              <a:ext uri="{FF2B5EF4-FFF2-40B4-BE49-F238E27FC236}">
                <a16:creationId xmlns:a16="http://schemas.microsoft.com/office/drawing/2014/main" id="{3EE3EBEC-B663-457F-9E34-175E4CF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MEMORIZATION AUDIT: FULL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24E53-2124-493C-958C-D2B60D0D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Flat AR's raw metric advantage collapses under exact-match auditing.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09D13-700C-419C-B066-C42F28E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E9D1F-D385-4028-A0C9-B8BA4D8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03BDE-7E7A-417A-A1B1-003DE00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24/38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B829D-2E52-49F8-B46F-1C91339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906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1A4AE-2B42-4AC2-B792-3EAC6B5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B7C3C-A045-43FB-9814-0401CBFB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Train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92CA5-4B5C-46AB-9018-3B1C001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FE920-9CE5-41D3-B852-77EBC63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F2DB3-F2F1-4BC9-89B4-811627D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8CA7-445E-483B-B8C6-16C37FC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7161D-8724-424B-B6CE-578C871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F32CA-E14C-465B-933A-6CF5F71B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A4B99-A94F-4BE8-8C22-939050D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E804F-48D1-48B3-B4E9-D51FEE37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C4952-C751-4799-A877-69C1983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8F35F-E4FB-4D20-BB92-EBDA8DE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15761-FCB0-405C-AEFA-9A8FC65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D9C72-1074-4EC9-BDFD-F9119D9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F0AA2-2A47-4D79-8281-EAFEC828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143C2-DE56-4C4E-9409-904A324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65632-F58A-4A9E-9F97-391AC6BF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A0B1E-C2A3-489D-87AE-81DF9E37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075E4-37E5-415E-8584-B8D8A790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87882-DC34-4FD0-AD39-36D83537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3BCCFA-4AD8-4983-BC56-2BE2CAA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AC079-A4BC-4815-8C13-E7EA8E38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3BC06-889D-40FB-B9F2-3F14063C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04238-831B-4600-85ED-B8E959C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D1C743-4430-42D4-9B06-9BC06244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44E7D6-B4F9-47E3-8E1E-129519A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00CC82-F092-48D5-B0CB-E8DF84FF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24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C57F3-EE1B-4BFA-A0BF-F430046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memorizing; disqualify as clean winner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A3146B-FF7B-46F1-9264-F96DE7B3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4286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c08247444204"/>
          <a:stretch xmlns:a="http://schemas.openxmlformats.org/drawingml/2006/main"/>
        </p:blipFill>
        <p:spPr>
          <a:xfrm xmlns:a="http://schemas.openxmlformats.org/drawingml/2006/main">
            <a:off x="1735455" y="3924300"/>
            <a:ext cx="3291840" cy="1828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BD4742-DD7D-4296-8028-D990D67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028BD2-A770-41DB-8C26-514F400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2ECF6D-0173-4C6F-B31E-A261E6E0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check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137A5B-90C9-4838-BDC3-992990C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3790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processed dataset has zero cross-split exact duplicate hashes. Held-out exact matches are not explained by exact duplicate leakage between train/val/test.</a:t>
            </a:r>
          </a:p>
        </p:txBody>
      </p:sp>
    </p:spTree>
    <p:extLst>
      <p:ext uri="{BB962C8B-B14F-4D97-AF65-F5344CB8AC3E}">
        <p14:creationId xmlns:p14="http://schemas.microsoft.com/office/powerpoint/2010/main" val="119248091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C44C0-0FBE-4CE7-8CC5-A87DA290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C04F9-1D5B-47AF-B5ED-3846BB7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9-marker">
            <a:extLst xmlns:a="http://schemas.openxmlformats.org/drawingml/2006/main">
              <a:ext uri="{FF2B5EF4-FFF2-40B4-BE49-F238E27FC236}">
                <a16:creationId xmlns:a16="http://schemas.microsoft.com/office/drawing/2014/main" id="{7A9D1FC1-FA82-4DD5-BA9A-349A6F6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9-label">
            <a:extLst xmlns:a="http://schemas.openxmlformats.org/drawingml/2006/main">
              <a:ext uri="{FF2B5EF4-FFF2-40B4-BE49-F238E27FC236}">
                <a16:creationId xmlns:a16="http://schemas.microsoft.com/office/drawing/2014/main" id="{3C7F0FEA-3DA8-41C2-BD7B-A01C5F0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FLAT AR CAUTION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D8AB2-1A5C-44CA-AD9E-3B5AC3D0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suspiciously strong baseline is useful because it exposes memorization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138A2-CFF8-463D-86D0-6D89A04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9304E-ECCF-40BF-9728-76732687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Memorization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6695C-2639-4E24-9BFD-B0375ABC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25/38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12D05-BB39-49AC-AEA8-6B676178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e916ff4854b2b"/>
          <a:stretch xmlns:a="http://schemas.openxmlformats.org/drawingml/2006/main"/>
        </p:blipFill>
        <p:spPr>
          <a:xfrm xmlns:a="http://schemas.openxmlformats.org/drawingml/2006/main">
            <a:off x="1371600" y="1485900"/>
            <a:ext cx="3924300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A4E33-E483-42CB-BBAC-24D8F185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3815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88211-7CBE-4647-8886-2FEB33B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61920-4E33-4917-A945-BE60292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90700"/>
            <a:ext cx="2867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BA7BB-19E2-4828-9E80-7EC9C3C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A121B-4AAF-4A00-96CB-9B45D050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1247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winner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8D931-63D1-499D-9B48-382F3B8A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14550"/>
            <a:ext cx="2867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9.3558, KID 0.002975, precision 0.9172, recall 0.9541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382E9-4EFA-4681-84FC-C6757BD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2843A-1C6C-4956-983B-1B0D43B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B0072-2973-4D1C-B921-67A0A63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1247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CB169-E3CC-4FA4-829A-72232554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71800"/>
            <a:ext cx="2867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3162/4096 generated samples exactly match train 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EE0DC-E052-46C7-989B-C418A0E4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D9957-151B-4C96-9DDD-A1259BC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247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Held-out issue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147D3-4E17-4A9E-A60E-BACA7A60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2867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 validation and 333 test exact matches despite zero cross-split exact duplicates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3A50F-AEC1-44AC-8DC5-39C10F4A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535EE-DB67-42BE-AB56-F7CB3A6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F22A2-9A73-4017-9DA5-337B6D14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12477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Final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E2D8-E772-4EC6-AEB4-5A4F4F55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86300"/>
            <a:ext cx="2867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 it as a memorizing baseline, not as a clean generative winner</a:t>
            </a:r>
          </a:p>
        </p:txBody>
      </p:sp>
    </p:spTree>
    <p:extLst>
      <p:ext uri="{BB962C8B-B14F-4D97-AF65-F5344CB8AC3E}">
        <p14:creationId xmlns:p14="http://schemas.microsoft.com/office/powerpoint/2010/main" val="58015367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2EFA5-857B-4293-96B7-4477685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66C8B-663F-4173-9E8C-0621526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0-marker">
            <a:extLst xmlns:a="http://schemas.openxmlformats.org/drawingml/2006/main">
              <a:ext uri="{FF2B5EF4-FFF2-40B4-BE49-F238E27FC236}">
                <a16:creationId xmlns:a16="http://schemas.microsoft.com/office/drawing/2014/main" id="{BE8F6A63-EA98-40F1-8661-4FC9BBA4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0-label">
            <a:extLst xmlns:a="http://schemas.openxmlformats.org/drawingml/2006/main">
              <a:ext uri="{FF2B5EF4-FFF2-40B4-BE49-F238E27FC236}">
                <a16:creationId xmlns:a16="http://schemas.microsoft.com/office/drawing/2014/main" id="{82673AF6-79DD-448C-9675-D8492483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 STATISTICAL STRENGTH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3DAB6-D5E2-4786-9FE9-925B4C3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rows are serious attempts, but they do not all have equal sample count or task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71C81-07F3-4D0F-8717-484A46D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AB72D-C93B-4EA5-A8C7-0DE9AA28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A4335-4889-45AA-A177-972BF91D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26/38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1FC49-F9DB-43AD-A2BF-FC1118DE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11239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B4BBE-61CF-48E3-8BD0-537437C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438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3BF55-12DD-48D3-ABEE-8C244A4B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4478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AFBB5-A2F2-41DE-A36B-98E03E3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47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DB87B-8666-497E-8F42-5651695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47800"/>
            <a:ext cx="3343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1FB7E-2118-4D1F-9362-012C65B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47800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16B10-CAEE-4FB0-A013-3063CF51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7B599-4561-4165-A015-A0EBBCA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BB65D-3BD6-4DF4-94AA-08B4C47A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71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FAF0B-92D7-4E62-A39E-EDF7F58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71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low-res/palette released-code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6F9B4-F489-4D18-9947-5E169B62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per-image prompt/image optimization; visually failed after adaptation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91603-5573-4002-9590-061D196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71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as targeted attempted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DA97F-BCB3-47A3-BC54-23E0F74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77EC3-D314-4362-B5DD-23DAF91E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6B300-1EC2-4185-AD27-E0C3230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03294-BE1F-4294-9F32-60AEC13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438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8E2EC-9784-4DEA-BC84-79139FB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8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diffusion 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7574B-BB74-4B30-B199-C48AD5B2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text-to-image, prompt-sensitive, many malformed crops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528C79-DC7B-4FB1-B5AA-251E9EC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0629F-C083-4CB8-9B0D-5DFF35F1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09558-1CCA-4069-B207-D6C64FD8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C5383-0220-424A-9C8E-2CCC7D9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76EF1-64CA-4905-8F53-0C27F285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scaled generic practical comparison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B0D301-887E-442B-B87C-20056362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still far below PixelVAR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D3663-BBEE-467B-B3D6-5CBAD958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051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generic external row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91EAB-D2B0-42F9-92A1-1C24310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71D4B-35D7-4892-A759-7B1D1ED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96B9C-6746-46CF-BBD1-A5BF572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smoke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5BA612-C911-4823-B7F1-2085A7EA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719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B0DEC9-3716-4FF8-BC8D-0024CDD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more targeted practical sprite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A9AC3C-D351-4A6B-884D-705C3FB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trainer style, not MSD; frames/fragments remain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A2EB7D-2C8C-4AB3-AAA7-F85E0196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719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AC3F84-3E75-40AA-95CB-4EB3FB96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B155D9-3F56-4486-A6EA-44955A1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primary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317567-D9C4-477A-B563-D911CD4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38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5F6B2-A308-4BE7-ABC8-22863113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practical sprite-specific generator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184752-9F08-464A-A478-FCD9F96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architecture-equivalent; still below PixelVAR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88E70A-59A4-4DCF-ACE5-E0CCC04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38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primary practical external row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49C595-900E-467B-8BA5-745625E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9FE630-4694-4489-98C5-15737A7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AF21BE-6C0F-481F-96F8-9B8A0AA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ED9747-0423-47FB-90A1-1C79A3EC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105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D4465D-6CBF-4F26-86C9-3D45518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character-sprite related work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4F0A0C-BF9B-4C62-83AA-021DDE8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imputation, not unconditional sampling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9217A4-BCB4-42A2-8D8F-5391570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05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cite, not numeric row</a:t>
            </a:r>
          </a:p>
        </p:txBody>
      </p:sp>
    </p:spTree>
    <p:extLst>
      <p:ext uri="{BB962C8B-B14F-4D97-AF65-F5344CB8AC3E}">
        <p14:creationId xmlns:p14="http://schemas.microsoft.com/office/powerpoint/2010/main" val="46196223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CFDEC-3C93-4F87-A8B9-939BA75E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B794-6DE6-4286-9389-8EC26ABF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1-marker">
            <a:extLst xmlns:a="http://schemas.openxmlformats.org/drawingml/2006/main">
              <a:ext uri="{FF2B5EF4-FFF2-40B4-BE49-F238E27FC236}">
                <a16:creationId xmlns:a16="http://schemas.microsoft.com/office/drawing/2014/main" id="{DDAFFBCA-9EDF-4331-BDC6-E0C5A6BE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1-label">
            <a:extLst xmlns:a="http://schemas.openxmlformats.org/drawingml/2006/main">
              <a:ext uri="{FF2B5EF4-FFF2-40B4-BE49-F238E27FC236}">
                <a16:creationId xmlns:a16="http://schemas.microsoft.com/office/drawing/2014/main" id="{58138FFE-DD5F-445E-8A52-A5BC01F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METRICS: FULL COMPARISON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A1686-1716-4123-B522-6EA90F2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Every external output was normalized to the same 32x32 RGBA PixelVAR palette protocol before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3A93A-F554-464B-8030-63A9EBDD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B2B41-4609-4DAC-8DC2-02B715A0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1E642-FF93-444B-B53F-7FCD2D41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27/38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65DA3-AAF1-4670-B258-9BD186DC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11620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58841-07F5-4E3D-A381-71F26DD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43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E370C-C1E4-441D-B0F1-943DC0E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430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CDF03-513B-4C9B-8576-40AEFB9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FID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2D676-B36F-4D9B-BC90-B378ECD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FID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6B15F-E5F0-4514-A973-EE0E44AA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KID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3F160-64E9-4681-B7EA-C901A59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KID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5483C-EAED-4C48-9F15-717E6F7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Prec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48154-69CC-4DC0-8E16-22BEBE83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Prec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06F64-D2F9-4C6B-A358-5A84CA8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Rec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32E8C-17DE-4294-A5EA-2569F8C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Rec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64203-9644-4FB6-9318-446F04F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Cov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03965-A9C9-452F-93D3-C0BA76B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Cov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6038E-685D-4A2A-9139-E0D8974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CBF38-6F33-4F2B-A3BD-FFF4B99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907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5F857-4B88-4C77-8BE9-A9F1B30B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669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E3886-922E-4F4C-8B15-8204A3F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8336E-48CD-464C-A03B-7865F8A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151.0927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FBE9E-307B-473A-ABF6-9D4A99C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497.7065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5BF1F-F59F-45BF-B9AA-6E8FCD5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0.014713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C9E46-ADBD-49E4-AD35-31BEB92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8D159-4EFC-4049-8E9D-B0452645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C9508-E964-46A1-BD3B-C45130A1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1A647-8926-4109-A4A8-4250ED32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D9739-26FE-43B0-8428-A6FF0F8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AFA480-D2B3-4479-929F-CA7ED52A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E34B8-9B76-45DD-A6B9-B5CA93E0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3B5C0-619D-4000-970C-B6F365A2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6204F-DE5B-4D75-BE60-DA5B76C0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D6EA46-AEAF-4E97-BFA8-3BEB398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41515C-879B-4987-B93D-3DC3235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smoke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D2CEB6-4A12-4FAE-B1CD-A76870F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660C7-A370-4209-89E5-5EE829E9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D39ED9-13FA-45D8-A7A2-60106215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196.9628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0AA87E-1571-4BB1-8597-CAB3169D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C0C595-D956-45B8-87B3-91503928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0.092097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30B5E9-1138-40BA-9228-BB5CAAE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FA39BD-6F51-4171-83E3-27FDEC12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33C469-D57E-4183-9FEC-B768A18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E48DA-169F-482E-ACDB-75DEB15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0.6719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58E9C1-8D7B-471F-B667-E6F1EF1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935DB5-846A-4501-B9A8-47EC2951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74C924-9B3E-4721-83B6-BCB333F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0.3935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A682F2-D2CA-4998-B4C5-566A4D7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956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B32E04-9742-4BD4-A0A2-B104DBE1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718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primary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9F5BAC-3A58-4507-84A8-61B2137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718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2EE7E6-3F2A-4BBF-ABEE-6920B1DD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ADAB65-C48B-4706-9C3E-4B7C9F71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158.5819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4C19BD-6084-4849-BA41-41AE59B5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2E505F-F71F-4314-BEF1-D2E61BB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0.102159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8E7E78-BA39-495D-AAF0-84A5845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410127-3E60-40E7-AC2A-952B928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0.0547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3BBF9B-F14A-4687-9688-D762CBE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88226D-A4D3-456D-93FF-B9611D8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0CD91F-0BB8-485E-BFB7-C1D2FC12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619D00-BFF8-42BE-9329-1598D591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128911-F257-4DEE-B9CF-5D38A9A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CC3019-1628-4D39-AEB9-F37A15E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43E915-B9EF-4F3E-A057-F5EAE31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E05CB1-4F0A-4E8F-B600-3FF4ADFE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smoke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7D2F44-B303-4247-99A1-CF608A2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0B71C2-D87F-4C88-8013-48A6CBA6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835445-9DE6-419B-BCD6-F399442C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184.3101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B3F51D-A9E5-4084-9B8D-51788BF9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BE7830-4A51-45BD-A8D4-B9EE418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0.130036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B74047-FF0C-49EA-AED9-E08A872B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C5FC19-3E34-4EAD-8B32-0EEB1386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0.3125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C3CA5C-97A0-4F75-B834-82E8F25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05A1AE-A4BB-48D8-9F9B-AE45056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0.2812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041149-1F0C-4612-AE1D-F1410253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17DBD95-BD71-4D9B-BE1F-CB03ADF3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0.1094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3ACF94-654C-43A2-806C-D1AE02B6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D75362-9E0D-44ED-8976-116D779B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005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E6D68F-4686-472B-863D-E94B4A94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767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primary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EA961B-0726-4BF4-BCD2-F18D9B12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54261B8-002F-41C3-906E-40810BD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0C85A1-1737-4667-A68B-D2C3691E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154.0150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9B45564-65D0-42D2-95D7-423EA061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74BC9C-3483-4945-9638-408A7DD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0.136589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D2BD83-3E40-44DB-B8C7-9F99516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A926B3-9BB7-487E-8550-174BCDB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9C08C0-5B55-4F91-90E6-E927C4D4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DD4AA6-6B6C-4DBC-9ED0-9DB02DF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035E0B-AF5C-4253-A008-EE09FA4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591A9DF-4830-49E3-BA76-20D8817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0.0508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22B9434-7DE7-4A2C-8C8B-724EF4F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D17085-1EAE-4ABC-B0CE-BD082DF4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is 1.0000 after normalization for these rows; that confirms protocol compliance, not native palette learning by the external models.</a:t>
            </a:r>
          </a:p>
        </p:txBody>
      </p:sp>
    </p:spTree>
    <p:extLst>
      <p:ext uri="{BB962C8B-B14F-4D97-AF65-F5344CB8AC3E}">
        <p14:creationId xmlns:p14="http://schemas.microsoft.com/office/powerpoint/2010/main" val="117454463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E84CC-C209-4275-B65C-C9F59E01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F95C9-5E91-4467-87AC-C5FBEE63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2-marker">
            <a:extLst xmlns:a="http://schemas.openxmlformats.org/drawingml/2006/main">
              <a:ext uri="{FF2B5EF4-FFF2-40B4-BE49-F238E27FC236}">
                <a16:creationId xmlns:a16="http://schemas.microsoft.com/office/drawing/2014/main" id="{CC35A3A8-A90B-47D3-90DD-F0A32C29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2-label">
            <a:extLst xmlns:a="http://schemas.openxmlformats.org/drawingml/2006/main">
              <a:ext uri="{FF2B5EF4-FFF2-40B4-BE49-F238E27FC236}">
                <a16:creationId xmlns:a16="http://schemas.microsoft.com/office/drawing/2014/main" id="{A7B66F5E-D6CD-49CD-8B95-CB3C1FE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SD-PIXL BASELINE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1E844-B5A7-42E1-9DA0-CC540BB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SD-piXL was the most targeted released-code external attempt, but it failed under our adapted 32x32 sprite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6283A-66E2-45AF-A7C3-8B79C38F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D5F0E-7DE1-455B-947B-E7B357B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144DD-1DDD-4DD3-9FA9-78C38D1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28/38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E15C6-6CE3-46F0-AB52-35DC9632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94d7615b44d12"/>
          <a:stretch xmlns:a="http://schemas.openxmlformats.org/drawingml/2006/main"/>
        </p:blipFill>
        <p:spPr>
          <a:xfrm xmlns:a="http://schemas.openxmlformats.org/drawingml/2006/main">
            <a:off x="666750" y="2093259"/>
            <a:ext cx="3924300" cy="46168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A4892-6DBA-4E10-B82A-77DBE115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59055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47786-7B01-4042-AFD6-6D30B108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0AF47-3DFD-4BD7-BFD4-66439047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04950"/>
            <a:ext cx="448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81032-D401-4381-919E-A69A37B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FA4AF-5EED-432B-BD2C-9AE330A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serious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3F3FD-E57E-4C17-A163-E841FBF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SIGGRAPH Asia 2024 low-resolution quantized imagery / pixel-art-related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F790A-5FFC-4E1D-8C09-EC17E6AD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22657-76F1-4644-81C1-9B8FD33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9D4C-9199-4761-87C7-5B96A1F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3DA84-ED32-48A2-B072-AAF4ED65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completed, then corrected 16-image metric batch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65FF0-7641-4B19-AD63-CF861500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24527-18EB-4D50-8510-7701A5F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2BAA0-5AF5-4D43-8867-05C385F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990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FID 497.7065, KID 0.517647, precision/recall/coverage all 0.0000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9723D-F920-4AE4-9388-F8FC5DA1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F6423-DFBC-4529-9AAB-BCDA6F4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9FB50-08EF-4705-84E0-CBD3DD7F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Visual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06DBE-1499-4943-8D99-F15700AB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045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noisy tiled color fields, not centered character sprites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A32CC-A46C-4750-BB54-9F71261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8E2C8-D887-480F-8BEE-954EBC9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B200 fix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4A832-BE76-44DA-A2DA-392A9D3E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9100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torch stack moved to 2.8.0 / CUDA 12.8-compatible wheels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2CE5DC-970C-4395-A414-6FDB0CC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DDBD53-AE67-4009-BCF0-1DE3AB3E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10A88-8644-49A3-8535-A91309A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8155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fix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A0231D-1DB2-499C-A9DD-8367C61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8155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hex export changed from CSS #RRGGBB to bare RRGGBB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1E137F-5926-44BF-A8E3-6686E29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959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617800-7DB2-45F3-B9B7-02FA9A1E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7210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Protocol fix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B097E-D70F-4E8D-B7BA-D2F5BFD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72100"/>
            <a:ext cx="4486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batch count respected explicit num_samples; old output folders cleared; corner transparency cleanup added</a:t>
            </a:r>
          </a:p>
        </p:txBody>
      </p:sp>
    </p:spTree>
    <p:extLst>
      <p:ext uri="{BB962C8B-B14F-4D97-AF65-F5344CB8AC3E}">
        <p14:creationId xmlns:p14="http://schemas.microsoft.com/office/powerpoint/2010/main" val="195452782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A15AB-EC06-40D5-ACF0-31C109A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D5027-A73D-4964-8D8B-D6907576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3-marker">
            <a:extLst xmlns:a="http://schemas.openxmlformats.org/drawingml/2006/main">
              <a:ext uri="{FF2B5EF4-FFF2-40B4-BE49-F238E27FC236}">
                <a16:creationId xmlns:a16="http://schemas.microsoft.com/office/drawing/2014/main" id="{BAEC07D0-53EE-40A6-9B44-C02996C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3-label">
            <a:extLst xmlns:a="http://schemas.openxmlformats.org/drawingml/2006/main">
              <a:ext uri="{FF2B5EF4-FFF2-40B4-BE49-F238E27FC236}">
                <a16:creationId xmlns:a16="http://schemas.microsoft.com/office/drawing/2014/main" id="{E9913E82-6535-4283-B54C-509EDB0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SSD-1B PRACTICAL DIFFUSION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FAB6C-C44C-4B83-BACD-C8D31B0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generic practical diffusion baseline produced some recognizable sprites but remained far below PixelVAR.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8A8EB-D196-4FCC-AA49-AD62FEBA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CED92-6D01-4D0C-BDD3-10164236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FDD90-34ED-4541-882A-A5B2209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29/38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91564-A4C5-4549-A1D6-61CEEFA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75767bb8547ea"/>
          <a:stretch xmlns:a="http://schemas.openxmlformats.org/drawingml/2006/main"/>
        </p:blipFill>
        <p:spPr>
          <a:xfrm xmlns:a="http://schemas.openxmlformats.org/drawingml/2006/main">
            <a:off x="666750" y="2097181"/>
            <a:ext cx="4019550" cy="47288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CD407-A3F5-4E84-A78B-064C486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85900"/>
            <a:ext cx="552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BBCB7-DB81-4496-9BF9-EDB5C53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6ADB2-06A1-4E59-93CC-3A70A82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24699-D3B4-4A54-9219-6E1FFE83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4DD73-762A-419F-A6E3-60BD60AB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F8327-B276-4587-BDD7-68A62AE9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02C12-4540-4184-BC73-30337DA9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03738-D6EF-42CF-BE99-5EE029B3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C3B60-44EE-4B7E-8F54-D4C91EEF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8B72C-67F6-44F0-AA13-C84C219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 smoke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7E7F4-C995-45B8-9682-2D67D8B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3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196.9628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22DE1-21D5-4C06-89B6-2F1FCD2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676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0.092097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8C32D-74D2-496D-804F-495373D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99522-2DC0-4AA6-8F7D-F7AB8D5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0.6719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798AF-0247-4B84-BD1B-67D8EB6A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6B238-B0B1-48E3-BD30-6EC0382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866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sometimes, weak precision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4789-AF75-4532-8569-2C3EB54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569DE-0908-4A9D-B97D-3DA396B0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52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130D4-576E-4E14-B575-15B7DB3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 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6DC8F3-0621-44FA-BF29-F391622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53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32F5B-0101-4A65-BD39-F50B9653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676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0.102159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C4722-8991-42EB-88D1-C521156E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0.0547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9A7C9-68A4-42F2-8BD9-CA8C227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A82BC-FB76-4608-801B-6F3B4FF9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D31BB-1347-4428-A10B-B8D43D3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90800"/>
            <a:ext cx="866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competitive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59539-F796-400C-A058-C6D8A71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52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2ECF4-9E2F-4232-9E60-8213A79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52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B5AD5-B748-4789-B5BB-AD0FD6C9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33800"/>
            <a:ext cx="521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Optional LoRA smoke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DE7355-2FC1-4A2E-A539-A2D34807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nerijs/pixel-art-xl loaded with many unexpected adapter keys against SSD-1B's distilled UNet and did not clearly improve the visual result, so the default stayed no-LoRA SSD-1B.</a:t>
            </a:r>
          </a:p>
        </p:txBody>
      </p:sp>
    </p:spTree>
    <p:extLst>
      <p:ext uri="{BB962C8B-B14F-4D97-AF65-F5344CB8AC3E}">
        <p14:creationId xmlns:p14="http://schemas.microsoft.com/office/powerpoint/2010/main" val="81344461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19A9E-6CC4-462B-9C9C-46770FC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C6456-C7AC-43D8-8746-4A3DBF3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4-marker">
            <a:extLst xmlns:a="http://schemas.openxmlformats.org/drawingml/2006/main">
              <a:ext uri="{FF2B5EF4-FFF2-40B4-BE49-F238E27FC236}">
                <a16:creationId xmlns:a16="http://schemas.microsoft.com/office/drawing/2014/main" id="{E0FDF13C-4D0C-43C7-BD77-984D051D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4-label">
            <a:extLst xmlns:a="http://schemas.openxmlformats.org/drawingml/2006/main">
              <a:ext uri="{FF2B5EF4-FFF2-40B4-BE49-F238E27FC236}">
                <a16:creationId xmlns:a16="http://schemas.microsoft.com/office/drawing/2014/main" id="{4172BCE2-931C-42F3-8B1B-5A62229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POKEMON SPRITE LORA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52DE-130F-40D6-B03E-4F7D6A92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Pokemon trainer LoRA is the best-looking practical external generator, but it still does not close the metric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C41A2-953E-4AA6-855E-29D87C5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3245-7B59-4FA0-A247-3E2A5FBF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A87A8-2830-42C3-8E2F-47BADB9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30/38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E718B-782E-4CAD-A67E-D26686E5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4f2f11d714663"/>
          <a:stretch xmlns:a="http://schemas.openxmlformats.org/drawingml/2006/main"/>
        </p:blipFill>
        <p:spPr>
          <a:xfrm xmlns:a="http://schemas.openxmlformats.org/drawingml/2006/main">
            <a:off x="666750" y="2097181"/>
            <a:ext cx="4019550" cy="47288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F359B-107D-4A31-BFF9-963E108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85900"/>
            <a:ext cx="552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06AD7-6B23-4D55-8D12-FF288F6F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428F9-26D0-423C-B245-71B03FCA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801C9-94D2-445A-8381-311357E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52D26-DD57-4789-8533-66DD556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F076C-69B7-4902-9D77-F7F5271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12B3B-D436-4CD0-9C23-ECF14AF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621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6D5F6-B630-4199-8EAF-715CEC7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4EEA9-E43A-4AAB-9AE2-20B5D06A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29056-454A-4812-82AA-DC5A627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 smoke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43FF5-EA97-4A66-8044-F03B14F2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3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184.3101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52B6D-0AD5-4B1E-8CE8-ADA02D30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676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0.130036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64322-FB98-44EA-9688-DC4E992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0.3125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15C0A-28F8-4E0C-B925-8996996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0.2812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8EF10-1146-4736-98EB-710CF844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8595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0.1094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E7951-4E18-4905-938F-9991151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866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visual smoke, still weak coverage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9AE395-D3E1-4FAA-A33A-0F340BA2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DF561-4B5F-4874-86F2-E21574B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52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8BC18-F6E7-456E-9FF0-4877677C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 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347DE-7B81-4F47-B720-D3073AC1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53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154.0150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CFFEE3-FFD1-48B0-913E-F2F66C7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676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0.136589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1ADCF-4B36-4596-8C05-5E18E49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3024D-73F3-4279-9F13-1564078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6A475-E62F-457A-96E0-79BE16F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0A36E-677D-4D1F-A610-6231EC64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90800"/>
            <a:ext cx="866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primary external row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76987E-4195-432A-BF41-84A3F31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09A008-38B9-4158-9760-55E614E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Trained for Pokemon trainer-style sprites, not our MSD Sprites distribution.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C4BE94-9171-4EB5-B73B-A41C4973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FA1DE0-830D-4C14-B963-43695DFF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910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Failure modes: side fragments, decorative frames, paired characters, sprite-sheet leftovers.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4B6BF-FB0E-4230-891E-5C4CEB7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EADD1C-D574-4158-B87A-0D608AB3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672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for external visual comparison; not architecture-equivalent to PixelVAR.</a:t>
            </a:r>
          </a:p>
        </p:txBody>
      </p:sp>
    </p:spTree>
    <p:extLst>
      <p:ext uri="{BB962C8B-B14F-4D97-AF65-F5344CB8AC3E}">
        <p14:creationId xmlns:p14="http://schemas.microsoft.com/office/powerpoint/2010/main" val="126600988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C6D02-F6FF-46F3-A077-DD0020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3EEEE-F236-4266-8ECD-1302D02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5-marker">
            <a:extLst xmlns:a="http://schemas.openxmlformats.org/drawingml/2006/main">
              <a:ext uri="{FF2B5EF4-FFF2-40B4-BE49-F238E27FC236}">
                <a16:creationId xmlns:a16="http://schemas.microsoft.com/office/drawing/2014/main" id="{F3978CAC-14CD-436C-BFB6-EBDEC40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5-label">
            <a:extLst xmlns:a="http://schemas.openxmlformats.org/drawingml/2006/main">
              <a:ext uri="{FF2B5EF4-FFF2-40B4-BE49-F238E27FC236}">
                <a16:creationId xmlns:a16="http://schemas.microsoft.com/office/drawing/2014/main" id="{50B4C524-6B50-41AB-B49A-BF0D848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BASELINES THAT WERE EXCLUDED OR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EA98D-9725-4C69-85E5-5687DC3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Several related methods were checked, but forcing them into the metric table would be misleading.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23377-2DDE-478D-A516-F958945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E2C6F-6C9A-40F5-912A-04966CF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AF99B-FC2E-48BE-B11E-60A3B6A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31/38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C518-3B88-4B98-BFB5-756738F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858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79578-B4A8-4AB4-B7B9-DF96FC8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02C31-2BC5-4902-BD25-A6CC4A5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4305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related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98706-8664-49B1-96A8-30319E0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not a direct numeric row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00DE9-9372-4593-A219-5D325A5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A422A-88B1-4CE1-965F-ED4EE369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2215C-F7DA-4927-AC38-C332E2B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character sprite generation with released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D0F34-6A10-4589-BFEA-8718621E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imputation; receives reference poses PixelVAR does not 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06349-BE40-4EF2-AF99-1341395A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AB3EF-74FA-412A-9AFF-15D74E6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0CCF8-A150-44B8-8B0B-C38F769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Generating Pixel Art Character Sprites using GANs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F39D0-B87D-4A2E-9B5A-97713A2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pixel-art character sprite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C6F7F-4D98-4120-8516-EE5BB62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pose-to-pose / conditional framing; cite as related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5FB18-35CF-4B66-8795-0F1A27B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22D1E-9BBE-41C7-A6B0-221251E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PixDiff-PIG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95683-6ED1-42ED-8341-326FBF9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palette-informed diffusion for pixel 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DD35B-776D-4278-B008-11A5D548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search found no runnable public repository or weights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09615-A410-47D5-AF2E-77AB22AB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F7121-1E71-40A3-A15B-0E7B2717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4D784-50AF-4C0F-8FB2-A7ECF4E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achsaf/vq-diffusion-pixelart-16x16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B689D-A748-475C-BEE7-9285FA20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architecture-adjacent discrete diffusion over 16x16 pixel-art characters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B4642E-ECAF-43FF-B318-F650029F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files returned HTTP 401 and native resolution is 16x16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CC8A4-1756-4400-B926-D4291F28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9337C-0076-4AA5-AA53-62F113E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SDXL LoRA alternatives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01A2F-2119-4C8E-8E72-E94507B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435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practical external image generators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792CED-8B11-471F-BE70-2F774F2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prompt/model sensitivity; only the strongest accessible Pokemon LoRA promoted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FDC6B-22B0-41A5-8CB5-D0BF654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a seriousness point: we did not omit MDIGAN/PixDiff-PIG randomly; we separated related work from fair unconditional-generation metrics.</a:t>
            </a:r>
          </a:p>
        </p:txBody>
      </p:sp>
    </p:spTree>
    <p:extLst>
      <p:ext uri="{BB962C8B-B14F-4D97-AF65-F5344CB8AC3E}">
        <p14:creationId xmlns:p14="http://schemas.microsoft.com/office/powerpoint/2010/main" val="82203944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675C7-0F91-46CE-ADCD-996F18B7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98DDB-A963-4634-A960-410B817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6-marker">
            <a:extLst xmlns:a="http://schemas.openxmlformats.org/drawingml/2006/main">
              <a:ext uri="{FF2B5EF4-FFF2-40B4-BE49-F238E27FC236}">
                <a16:creationId xmlns:a16="http://schemas.microsoft.com/office/drawing/2014/main" id="{9D6F2039-68DC-46AD-B999-F0C48DCC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6-label">
            <a:extLst xmlns:a="http://schemas.openxmlformats.org/drawingml/2006/main">
              <a:ext uri="{FF2B5EF4-FFF2-40B4-BE49-F238E27FC236}">
                <a16:creationId xmlns:a16="http://schemas.microsoft.com/office/drawing/2014/main" id="{7623DF80-546D-4890-9E77-A9453D80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GENERATION-SCALE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EF064-A44A-4ABD-A88F-0DCB6DBE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sampler was tested first at 8,192 samples, then at the proposal-scale 170,000 sample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C9F7-AEDB-455A-8216-CB08D395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14A0A-039E-4E79-AF57-50F23761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Large-scale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C323D-5523-469A-B4CD-AA4C537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32/38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44E84-263A-4928-A484-7263B389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085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E74D5-21A8-470D-85FA-46FC9B19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FBEA2-F12F-42A3-9FD1-F4D7D784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430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80DBE-6A69-41C8-ADE2-F88EB345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43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72D25-C000-4FBE-A4C7-AD37DBC8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43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 std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5EE22-58E8-4480-BE4F-E25C59B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 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6B825-DD6D-4677-8605-6D8781A7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430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 std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1841D-6BA8-4C19-86C1-CC485187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43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range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160CB-4DC0-443C-804E-499D197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430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62436-F122-43AA-A06B-7C0E1324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789E2-74CD-4BC9-932A-05EDED35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pre-run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5FB14-B695-4B39-B126-D8B43272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6690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DB32D-4CDE-4F00-9450-6461E7A0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6690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A6C06-5D94-46D6-B86C-528429FF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4AEAF-8F7B-4AB1-977B-1D24DF8C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47D4C-F9D0-4E35-8751-18A54AE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4E014-849E-4506-9BCC-1809DBA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30803-8AE1-4711-B2BD-59FA91E2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zip + tokens.npy + index_maps.npy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6A5AD-9687-4D5A-B29B-6A8CAF5E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1BAB6-D197-41D4-BC4B-9CFA04EE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85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F2050-C0DA-4FD8-8AEE-2955C31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proposal-scale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382212-0820-4628-9079-127EBD26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985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F3563-E6E2-4F9B-B5DE-21728ECA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9F05D-5B9D-4695-B489-48B341E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8A3B81-4685-4D3D-9350-765C3B9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1F7D7-18CB-403A-A8E0-CDA9E3A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0.0250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F1CBA-6AF1-4CC6-999F-908CFEE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0..16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46A9D5-2B66-46A4-B98C-3137E67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zip + tokens.npy + index_maps.npy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A4B350-CD22-48FD-B066-9EBE19EF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14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382629-95D1-429F-A3E8-0467C69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Inspection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940FBA-FC83-481B-BC8A-A6AB76D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Keep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A11911-22C7-41E3-BC40-9AB301E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3459D9-63C5-41BB-9F86-847561B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2F67E2-75DA-48D5-AAB9-9C3871E7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Largest component mean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ACB18A-47DA-49F6-8388-09E2CBAB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Component p95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70EDD2-31EA-41B4-BEA5-1E041A6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AD8A76-B997-43F9-B9D3-18B8F7D2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022303-4387-434D-BDFB-BBDC1999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7,782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FDF797-A879-4FCE-8DA6-313C6945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72B602-9B40-4720-BEA8-A2DFDFC9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7FFA7D-A8D5-4CCC-8305-0BA8CB9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0.9983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96602A-C2F5-455A-92C6-35E40E72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3F98D0-C193-46C1-B9BB-A5449D5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7C4751-191A-4DBA-9DCE-F12C0DA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73866B-A258-49A5-ADB1-37B7596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1BD655-B22B-421F-98F7-5299FF84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0D982E-215F-4FA9-987B-0C4AE9F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C5A25E-F077-4B98-A043-4083B0C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4FE767-CB86-4215-8F7A-7E48A95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0.9982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3B8732-C0F3-4234-AF9D-888A3099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100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D3C328-E7FF-40AD-A0CF-88F8E3E1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automatic gate supports large-scale sampling stability. It is not a human preference study and should not be worded as manual approval.</a:t>
            </a:r>
          </a:p>
        </p:txBody>
      </p:sp>
    </p:spTree>
    <p:extLst>
      <p:ext uri="{BB962C8B-B14F-4D97-AF65-F5344CB8AC3E}">
        <p14:creationId xmlns:p14="http://schemas.microsoft.com/office/powerpoint/2010/main" val="108058354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259AD-596C-453E-9C86-CFADE10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BD1C6-E76D-4271-A91B-59C8C190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7-marker">
            <a:extLst xmlns:a="http://schemas.openxmlformats.org/drawingml/2006/main">
              <a:ext uri="{FF2B5EF4-FFF2-40B4-BE49-F238E27FC236}">
                <a16:creationId xmlns:a16="http://schemas.microsoft.com/office/drawing/2014/main" id="{14E5B4BE-A309-40EF-81F0-06D6C2C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7-label">
            <a:extLst xmlns:a="http://schemas.openxmlformats.org/drawingml/2006/main">
              <a:ext uri="{FF2B5EF4-FFF2-40B4-BE49-F238E27FC236}">
                <a16:creationId xmlns:a16="http://schemas.microsoft.com/office/drawing/2014/main" id="{942ED59A-4001-4836-BB08-2131A8D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170K VISUAL INSPECTION SHEETS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0B69F-17C6-415B-AEFA-4938F65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generation pass kept examples, review examples, and the small reject bucket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5F54C-562B-4782-AE3F-11ACB4B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30FDE-8C3E-4618-B665-21A7723A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Large-scale generation visuals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0F61E-B898-443D-A1B4-028EF650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33/38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E9034-0B87-47A8-83F4-11692B2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38b59b57e4026"/>
          <a:stretch xmlns:a="http://schemas.openxmlformats.org/drawingml/2006/main"/>
        </p:blipFill>
        <p:spPr>
          <a:xfrm xmlns:a="http://schemas.openxmlformats.org/drawingml/2006/main">
            <a:off x="1114425" y="1504950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72EBF-A55A-4C08-8576-56DD6F2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576467b734cfc"/>
          <a:stretch xmlns:a="http://schemas.openxmlformats.org/drawingml/2006/main"/>
        </p:blipFill>
        <p:spPr>
          <a:xfrm xmlns:a="http://schemas.openxmlformats.org/drawingml/2006/main">
            <a:off x="4981575" y="1504950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9D660-7CDB-43DE-BD9F-F92BE03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a6f2f33634e93"/>
          <a:stretch xmlns:a="http://schemas.openxmlformats.org/drawingml/2006/main"/>
        </p:blipFill>
        <p:spPr>
          <a:xfrm xmlns:a="http://schemas.openxmlformats.org/drawingml/2006/main">
            <a:off x="8324850" y="2088356"/>
            <a:ext cx="2781300" cy="10429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EA07E-5437-4AFF-A546-472CE6B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9334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33FBF-3337-4CE3-8F1C-D9ABB8D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Bucket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FDFB4-07C2-4FAF-9E1E-CD89FA65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9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A63ED-5BCE-435D-8B16-BB3DBF6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0F1D9-21D8-49BE-8770-5BE6D845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96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3B107-2888-4279-84D7-3FC4CD9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FDDA2-12D0-4347-BA59-8E58770F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5C9FC-DCF0-4A5F-A412-8D5B15F1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E7331-535C-400D-8255-F07AD07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434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C2A7B-9DDC-41C4-953A-B96EEFB4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passes automatic usability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23B91-CF41-4893-B487-7BB5C7E3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CCC2D-69FF-4D20-BF3D-BB7560E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699E3-944B-4EFC-9FB0-FE77456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DB607-AFFC-4390-85F3-CF2A321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F89DE-9A2E-4041-BF74-32942970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ACE82-8339-4AD6-8935-449AE73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95900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unusual or high-score samples for human checking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E3AC2-5671-4072-92DF-33876FA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20D99-4434-45DD-BE51-9923E286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483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68C901-E0CC-4F53-8A83-8837D9C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483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B65FA-AC6A-48BF-A732-524B1247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483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BDE778-0B49-4630-B810-C89D4F41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48350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obvious automatic failures retained for honesty</a:t>
            </a:r>
          </a:p>
        </p:txBody>
      </p:sp>
    </p:spTree>
    <p:extLst>
      <p:ext uri="{BB962C8B-B14F-4D97-AF65-F5344CB8AC3E}">
        <p14:creationId xmlns:p14="http://schemas.microsoft.com/office/powerpoint/2010/main" val="44922670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0A7CE-33D1-4FFE-8F04-025A9617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4978C-8DB4-4BDC-A7BF-A822AB91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8-marker">
            <a:extLst xmlns:a="http://schemas.openxmlformats.org/drawingml/2006/main">
              <a:ext uri="{FF2B5EF4-FFF2-40B4-BE49-F238E27FC236}">
                <a16:creationId xmlns:a16="http://schemas.microsoft.com/office/drawing/2014/main" id="{2B458332-E9F4-4FFE-97CF-634E9948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8-label">
            <a:extLst xmlns:a="http://schemas.openxmlformats.org/drawingml/2006/main">
              <a:ext uri="{FF2B5EF4-FFF2-40B4-BE49-F238E27FC236}">
                <a16:creationId xmlns:a16="http://schemas.microsoft.com/office/drawing/2014/main" id="{185B6D92-840E-47CE-B3B2-528D02F7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MODAL AND REPRODUCIBILITY COMMAND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8DF97-107E-4AEB-AFAC-A407BDC9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work is reproducible through grouped Modal actions and local report builders.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FEEB3-5128-4042-83E6-0E3B8C8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B618F-A6F4-43BC-B355-BBF3E81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44BD-5309-4C6E-AFE0-3063971F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34/38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53304-E3AC-4F36-A84C-9EB9D22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85850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66554-7646-4C5B-A5AE-0244D3BD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Workstream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65A09-2085-4089-975D-E8C711F0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0495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Representative commands /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11B20-619D-4812-AFB7-E70E623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C183E-F752-4713-AA4E-320DFDD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FF487-DB97-4DE9-8831-148518B6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2880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prepare-sprites; train-sprites-overfit32; train-sprites-debug1k; train-sprites-v0-full; eval-sprites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61EE6-42CF-4C4E-BDE2-C036BC87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2DA61-68F5-47E9-A8A4-8E6AA21A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BFE13-01A5-4C94-BAD1-DE041E40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B5444-CEB5-4353-BCA1-BAA338E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train-sprites-hmar-overfit32; train-sprites-hmar-debug1k; train-sprites-hmar-v0-full; eval-hmar-refinement-ablation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414AF-EED1-4929-BB35-6BA9305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AA5C1-E64E-4E3C-8E28-6524E87B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29629-9086-47CC-B692-F78A686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generate-sprites-selected --num-samples 170000; prepare-sprites-generated-keep; prepare-sprites-mixed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17E8E-7C5F-4717-831E-2CB1840A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5B546-EB48-4E47-9C13-8916B60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D1B6F-2849-4B4A-9C0C-A972D57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4AB2B-2AC5-4942-8DA3-7CAB1DFE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8615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prepare-opengameart-public; prepare-sprites-mixed-opengameart; train-sprites-mixed-oga-v0-full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E16ED-35A2-4F7F-BA6E-DE9ECA75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9AC06-8314-4EAE-AA12-F6D317A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DF8B9-BC4E-4059-A6AA-C4FEC3FD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3860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prepare-patch-vq-sprites; train-sprites-patchvq16-v0-full; eval-patch-vq-decoded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209A3-C120-4880-99C1-E808662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BE30B-9390-4785-BFA6-C018F52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FAE47-F034-4EF8-A333-815A6D4A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25CD8-C0DF-4D3B-AD8E-9350B20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9105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run-sd-pixl-batch; run-practical-diffusion-batch; run-pokemon-sprite-lora-batch; evaluate_image_folders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DEA3DA-32F9-4FC4-8B3F-49B0A01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AB86E-DF05-43C1-B4F7-11ADD092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7295ED-39FC-44FB-9106-02E118E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4350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benchmark-main-hmar-flat-known-metrics; audit-flat-ar-memorization; audit-main-hmar-memorization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CBA60-1F40-4A48-9824-3E41DC72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2041F9-4A58-4128-8768-9C76D4A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1AC04-4EB3-4F93-B5ED-A16691D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2B961F-F594-4177-8D3B-DA7FD04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95950"/>
            <a:ext cx="891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build_final_artifacts.py; build-four-way-sample-sheet; modal volume get ... reports/final</a:t>
            </a:r>
          </a:p>
        </p:txBody>
      </p:sp>
    </p:spTree>
    <p:extLst>
      <p:ext uri="{BB962C8B-B14F-4D97-AF65-F5344CB8AC3E}">
        <p14:creationId xmlns:p14="http://schemas.microsoft.com/office/powerpoint/2010/main" val="65398450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36F8CF-3A7A-4328-AEC4-BCB82C0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7DB9B-607C-4A69-AE36-EBB9AEE1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9-marker">
            <a:extLst xmlns:a="http://schemas.openxmlformats.org/drawingml/2006/main">
              <a:ext uri="{FF2B5EF4-FFF2-40B4-BE49-F238E27FC236}">
                <a16:creationId xmlns:a16="http://schemas.microsoft.com/office/drawing/2014/main" id="{51782780-BAEC-41B8-A4CD-34DEB8F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9-label">
            <a:extLst xmlns:a="http://schemas.openxmlformats.org/drawingml/2006/main">
              <a:ext uri="{FF2B5EF4-FFF2-40B4-BE49-F238E27FC236}">
                <a16:creationId xmlns:a16="http://schemas.microsoft.com/office/drawing/2014/main" id="{955C03C8-0AC4-433B-91F3-5A1E459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FULL LIMITATIONS AND REASONS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B9500-5989-4BB3-BFBB-69E3D34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limitations are not hidden; each incomplete item has a concrete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7CD46-5C83-4EBB-BEB7-50A0783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03520-DC3E-4003-8E03-3895DC3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044CC-4585-4170-9A28-BDB65EA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35/38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E3E2D-D895-44CB-BD32-E0173800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239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D0799-2BD6-4383-B978-256F850A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DE8A7-ECF0-40F2-A6C7-A9562A8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28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E4E26-2FB2-4B9A-8259-ABDDA9D1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7200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Reason /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B9E43-216E-424A-AB03-3830334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D883A-6AEE-42F9-8557-DA65C23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67D43-0D08-4105-8FC4-6CA80D9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4D074-EE12-47EF-AF41-E1D6383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but reconstructions were too soft/ghosted for pixel 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8661D-6426-4FED-87E9-2C785CE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2A1A9-4707-4C10-8BD9-42C61BB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60999-967F-4F7F-A7F7-0D2C386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learned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AC306-1702-4DF4-8BC2-9D3588A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361B5-2EA9-432B-849F-241D8E8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worked technically; 143/512 codes used; blockier decoded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6D4EE-BEFC-4E2F-B88D-6860332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C7E1B-29B5-4D33-97D2-9BE8275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8/32 palette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F1406-12C2-4D05-AEE8-00C07A3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255AA-6F75-4CB7-8BB2-5C694ED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configs and actions added; GPU metrics 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41CAB-8203-4A25-A463-09E72C6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54E31-2FF0-4330-BBDF-DFAF446A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C8A80-52C5-4D95-886B-867964C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hierarchy ablation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959C4-D773-43FB-8B9C-C10BF07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51D52-7B63-4CC5-85B6-AB6F475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runnable; metrics 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8C136-88F8-45C6-87C9-B23967F1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32AAB-4074-479F-883B-B3D6EFB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5152F-B7CC-40AF-A81E-E1A7B76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00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FAAF8-EABD-4E4D-87AB-CD84234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requires separate survey, randomization, collection, and analysis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F0D19-6CE8-4315-B9AC-5A0DA60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A2664C-C054-4E4A-8C4F-A90AD0D4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A10786-E3CE-4CBD-B475-E4194E7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75D0C-B4AE-437C-BCD3-D8A760CF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8A54F-CE1C-4434-AA53-3C9998B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increases from 1,365 to 5,461; postponed after 32x32 proposal completion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920B28-5EDC-4D69-BE84-A8444441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894FA-BEA9-4939-A225-1F758A3A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Kaggle dataset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16154A-146C-47E1-97C5-D0377BF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387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REPLACED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8AD651-C634-4666-9454-8142B5EE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forbidden/unavailable; live MSD replacement used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5488C6-3314-4C03-99FE-0F84AC7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F29283-74A2-4680-AB72-0A452935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8AA989-3EA2-4739-9C01-705FE77F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Lightning/Modal friction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8DC974-0626-4E39-9D7D-21D2099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530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DISCLOSED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9DCAC9-09F5-474B-8ABE-EFCBA043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job handling, spend/GPU limits, B200 compatibility, local command/runtime issues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0A98F1-45FD-4C02-9699-DC09CB15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3A04B1-B8BF-46C5-8DD1-4D0CEE2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Broad SOTA claim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5E36C3-D405-4A33-A515-B48A12AE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67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5A1449-2CC5-440B-8B43-0BC33165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useful but not exhaustive enough for broad SOTA</a:t>
            </a:r>
          </a:p>
        </p:txBody>
      </p:sp>
    </p:spTree>
    <p:extLst>
      <p:ext uri="{BB962C8B-B14F-4D97-AF65-F5344CB8AC3E}">
        <p14:creationId xmlns:p14="http://schemas.microsoft.com/office/powerpoint/2010/main" val="1375121882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946E1-18BC-4256-B2EA-662037A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B09CD-6250-4250-A877-69BAA40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0-marker">
            <a:extLst xmlns:a="http://schemas.openxmlformats.org/drawingml/2006/main">
              <a:ext uri="{FF2B5EF4-FFF2-40B4-BE49-F238E27FC236}">
                <a16:creationId xmlns:a16="http://schemas.microsoft.com/office/drawing/2014/main" id="{EB672BAC-A85E-412F-A372-45AAFA68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0-label">
            <a:extLst xmlns:a="http://schemas.openxmlformats.org/drawingml/2006/main">
              <a:ext uri="{FF2B5EF4-FFF2-40B4-BE49-F238E27FC236}">
                <a16:creationId xmlns:a16="http://schemas.microsoft.com/office/drawing/2014/main" id="{CAC3D5B2-04EB-46BE-926F-36B7C45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PENDING PROPOSAL-LEFTOVER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BBDE0-A5AB-4907-94D0-F588014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remaining lightweight ablations are already wired; they need GPU runs and inspection before promotion.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5F8F2-4D71-46B9-B28F-FEB33C44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51E8D-27A2-4437-8B25-28DE5E25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7A421-3B98-4431-9178-89FB47F3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36/38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9E0A9-DA3D-4337-9414-43AF073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287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3DFF2-9C72-465E-9A78-04703FF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971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prepare-sprites-palette8</a:t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train-sprites-palette8-ladder</a:t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eval-sprites-palette8 --num-samples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prepare-sprites-palette32</a:t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train-sprites-palette32-ladder</a:t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eval-sprites-palette32 --num-samples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train-sprites-scale4-ladder</a:t>
            </a:r>
          </a:p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4EEE2"/>
                </a:solidFill>
                <a:latin typeface="Aptos Mono"/>
                <a:ea typeface="Aptos Mono"/>
                <a:cs typeface="Aptos Mono"/>
              </a:rPr>
              <a:t>modal run modal_train.py --action eval-sprites-scale4 --num-samples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9F508-B379-4904-9D41-4903873C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Interpretation rule: compare feature score, opaque ratio, edge density, token entropy, and sample sheets. Do not promote a palette ablation from palette consistency alone.</a:t>
            </a:r>
          </a:p>
        </p:txBody>
      </p:sp>
    </p:spTree>
    <p:extLst>
      <p:ext uri="{BB962C8B-B14F-4D97-AF65-F5344CB8AC3E}">
        <p14:creationId xmlns:p14="http://schemas.microsoft.com/office/powerpoint/2010/main" val="200558720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0D352-B19E-4776-AD04-0AB0D66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3663D-1EF3-4DCA-9126-644A1118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1-marker">
            <a:extLst xmlns:a="http://schemas.openxmlformats.org/drawingml/2006/main">
              <a:ext uri="{FF2B5EF4-FFF2-40B4-BE49-F238E27FC236}">
                <a16:creationId xmlns:a16="http://schemas.microsoft.com/office/drawing/2014/main" id="{099529B8-8183-4B41-B9AD-CAD37BE5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1-label">
            <a:extLst xmlns:a="http://schemas.openxmlformats.org/drawingml/2006/main">
              <a:ext uri="{FF2B5EF4-FFF2-40B4-BE49-F238E27FC236}">
                <a16:creationId xmlns:a16="http://schemas.microsoft.com/office/drawing/2014/main" id="{15A5D0B8-C59C-46A4-AA2E-0A50CC1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6CDF2-AEDB-47A0-9DAD-E6BB6E8B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deck points back to the detailed artifacts so every claim can be checked.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0DCE2-14D6-440C-8C63-71F1ECF2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71E97-5BC6-457D-AB53-857FDAF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Artifact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AEBB9-CEFE-478B-8858-13CD1A8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37/38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30C1E-FBD4-4591-BBC0-D2BD637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66800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28023-B7D3-4985-B83E-014F52C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C7B9B-4D30-4C76-9B8A-7D52E009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05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A9FD2-240B-4CCB-B38F-C7C19AA2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E010E-761E-4D9F-BA67-16BFC7A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6EC91-7F8E-4149-85FE-73D2957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reports/final/final_report_narrative.md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F7705-E110-409B-A2F8-661DBB7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1CF0D-2D71-4259-A384-82AF365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06545-24BA-45F5-871E-C692B2F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Internal decision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1281D-8F89-4F55-A0D7-EDD41A9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reports/final/model_decision_table.md / 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9E49C-887A-4548-B159-EF29867E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B4B11-1C71-4C19-A279-9470D613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A72D8-72B9-4481-9BC6-C8D0D2A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reports/final/known_metrics_comparison.md / 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2B1F8-C263-4B48-A507-205C064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A5455-2ECB-4741-BBD8-2F68EDA9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01E7E-D340-4E5B-A62F-9BEBACF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EEEBB-69EC-41F9-A111-0977E1EF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reports/final/external_baseline_comparison.md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10FF4-DFD4-4631-8453-F09F319A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4D379-B60D-4A67-BDBE-8B465BB2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plan/history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DF18A-7F3F-4606-9F9B-1E4E5A2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reports/final/external_baseline_and_metrics_plan.md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DFE4B-DBC3-4AA1-B78D-2ACD275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470FC-269E-4E48-B80E-85E27D1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4D2A1-D5E1-4DF2-9AA0-B7BC3043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 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F0D56-DFFF-4B13-88B5-AF81FA5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reports/final/mdigan_decision.md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859BE-FC3A-4FEA-8A09-93F5D77E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B7D60-27FB-41D7-BCE9-BD0C4FB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19A2D-A339-41D8-9A21-03EE225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reports/final/memorization_audit_summary.md and reports/memorization_audit/*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2D23D5-0BB9-4627-AE10-CB9C404D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5FB66-3874-4769-997E-27F0D78B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EB117C-B24F-41E8-8E16-1C4084DD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Visual result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2BB4D8-D69E-47F5-8069-1F9566F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reports/final/visual_results_deck.md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ABB93D-34F1-4168-B264-E590246E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B06F0-6F68-448C-A07A-EFD2E65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Stretch plan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4E5AD0-A258-4CA6-9D58-C2538472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83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reports/final/proposal_leftovers_stretch_plan.md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6762ED-8A12-476D-BC14-3A8A323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2F5DD1-7524-414D-BE5A-9D81060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BCB43-8587-48CB-9ED3-0551542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680E3-9FEA-45B4-9932-990E928A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805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reports/final/reproducibility_commands.md and docs/modal_b200.md</a:t>
            </a:r>
          </a:p>
        </p:txBody>
      </p:sp>
    </p:spTree>
    <p:extLst>
      <p:ext uri="{BB962C8B-B14F-4D97-AF65-F5344CB8AC3E}">
        <p14:creationId xmlns:p14="http://schemas.microsoft.com/office/powerpoint/2010/main" val="18108527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67535-4F3E-43AC-BDFF-4C245BF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DFE0D-479F-4521-A3B0-976154DE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2-marker">
            <a:extLst xmlns:a="http://schemas.openxmlformats.org/drawingml/2006/main">
              <a:ext uri="{FF2B5EF4-FFF2-40B4-BE49-F238E27FC236}">
                <a16:creationId xmlns:a16="http://schemas.microsoft.com/office/drawing/2014/main" id="{00BA97E9-C43D-41C4-88E0-E2FAEF60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2-label">
            <a:extLst xmlns:a="http://schemas.openxmlformats.org/drawingml/2006/main">
              <a:ext uri="{FF2B5EF4-FFF2-40B4-BE49-F238E27FC236}">
                <a16:creationId xmlns:a16="http://schemas.microsoft.com/office/drawing/2014/main" id="{4D1CFE9E-624D-4286-BF1B-ECF89FD1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MASTER EVIDENCE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EE73B-D972-44FE-ACA1-CA3FB43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14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short presentation is rubric-aligned; this master version adds the full evidence trail so nothing important is hidden.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B228-078C-4AD8-98A9-888D691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61943-D24C-443D-BF7F-DF4B30F1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904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for short talk: problem, method, main result, audit, external baselines, limitations.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ADC5E-1796-4BEF-BB06-3AB426F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8B587-317E-43A9-A0EE-A242AC7D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904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 for Q&amp;A: full sweeps, metric caveats, memorization tables, external run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FBD53-7D11-4BD0-A7E1-966C897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21A47-9FA8-4EF2-B185-EB0D2F5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904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 not overclaim: PixelVAR is a strong 32x32 proposal result, not a broad SOTA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01C73-ED7D-47EE-9915-EBBD2C53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26CBF-0894-4D29-B472-0E61AECE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904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Next proof to add later: completed 8/32 palette and 4-scale ablation metrics, user study, 64x64.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31068-53C3-4DD9-8CE5-7EEF613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C02FB-2F1C-4E13-8CCC-C63108A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1A20E-CCDA-40C9-9181-1C5DC06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38/38</a:t>
            </a:r>
          </a:p>
        </p:txBody>
      </p:sp>
    </p:spTree>
    <p:extLst>
      <p:ext uri="{BB962C8B-B14F-4D97-AF65-F5344CB8AC3E}">
        <p14:creationId xmlns:p14="http://schemas.microsoft.com/office/powerpoint/2010/main" val="188373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2026-06-08T18:25:57.3990000Z</dcterms:created>
  <dcterms:modified xsi:type="dcterms:W3CDTF">2026-06-08T18:25:57.3990000Z</dcterms:modified>
</coreProperties>
</file>