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a5a32293404318" /><Relationship Type="http://schemas.openxmlformats.org/officeDocument/2006/relationships/extended-properties" Target="/docProps/app.xml" Id="Rd5cd768fd70048ca" /><Relationship Type="http://schemas.openxmlformats.org/officeDocument/2006/relationships/officeDocument" Target="/ppt/presentation.xml" Id="Rd863cd393bb34a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595d7036ba452f"/>
  </p:sldMasterIdLst>
  <p:notesMasterIdLst>
    <p:notesMasterId xmlns:r="http://schemas.openxmlformats.org/officeDocument/2006/relationships" r:id="Rb2055dc183a04bb3"/>
  </p:notesMasterIdLst>
  <p:sldIdLst>
    <p:sldId xmlns:r="http://schemas.openxmlformats.org/officeDocument/2006/relationships" id="256" r:id="Rffe764b708e445c3"/>
    <p:sldId xmlns:r="http://schemas.openxmlformats.org/officeDocument/2006/relationships" id="257" r:id="R3c20af960d254df1"/>
    <p:sldId xmlns:r="http://schemas.openxmlformats.org/officeDocument/2006/relationships" id="258" r:id="R9ea646bc6cd943bb"/>
    <p:sldId xmlns:r="http://schemas.openxmlformats.org/officeDocument/2006/relationships" id="259" r:id="Rf8328c34a4c342fa"/>
    <p:sldId xmlns:r="http://schemas.openxmlformats.org/officeDocument/2006/relationships" id="260" r:id="R3f2537ee6eb1471e"/>
    <p:sldId xmlns:r="http://schemas.openxmlformats.org/officeDocument/2006/relationships" id="261" r:id="R1bdfd706ba3a4d69"/>
    <p:sldId xmlns:r="http://schemas.openxmlformats.org/officeDocument/2006/relationships" id="262" r:id="R98ec977588dd4f85"/>
    <p:sldId xmlns:r="http://schemas.openxmlformats.org/officeDocument/2006/relationships" id="263" r:id="Ra1fd879397db4b07"/>
    <p:sldId xmlns:r="http://schemas.openxmlformats.org/officeDocument/2006/relationships" id="264" r:id="Rbcda8c1aa3ed4237"/>
    <p:sldId xmlns:r="http://schemas.openxmlformats.org/officeDocument/2006/relationships" id="265" r:id="R5422903b8dda4cff"/>
    <p:sldId xmlns:r="http://schemas.openxmlformats.org/officeDocument/2006/relationships" id="266" r:id="R66dd858698364a70"/>
    <p:sldId xmlns:r="http://schemas.openxmlformats.org/officeDocument/2006/relationships" id="267" r:id="Rcc5766da3f894fab"/>
    <p:sldId xmlns:r="http://schemas.openxmlformats.org/officeDocument/2006/relationships" id="268" r:id="Rafc519322bb74b4d"/>
    <p:sldId xmlns:r="http://schemas.openxmlformats.org/officeDocument/2006/relationships" id="269" r:id="R4f49a067ddcf4538"/>
    <p:sldId xmlns:r="http://schemas.openxmlformats.org/officeDocument/2006/relationships" id="270" r:id="R2929694a67d24c55"/>
    <p:sldId xmlns:r="http://schemas.openxmlformats.org/officeDocument/2006/relationships" id="271" r:id="R03c481dbd4dc4eb0"/>
    <p:sldId xmlns:r="http://schemas.openxmlformats.org/officeDocument/2006/relationships" id="272" r:id="R028adeaddbcd495b"/>
    <p:sldId xmlns:r="http://schemas.openxmlformats.org/officeDocument/2006/relationships" id="273" r:id="R0752b94b1d414fa9"/>
    <p:sldId xmlns:r="http://schemas.openxmlformats.org/officeDocument/2006/relationships" id="274" r:id="R1d7f972fdea84529"/>
    <p:sldId xmlns:r="http://schemas.openxmlformats.org/officeDocument/2006/relationships" id="275" r:id="R0ca8dcd469df4e07"/>
    <p:sldId xmlns:r="http://schemas.openxmlformats.org/officeDocument/2006/relationships" id="276" r:id="R41da44543a9b4c9e"/>
    <p:sldId xmlns:r="http://schemas.openxmlformats.org/officeDocument/2006/relationships" id="277" r:id="R1231104661114eea"/>
    <p:sldId xmlns:r="http://schemas.openxmlformats.org/officeDocument/2006/relationships" id="278" r:id="R089e64cfaae94cdf"/>
    <p:sldId xmlns:r="http://schemas.openxmlformats.org/officeDocument/2006/relationships" id="279" r:id="Rcb7ff808ce3b4a5b"/>
    <p:sldId xmlns:r="http://schemas.openxmlformats.org/officeDocument/2006/relationships" id="280" r:id="Re6aae7a1accd46b6"/>
    <p:sldId xmlns:r="http://schemas.openxmlformats.org/officeDocument/2006/relationships" id="281" r:id="R3104d59533b749e9"/>
    <p:sldId xmlns:r="http://schemas.openxmlformats.org/officeDocument/2006/relationships" id="282" r:id="Rdd277825a1a14fdb"/>
    <p:sldId xmlns:r="http://schemas.openxmlformats.org/officeDocument/2006/relationships" id="283" r:id="Rc20429b5b915481e"/>
    <p:sldId xmlns:r="http://schemas.openxmlformats.org/officeDocument/2006/relationships" id="284" r:id="Refd219c603c1480e"/>
    <p:sldId xmlns:r="http://schemas.openxmlformats.org/officeDocument/2006/relationships" id="285" r:id="R09da92854e964909"/>
    <p:sldId xmlns:r="http://schemas.openxmlformats.org/officeDocument/2006/relationships" id="286" r:id="R84a39b81d0a64d0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9a426654474438" /><Relationship Type="http://schemas.openxmlformats.org/officeDocument/2006/relationships/slideMaster" Target="/ppt/slideMasters/slideMaster1.xml" Id="R01595d7036ba452f" /><Relationship Type="http://schemas.openxmlformats.org/officeDocument/2006/relationships/notesMaster" Target="/ppt/notesMasters/notesMaster1.xml" Id="Rb2055dc183a04bb3" /><Relationship Type="http://schemas.openxmlformats.org/officeDocument/2006/relationships/presProps" Target="/ppt/presProps.xml" Id="Rd7d502c089ef415f" /><Relationship Type="http://schemas.openxmlformats.org/officeDocument/2006/relationships/viewProps" Target="/ppt/viewProps.xml" Id="Ra8966bc1e90e47db" /><Relationship Type="http://schemas.openxmlformats.org/officeDocument/2006/relationships/tableStyles" Target="/ppt/tableStyles.xml" Id="Ra2dc0c8cfc204cb5" /><Relationship Type="http://schemas.openxmlformats.org/officeDocument/2006/relationships/slide" Target="/ppt/slides/slide1.xml" Id="Rffe764b708e445c3" /><Relationship Type="http://schemas.openxmlformats.org/officeDocument/2006/relationships/slide" Target="/ppt/slides/slide2.xml" Id="R3c20af960d254df1" /><Relationship Type="http://schemas.openxmlformats.org/officeDocument/2006/relationships/slide" Target="/ppt/slides/slide3.xml" Id="R9ea646bc6cd943bb" /><Relationship Type="http://schemas.openxmlformats.org/officeDocument/2006/relationships/slide" Target="/ppt/slides/slide4.xml" Id="Rf8328c34a4c342fa" /><Relationship Type="http://schemas.openxmlformats.org/officeDocument/2006/relationships/slide" Target="/ppt/slides/slide5.xml" Id="R3f2537ee6eb1471e" /><Relationship Type="http://schemas.openxmlformats.org/officeDocument/2006/relationships/slide" Target="/ppt/slides/slide6.xml" Id="R1bdfd706ba3a4d69" /><Relationship Type="http://schemas.openxmlformats.org/officeDocument/2006/relationships/slide" Target="/ppt/slides/slide7.xml" Id="R98ec977588dd4f85" /><Relationship Type="http://schemas.openxmlformats.org/officeDocument/2006/relationships/slide" Target="/ppt/slides/slide8.xml" Id="Ra1fd879397db4b07" /><Relationship Type="http://schemas.openxmlformats.org/officeDocument/2006/relationships/slide" Target="/ppt/slides/slide9.xml" Id="Rbcda8c1aa3ed4237" /><Relationship Type="http://schemas.openxmlformats.org/officeDocument/2006/relationships/slide" Target="/ppt/slides/slide10.xml" Id="R5422903b8dda4cff" /><Relationship Type="http://schemas.openxmlformats.org/officeDocument/2006/relationships/slide" Target="/ppt/slides/slide11.xml" Id="R66dd858698364a70" /><Relationship Type="http://schemas.openxmlformats.org/officeDocument/2006/relationships/slide" Target="/ppt/slides/slide12.xml" Id="Rcc5766da3f894fab" /><Relationship Type="http://schemas.openxmlformats.org/officeDocument/2006/relationships/slide" Target="/ppt/slides/slide13.xml" Id="Rafc519322bb74b4d" /><Relationship Type="http://schemas.openxmlformats.org/officeDocument/2006/relationships/slide" Target="/ppt/slides/slide14.xml" Id="R4f49a067ddcf4538" /><Relationship Type="http://schemas.openxmlformats.org/officeDocument/2006/relationships/slide" Target="/ppt/slides/slide15.xml" Id="R2929694a67d24c55" /><Relationship Type="http://schemas.openxmlformats.org/officeDocument/2006/relationships/slide" Target="/ppt/slides/slide16.xml" Id="R03c481dbd4dc4eb0" /><Relationship Type="http://schemas.openxmlformats.org/officeDocument/2006/relationships/slide" Target="/ppt/slides/slide17.xml" Id="R028adeaddbcd495b" /><Relationship Type="http://schemas.openxmlformats.org/officeDocument/2006/relationships/slide" Target="/ppt/slides/slide18.xml" Id="R0752b94b1d414fa9" /><Relationship Type="http://schemas.openxmlformats.org/officeDocument/2006/relationships/slide" Target="/ppt/slides/slide19.xml" Id="R1d7f972fdea84529" /><Relationship Type="http://schemas.openxmlformats.org/officeDocument/2006/relationships/slide" Target="/ppt/slides/slide20.xml" Id="R0ca8dcd469df4e07" /><Relationship Type="http://schemas.openxmlformats.org/officeDocument/2006/relationships/slide" Target="/ppt/slides/slide21.xml" Id="R41da44543a9b4c9e" /><Relationship Type="http://schemas.openxmlformats.org/officeDocument/2006/relationships/slide" Target="/ppt/slides/slide22.xml" Id="R1231104661114eea" /><Relationship Type="http://schemas.openxmlformats.org/officeDocument/2006/relationships/slide" Target="/ppt/slides/slide23.xml" Id="R089e64cfaae94cdf" /><Relationship Type="http://schemas.openxmlformats.org/officeDocument/2006/relationships/slide" Target="/ppt/slides/slide24.xml" Id="Rcb7ff808ce3b4a5b" /><Relationship Type="http://schemas.openxmlformats.org/officeDocument/2006/relationships/slide" Target="/ppt/slides/slide25.xml" Id="Re6aae7a1accd46b6" /><Relationship Type="http://schemas.openxmlformats.org/officeDocument/2006/relationships/slide" Target="/ppt/slides/slide26.xml" Id="R3104d59533b749e9" /><Relationship Type="http://schemas.openxmlformats.org/officeDocument/2006/relationships/slide" Target="/ppt/slides/slide27.xml" Id="Rdd277825a1a14fdb" /><Relationship Type="http://schemas.openxmlformats.org/officeDocument/2006/relationships/slide" Target="/ppt/slides/slide28.xml" Id="Rc20429b5b915481e" /><Relationship Type="http://schemas.openxmlformats.org/officeDocument/2006/relationships/slide" Target="/ppt/slides/slide29.xml" Id="Refd219c603c1480e" /><Relationship Type="http://schemas.openxmlformats.org/officeDocument/2006/relationships/slide" Target="/ppt/slides/slide30.xml" Id="R09da92854e964909" /><Relationship Type="http://schemas.openxmlformats.org/officeDocument/2006/relationships/slide" Target="/ppt/slides/slide31.xml" Id="R84a39b81d0a64d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68ef86e42b42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0b8f84a7044332" /><Relationship Type="http://schemas.openxmlformats.org/officeDocument/2006/relationships/notesMaster" Target="/ppt/notesMasters/notesMaster1.xml" Id="Rf878196e711b44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294bf016714d49" /><Relationship Type="http://schemas.openxmlformats.org/officeDocument/2006/relationships/notesMaster" Target="/ppt/notesMasters/notesMaster1.xml" Id="Rb6fe0e5d1bd749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40ecf1d7534f5e" /><Relationship Type="http://schemas.openxmlformats.org/officeDocument/2006/relationships/notesMaster" Target="/ppt/notesMasters/notesMaster1.xml" Id="R9d21fcc9b9cb49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5939bf3b4745b4" /><Relationship Type="http://schemas.openxmlformats.org/officeDocument/2006/relationships/notesMaster" Target="/ppt/notesMasters/notesMaster1.xml" Id="Re2ebbaa4dea143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eff68173d34de2" /><Relationship Type="http://schemas.openxmlformats.org/officeDocument/2006/relationships/notesMaster" Target="/ppt/notesMasters/notesMaster1.xml" Id="Rdded10a346284f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c5c82d0f9441dc" /><Relationship Type="http://schemas.openxmlformats.org/officeDocument/2006/relationships/notesMaster" Target="/ppt/notesMasters/notesMaster1.xml" Id="Rd4ee15a932d446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631b2d3cba4493" /><Relationship Type="http://schemas.openxmlformats.org/officeDocument/2006/relationships/notesMaster" Target="/ppt/notesMasters/notesMaster1.xml" Id="Rd65daf8f214d44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afa87487874ff5" /><Relationship Type="http://schemas.openxmlformats.org/officeDocument/2006/relationships/notesMaster" Target="/ppt/notesMasters/notesMaster1.xml" Id="R553d2728e8b74b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4a08f2b8314a59" /><Relationship Type="http://schemas.openxmlformats.org/officeDocument/2006/relationships/notesMaster" Target="/ppt/notesMasters/notesMaster1.xml" Id="R443ad096490044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c1a79e82284af4" /><Relationship Type="http://schemas.openxmlformats.org/officeDocument/2006/relationships/notesMaster" Target="/ppt/notesMasters/notesMaster1.xml" Id="R20805920fecb43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4c942974544baf" /><Relationship Type="http://schemas.openxmlformats.org/officeDocument/2006/relationships/notesMaster" Target="/ppt/notesMasters/notesMaster1.xml" Id="R8826877bc882433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ec94bc7be14c3c" /><Relationship Type="http://schemas.openxmlformats.org/officeDocument/2006/relationships/notesMaster" Target="/ppt/notesMasters/notesMaster1.xml" Id="Rc0d237236bc747a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889b3f40f046c2" /><Relationship Type="http://schemas.openxmlformats.org/officeDocument/2006/relationships/notesMaster" Target="/ppt/notesMasters/notesMaster1.xml" Id="Rff2ee6f6346f4f6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ad7cf739124f4e" /><Relationship Type="http://schemas.openxmlformats.org/officeDocument/2006/relationships/notesMaster" Target="/ppt/notesMasters/notesMaster1.xml" Id="R736d427c43014e9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6fbdb9ea579431c" /><Relationship Type="http://schemas.openxmlformats.org/officeDocument/2006/relationships/notesMaster" Target="/ppt/notesMasters/notesMaster1.xml" Id="R9098b45617e148d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92804aec0e041e9" /><Relationship Type="http://schemas.openxmlformats.org/officeDocument/2006/relationships/notesMaster" Target="/ppt/notesMasters/notesMaster1.xml" Id="R9962b3655bf8469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7d81c76fca94c25" /><Relationship Type="http://schemas.openxmlformats.org/officeDocument/2006/relationships/notesMaster" Target="/ppt/notesMasters/notesMaster1.xml" Id="R4f519de0a012403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3859945b9404246" /><Relationship Type="http://schemas.openxmlformats.org/officeDocument/2006/relationships/notesMaster" Target="/ppt/notesMasters/notesMaster1.xml" Id="R46401333f0d842c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8050b213c14484b" /><Relationship Type="http://schemas.openxmlformats.org/officeDocument/2006/relationships/notesMaster" Target="/ppt/notesMasters/notesMaster1.xml" Id="R67ba58b2fde5474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f4e7167cacf461c" /><Relationship Type="http://schemas.openxmlformats.org/officeDocument/2006/relationships/notesMaster" Target="/ppt/notesMasters/notesMaster1.xml" Id="R7292fca92ad04b1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4d6a4d80f3542d8" /><Relationship Type="http://schemas.openxmlformats.org/officeDocument/2006/relationships/notesMaster" Target="/ppt/notesMasters/notesMaster1.xml" Id="R7ddc366e3cd0441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7d88620ca7d43a2" /><Relationship Type="http://schemas.openxmlformats.org/officeDocument/2006/relationships/notesMaster" Target="/ppt/notesMasters/notesMaster1.xml" Id="R20bd8a3237ac4ec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70aaacfd5eb4a42" /><Relationship Type="http://schemas.openxmlformats.org/officeDocument/2006/relationships/notesMaster" Target="/ppt/notesMasters/notesMaster1.xml" Id="R5eee983c67ce4a8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c1b1fd96474412d" /><Relationship Type="http://schemas.openxmlformats.org/officeDocument/2006/relationships/notesMaster" Target="/ppt/notesMasters/notesMaster1.xml" Id="R75386dad172f458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4be87c6a1e549aa" /><Relationship Type="http://schemas.openxmlformats.org/officeDocument/2006/relationships/notesMaster" Target="/ppt/notesMasters/notesMaster1.xml" Id="Ra4ab143a559644e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3076ecd6ecb4102" /><Relationship Type="http://schemas.openxmlformats.org/officeDocument/2006/relationships/notesMaster" Target="/ppt/notesMasters/notesMaster1.xml" Id="Ra7e9b4ab187248d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254bbe61dd44346" /><Relationship Type="http://schemas.openxmlformats.org/officeDocument/2006/relationships/notesMaster" Target="/ppt/notesMasters/notesMaster1.xml" Id="R9564daa21df147a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5661ead737941c3" /><Relationship Type="http://schemas.openxmlformats.org/officeDocument/2006/relationships/notesMaster" Target="/ppt/notesMasters/notesMaster1.xml" Id="R271ece98ccf14af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d31659558e34649" /><Relationship Type="http://schemas.openxmlformats.org/officeDocument/2006/relationships/notesMaster" Target="/ppt/notesMasters/notesMaster1.xml" Id="R7b47d6aa4d9a448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938b71ada3b48d3" /><Relationship Type="http://schemas.openxmlformats.org/officeDocument/2006/relationships/notesMaster" Target="/ppt/notesMasters/notesMaster1.xml" Id="R9d247d52d9d9485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8da0a9ae88347a8" /><Relationship Type="http://schemas.openxmlformats.org/officeDocument/2006/relationships/notesMaster" Target="/ppt/notesMasters/notesMaster1.xml" Id="R5ece29a183884f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e493bf0d1d46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0ee504d93644b3" /><Relationship Type="http://schemas.openxmlformats.org/officeDocument/2006/relationships/slideLayout" Target="/ppt/slideLayouts/slideLayout1.xml" Id="R9af7481d071b43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f7481d071b43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2f3f4418f4ac1" /><Relationship Type="http://schemas.openxmlformats.org/officeDocument/2006/relationships/image" Target="/ppt/media/image.png" Id="R33eb4086d7e448ff" /><Relationship Type="http://schemas.openxmlformats.org/officeDocument/2006/relationships/notesSlide" Target="/ppt/notesSlides/notesSlide1.xml" Id="R42e7016178cb4e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3fcdc86a245ea" /><Relationship Type="http://schemas.openxmlformats.org/officeDocument/2006/relationships/image" Target="/ppt/media/image2.png" Id="R17ea90769dca4818" /><Relationship Type="http://schemas.openxmlformats.org/officeDocument/2006/relationships/notesSlide" Target="/ppt/notesSlides/notesSlide2.xml" Id="R6af682e95bc544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9855b3fd04681" /><Relationship Type="http://schemas.openxmlformats.org/officeDocument/2006/relationships/notesSlide" Target="/ppt/notesSlides/notesSlide3.xml" Id="Redc2c03636b248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1c3718a174fbe" /><Relationship Type="http://schemas.openxmlformats.org/officeDocument/2006/relationships/notesSlide" Target="/ppt/notesSlides/notesSlide4.xml" Id="R14d8121cec7b44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54f2e8c9b4a32" /><Relationship Type="http://schemas.openxmlformats.org/officeDocument/2006/relationships/notesSlide" Target="/ppt/notesSlides/notesSlide5.xml" Id="R62dedf74430547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2b23c61064137" /><Relationship Type="http://schemas.openxmlformats.org/officeDocument/2006/relationships/notesSlide" Target="/ppt/notesSlides/notesSlide6.xml" Id="R271060f3e59e42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c87f6c8674971" /><Relationship Type="http://schemas.openxmlformats.org/officeDocument/2006/relationships/image" Target="/ppt/media/image3.png" Id="R2f4af44886c243b2" /><Relationship Type="http://schemas.openxmlformats.org/officeDocument/2006/relationships/image" Target="/ppt/media/image4.png" Id="R6e7ea305d2264484" /><Relationship Type="http://schemas.openxmlformats.org/officeDocument/2006/relationships/notesSlide" Target="/ppt/notesSlides/notesSlide7.xml" Id="R5609d8e89ce547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a4bee2b5f440a" /><Relationship Type="http://schemas.openxmlformats.org/officeDocument/2006/relationships/image" Target="/ppt/media/image5.png" Id="R23d128adeb684fae" /><Relationship Type="http://schemas.openxmlformats.org/officeDocument/2006/relationships/notesSlide" Target="/ppt/notesSlides/notesSlide8.xml" Id="R23f3ba3b99fa45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cf7397cda420d" /><Relationship Type="http://schemas.openxmlformats.org/officeDocument/2006/relationships/image" Target="/ppt/media/image6.png" Id="R38ccdbde5d9d4b22" /><Relationship Type="http://schemas.openxmlformats.org/officeDocument/2006/relationships/image" Target="/ppt/media/image7.png" Id="R8b3285dffc764588" /><Relationship Type="http://schemas.openxmlformats.org/officeDocument/2006/relationships/notesSlide" Target="/ppt/notesSlides/notesSlide9.xml" Id="R451feb8e54c54e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7378d64e549ab" /><Relationship Type="http://schemas.openxmlformats.org/officeDocument/2006/relationships/image" Target="/ppt/media/image8.png" Id="R06c16a4db11f4166" /><Relationship Type="http://schemas.openxmlformats.org/officeDocument/2006/relationships/image" Target="/ppt/media/image9.png" Id="R5991feef20254933" /><Relationship Type="http://schemas.openxmlformats.org/officeDocument/2006/relationships/image" Target="/ppt/media/image10.png" Id="R279d8bb644644292" /><Relationship Type="http://schemas.openxmlformats.org/officeDocument/2006/relationships/notesSlide" Target="/ppt/notesSlides/notesSlide10.xml" Id="Rf4d22983a96f49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69bd9f0654294" /><Relationship Type="http://schemas.openxmlformats.org/officeDocument/2006/relationships/image" Target="/ppt/media/image11.png" Id="Rd63944f18e9a4622" /><Relationship Type="http://schemas.openxmlformats.org/officeDocument/2006/relationships/image" Target="/ppt/media/image12.png" Id="R95c8724776ef4703" /><Relationship Type="http://schemas.openxmlformats.org/officeDocument/2006/relationships/image" Target="/ppt/media/image13.png" Id="R688d53f2b34544f6" /><Relationship Type="http://schemas.openxmlformats.org/officeDocument/2006/relationships/notesSlide" Target="/ppt/notesSlides/notesSlide11.xml" Id="Rbe76033ed1e84f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64eb2b883442a" /><Relationship Type="http://schemas.openxmlformats.org/officeDocument/2006/relationships/notesSlide" Target="/ppt/notesSlides/notesSlide12.xml" Id="Rc6a8cf40496440a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7f7680ab14a8e" /><Relationship Type="http://schemas.openxmlformats.org/officeDocument/2006/relationships/notesSlide" Target="/ppt/notesSlides/notesSlide13.xml" Id="R48e8bcfd429b492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8a8ba719a4dad" /><Relationship Type="http://schemas.openxmlformats.org/officeDocument/2006/relationships/notesSlide" Target="/ppt/notesSlides/notesSlide14.xml" Id="R9d56e422e98c4f3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f9791940d4b5b" /><Relationship Type="http://schemas.openxmlformats.org/officeDocument/2006/relationships/notesSlide" Target="/ppt/notesSlides/notesSlide15.xml" Id="R67513425ab024de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1151e27624395" /><Relationship Type="http://schemas.openxmlformats.org/officeDocument/2006/relationships/notesSlide" Target="/ppt/notesSlides/notesSlide16.xml" Id="R7afadd3c9e144ec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ed85062a54a6c" /><Relationship Type="http://schemas.openxmlformats.org/officeDocument/2006/relationships/notesSlide" Target="/ppt/notesSlides/notesSlide17.xml" Id="R288bdeba96a74ee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0ce285c6d43ca" /><Relationship Type="http://schemas.openxmlformats.org/officeDocument/2006/relationships/notesSlide" Target="/ppt/notesSlides/notesSlide18.xml" Id="R6a371d497b87455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e501902494fb8" /><Relationship Type="http://schemas.openxmlformats.org/officeDocument/2006/relationships/image" Target="/ppt/media/image14.png" Id="Rb365438903f44d20" /><Relationship Type="http://schemas.openxmlformats.org/officeDocument/2006/relationships/notesSlide" Target="/ppt/notesSlides/notesSlide19.xml" Id="R402db9064ba44b6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980a005074d12" /><Relationship Type="http://schemas.openxmlformats.org/officeDocument/2006/relationships/image" Target="/ppt/media/image15.png" Id="R503df628d88749af" /><Relationship Type="http://schemas.openxmlformats.org/officeDocument/2006/relationships/notesSlide" Target="/ppt/notesSlides/notesSlide20.xml" Id="Rc595658053cf4fa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89dc54f124ea8" /><Relationship Type="http://schemas.openxmlformats.org/officeDocument/2006/relationships/image" Target="/ppt/media/image16.png" Id="R36e8ad8d37654b3c" /><Relationship Type="http://schemas.openxmlformats.org/officeDocument/2006/relationships/image" Target="/ppt/media/image17.png" Id="R4714552208b94df9" /><Relationship Type="http://schemas.openxmlformats.org/officeDocument/2006/relationships/notesSlide" Target="/ppt/notesSlides/notesSlide21.xml" Id="R92a9b86cfe434b9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57f07430244dc" /><Relationship Type="http://schemas.openxmlformats.org/officeDocument/2006/relationships/notesSlide" Target="/ppt/notesSlides/notesSlide22.xml" Id="Ra1e25b0175ff4a1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29bbffbf441d4" /><Relationship Type="http://schemas.openxmlformats.org/officeDocument/2006/relationships/notesSlide" Target="/ppt/notesSlides/notesSlide23.xml" Id="R98f9fe60436e4bf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1a451253549a2" /><Relationship Type="http://schemas.openxmlformats.org/officeDocument/2006/relationships/image" Target="/ppt/media/image18.png" Id="R5752bb07533c4063" /><Relationship Type="http://schemas.openxmlformats.org/officeDocument/2006/relationships/notesSlide" Target="/ppt/notesSlides/notesSlide24.xml" Id="R08a318296b5c491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c039c22ed4e6a" /><Relationship Type="http://schemas.openxmlformats.org/officeDocument/2006/relationships/notesSlide" Target="/ppt/notesSlides/notesSlide25.xml" Id="R93de833930894cb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5bb7c9c8540d9" /><Relationship Type="http://schemas.openxmlformats.org/officeDocument/2006/relationships/notesSlide" Target="/ppt/notesSlides/notesSlide26.xml" Id="R87db963bb81642b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e52402a16461d" /><Relationship Type="http://schemas.openxmlformats.org/officeDocument/2006/relationships/notesSlide" Target="/ppt/notesSlides/notesSlide27.xml" Id="R78031541b32c4b8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30a95b3194cbb" /><Relationship Type="http://schemas.openxmlformats.org/officeDocument/2006/relationships/notesSlide" Target="/ppt/notesSlides/notesSlide28.xml" Id="Rec62970026524cf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e740e25644dc0" /><Relationship Type="http://schemas.openxmlformats.org/officeDocument/2006/relationships/image" Target="/ppt/media/image19.png" Id="R029581a1a3e74876" /><Relationship Type="http://schemas.openxmlformats.org/officeDocument/2006/relationships/image" Target="/ppt/media/image20.png" Id="R56ece0b12cc14dcb" /><Relationship Type="http://schemas.openxmlformats.org/officeDocument/2006/relationships/image" Target="/ppt/media/image21.png" Id="Rcef9a0c80a524327" /><Relationship Type="http://schemas.openxmlformats.org/officeDocument/2006/relationships/image" Target="/ppt/media/image22.png" Id="Ra1768956527e43c4" /><Relationship Type="http://schemas.openxmlformats.org/officeDocument/2006/relationships/image" Target="/ppt/media/image23.png" Id="R4f1d2d510da941ce" /><Relationship Type="http://schemas.openxmlformats.org/officeDocument/2006/relationships/image" Target="/ppt/media/image24.png" Id="Re68eeff32aa944ce" /><Relationship Type="http://schemas.openxmlformats.org/officeDocument/2006/relationships/notesSlide" Target="/ppt/notesSlides/notesSlide29.xml" Id="Reeef790c7b2545f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702aed2f84beb" /><Relationship Type="http://schemas.openxmlformats.org/officeDocument/2006/relationships/image" Target="/ppt/media/image25.png" Id="Rb46053798f724cbf" /><Relationship Type="http://schemas.openxmlformats.org/officeDocument/2006/relationships/image" Target="/ppt/media/image26.png" Id="Rbac23e079d844b5d" /><Relationship Type="http://schemas.openxmlformats.org/officeDocument/2006/relationships/image" Target="/ppt/media/image27.png" Id="R9f7e614815ef4ea7" /><Relationship Type="http://schemas.openxmlformats.org/officeDocument/2006/relationships/image" Target="/ppt/media/image28.png" Id="R5fe0ab5ce6d54406" /><Relationship Type="http://schemas.openxmlformats.org/officeDocument/2006/relationships/notesSlide" Target="/ppt/notesSlides/notesSlide30.xml" Id="R696b3634ea664c5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94672e58849ac" /><Relationship Type="http://schemas.openxmlformats.org/officeDocument/2006/relationships/notesSlide" Target="/ppt/notesSlides/notesSlide31.xml" Id="Rfe0a9b81803149a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68C065-28C2-4AAD-A878-50C27E75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46B40-FA0B-46E9-8F1A-CBC8C060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94313-A5C6-4168-A214-3847EC00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19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PixelVAR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4E3A7-1E4B-48D4-BFDA-BD566CFF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619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Coarse-to-fine pixel-art sprite generation via palette tokens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2B735-0E35-4C40-A6E0-AE4FD13F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619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Rubric-aligned final presentation | COMP547 Deep Unsupervised Learning | June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5960C-8933-418C-9D90-FBCBE7DD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1500"/>
            <a:ext cx="3619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eb4086d7e448ff"/>
          <a:stretch xmlns:a="http://schemas.openxmlformats.org/drawingml/2006/main"/>
        </p:blipFill>
        <p:spPr>
          <a:xfrm xmlns:a="http://schemas.openxmlformats.org/drawingml/2006/main">
            <a:off x="7467600" y="980405"/>
            <a:ext cx="3543300" cy="394468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155D9-805B-45E1-B1E0-D08B9073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13811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505CD-CB50-4B21-8021-F920DED2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53BF5-D8E0-4431-931E-FC1C8786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00525"/>
            <a:ext cx="10763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32x32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E05D3-1E4A-4C6F-A783-CE12278E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10763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sprite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38EC2-01AE-4DEB-9746-02A40E59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21967-4FEC-42A4-97E1-D02FE6CD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95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3F88ED-8565-4496-BE68-996D1AF9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00525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16+alpha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674A0-F3D8-4987-9BA9-9FB93BFF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33900"/>
            <a:ext cx="12192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palette-token vocab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4AF185-B9F8-43FC-B074-0EB28AEB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957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8A0800-E8B3-46AD-9D6B-C5A2761A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957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192542-4B0B-4502-96C9-CE36F558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200525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0.00147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7EC000-8E96-4E09-B246-34192CEA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533900"/>
            <a:ext cx="1409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best sprite-feature 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114625-323C-4CE3-9C19-A6FB2A5C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628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Thesis: generate transparent pixel-art sprites directly in discrete palette-index space, then evaluate honestly with baselines, ablations, and memorization audit.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329E96-766E-4516-A4AC-6E6CE1C6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E8A713-03E5-4616-A13F-6655F3A4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Opening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AD4D8C-A968-4C4D-B922-6AE86549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1/12 main</a:t>
            </a:r>
          </a:p>
        </p:txBody>
      </p:sp>
    </p:spTree>
    <p:extLst>
      <p:ext uri="{BB962C8B-B14F-4D97-AF65-F5344CB8AC3E}">
        <p14:creationId xmlns:p14="http://schemas.microsoft.com/office/powerpoint/2010/main" val="17299584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FC4FCD-6C0B-49F4-ACCC-EBEC69EF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47C65-4650-4C5D-A8A2-FFD2C72D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C8BC6460-747B-4621-BFFD-262659EF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51F2F4F4-81DC-49A9-856C-F07F635A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PROBLEM + 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5ED54-177A-425F-84BB-BB3BDFA0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Pixel art is not just low-resolution RGB.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8706E-F13B-4C27-B5B9-8329E671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DEC83-0DBB-4981-8A87-BB9543A3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problem statement and motivation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B65F5-498A-45A6-89D3-3D977B3D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2/12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A42F1-2742-49CA-9DAF-707B7017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F7461-4933-4CBD-A942-924310C3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142F56-122D-4DDE-8ECE-33194B53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DCD6F7-76D0-43CA-9743-B4CB4ADF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838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Game sprites are labor-intensive assets. A usable generator should produce compact transparent characters, not just pretty pixel-ish pictures.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FCD4A4-5132-4C19-93BE-0E032D72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73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8684F-40A0-453A-ADEC-6C6F5EB0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73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33AE4F-B253-47AA-8ED3-6F5C55C6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669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Why it is hard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0A29A-19F3-45F9-BECE-F9801B11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47900"/>
            <a:ext cx="2838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Every pixel is visible. Small palette changes, anti-aliasing, noisy backgrounds, or broken silhouettes can make an output unusable.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57D52D-164E-43B8-8D02-08ACF045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57350"/>
            <a:ext cx="3143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1130E8-9E42-4FE3-B540-D6ACC6DF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573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AEFC4D-94D3-43FF-A797-9787245B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669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Our framing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CBEF06-4F75-4580-AADA-595F576E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47900"/>
            <a:ext cx="2838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Instead of generating continuous RGB and quantizing later, PixelVAR learns to generate palette-index tokens directly.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5732EE-760D-47E4-ADCC-DE474C99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2286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a90769dca4818"/>
          <a:srcRect xmlns:a="http://schemas.openxmlformats.org/drawingml/2006/main" l="0" t="18639" r="0" b="186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4038600"/>
            <a:ext cx="2209800" cy="15430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A411B0-17B1-4B43-AABF-B6FE3D77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33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976714-77E1-4587-BAAC-DE876550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57650"/>
            <a:ext cx="666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Transparent background is part of the object, not cleanup.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EBB722-7DA0-4971-A87E-8F1E6668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33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917A6D-F332-4EAA-936B-782AE18A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57700"/>
            <a:ext cx="666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 consistency should be native to generation, not a post-hoc repair.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B41673-7A44-41E6-8AA9-7F3414C0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33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19C06D-2A20-4EEC-A9B3-D4552F90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57750"/>
            <a:ext cx="666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A single misplaced pixel can break outlines or pose readability.</a:t>
            </a:r>
          </a:p>
        </p:txBody>
      </p:sp>
    </p:spTree>
    <p:extLst>
      <p:ext uri="{BB962C8B-B14F-4D97-AF65-F5344CB8AC3E}">
        <p14:creationId xmlns:p14="http://schemas.microsoft.com/office/powerpoint/2010/main" val="5184626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4C14F2-2322-4DBC-B2F8-355F5B80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2A718-F52C-40AE-881E-29CF25BE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046FFBAB-B552-49CF-93E3-6C64B213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275CFB7E-C14E-4B15-9FDE-D9971DCA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RELATED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8FABE-35C4-4747-B83A-63F7CC94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PixelVAR sits between pixel-art-specific generators and hierarchical image-token models.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F8C66-8D25-4354-8FE8-0188D65A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E2D0F-BF34-4C01-9372-C301A0BA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Rubric: related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51F19-70FF-413D-BB15-B4B2C9D1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3/12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A7EA3-D53A-4FBC-A9E7-6FCF81A4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76400"/>
            <a:ext cx="99060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B87EC-6387-4708-9481-74CA8C54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5260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Family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DCE58-4A48-4A17-9B0B-792B761A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5260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C526D0-3DC9-413C-BA5C-E34F814E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52600"/>
            <a:ext cx="481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Why it is not enough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DD6259-5650-4219-A511-59D36903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FF8C0A-7BFB-47E0-B86D-75D44428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76450"/>
            <a:ext cx="1962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Pixel-art GANs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A6D79-10B4-48CB-BF01-B46C3893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76450"/>
            <a:ext cx="272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Coutinho / MDIGAN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3F3D24-45BC-4971-B8EC-6B7318ED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4819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conditional or pose-based; not the same unconditional generation task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198615-6047-41DA-9E61-2C86126F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E89ACB-BEAA-40B7-B721-6DFE5DAA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D3510F-D38B-4005-ACC3-3B889082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57500"/>
            <a:ext cx="1962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Diffusion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BFFD91-6363-4FA4-A5AF-10447C8E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57500"/>
            <a:ext cx="272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SD-piXL, PixDiff-PIG, LoRAs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B1747F-2675-40B9-9079-07AF6E08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4819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continuous, prompt-first, or image-first; needs repair/normalization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2B1863-4D8A-43D4-A6CC-A7B2EA26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5C8394-055F-44C7-A28F-4F40E8E4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38550"/>
            <a:ext cx="1962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Discrete tokenizers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4DA91F-45AC-48E0-ACA4-240B130C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38550"/>
            <a:ext cx="272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 VQ-VAE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47E53B-587B-4CB5-B1CF-E5DDF750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4819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useful representation direction, but not a complete generator by itself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D9F960-E35E-4768-9D0D-0D515D9A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C10E49-9785-43AF-B72D-0125E4C8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BCEFEC-A394-46B8-A694-2AC9DCCC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19600"/>
            <a:ext cx="1962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Hierarchical 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4BEC1A-A550-43B0-BDB2-A21950E3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19600"/>
            <a:ext cx="272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VAR / HMAR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EB6FDE-1D8A-4EB7-9C97-2CE6ACD9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19600"/>
            <a:ext cx="4819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strong coarse-to-fine idea, but not aimed at tiny transparent palette sprites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581A08-2D86-4837-BE0D-FC03DFB0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57800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AC7D5"/>
                </a:solidFill>
                <a:latin typeface="Aptos"/>
                <a:ea typeface="Aptos"/>
                <a:cs typeface="Aptos"/>
              </a:rPr>
              <a:t>Our niche: next-scale prediction for tiny transparent palette-constrained sprites.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C67BD5-3132-4193-9147-495614BE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5310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Flat AR and MaskGIT still matter, but they belong in the baseline/evaluation section, not the opening literature table.</a:t>
            </a:r>
          </a:p>
        </p:txBody>
      </p:sp>
    </p:spTree>
    <p:extLst>
      <p:ext uri="{BB962C8B-B14F-4D97-AF65-F5344CB8AC3E}">
        <p14:creationId xmlns:p14="http://schemas.microsoft.com/office/powerpoint/2010/main" val="28734715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B70C76-FD40-4B4E-A762-712F0EF4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6A48F-05AE-4E50-A869-4301638A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5EA59C19-2E2A-4A40-ACEC-0CEEFF05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C836414F-196C-4901-9B48-E9196AC7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PROPOSAL CONTRACT AND FINAL PIVOT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D77F5-2C17-416C-8E2E-A7E5868C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What we promised, what changed, what we completed.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CCFAC-75F4-41C0-B151-97EE7C4B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F0B5D0-DEC6-4E03-B2C7-13DF0ED2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P1 0:45 - proposal 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6F79A-E530-40DA-8FA4-628C354E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4/12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8BFA4-9358-4DFE-9F5F-AFB740C8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64770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A7554F-FAEB-49E7-BBA9-0693598A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2486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Proposal component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9500E-2324-4278-AF7A-AC1CAC47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676400"/>
            <a:ext cx="1057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Final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3B105-4B25-4A03-A8B3-5785B093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76400"/>
            <a:ext cx="2533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Evidence / reason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73DC40-D9FB-4C0F-BB1F-216ABEBB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1D9F1-C915-4A2F-A1E2-1D6DAC27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2486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32x32 sprite dataset + preprocessing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23E387-4749-49AD-90A0-811527C4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00250"/>
            <a:ext cx="10572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2CDF7-E321-4ABA-B59D-9CDB1340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0250"/>
            <a:ext cx="2533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MSD replacement, grouped splits, Pokemon/OpenGameArt support paths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B20AA8-DF6E-45CD-A4E6-A7D335B5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3EA2C5-2001-4796-B6A7-EEEC582F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647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C5939E-D48B-437D-9B69-48198B94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486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VAR Option 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E0D7B7-2D9C-4961-A53D-0A019FAF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571750"/>
            <a:ext cx="10572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EA6843-DFCD-4D33-8D3E-8C1061E1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71750"/>
            <a:ext cx="2533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checkpoint: var_sprites_v0_full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9CE816-647E-44FA-BB68-5AD6627C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D3872F-04C3-4C5C-A897-D43C27B0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2486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Option 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96CE74-D5E7-4DDF-B55C-D45A37A9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143250"/>
            <a:ext cx="10572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1FA0CA-9A72-40EA-B57A-DA1921D2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2533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1/2/4/8 refinement-step ablation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306404-5408-4C66-A34B-A6CD4600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ABE063-20A2-458E-8F8B-024068FC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647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7A13F5-9F65-417A-89DD-4EADC7EC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2486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Baselines + known metrics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EB8913-52F0-49B6-AC1C-C4202C73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714750"/>
            <a:ext cx="10572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945F62-CDE8-48D3-A999-F063F202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14750"/>
            <a:ext cx="2533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AR, MaskGIT, metrics, audit, external rows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370F56-2BB0-45EA-87CB-CB1ED417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A348C8-6761-4914-8EBB-7B8C6762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24860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User study / 64x64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578E28-F7BD-4FCD-9641-D9346FE8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286250"/>
            <a:ext cx="10572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FUTURE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BC45D2-762A-403E-B057-578543C2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86250"/>
            <a:ext cx="2533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not claimed; disclosed as next proof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8A8F89-5F9C-445B-81F0-DF720D10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19250"/>
            <a:ext cx="37147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A5B5A4-BA4D-40EF-8947-2416B2BC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19250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A828AF-8866-495C-81A3-A2B572EE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28800"/>
            <a:ext cx="3409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Tokenizer pivot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E89129-C734-43B6-8988-E70877B9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09800"/>
            <a:ext cx="3409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Proposed neural multi-scale VQ-VAE -&gt; implemented/tried, but reconstructions were too soft or ghosted for pixel art. Main result uses deterministic palette-token pyramids because crisp exact pixels are the domain requirement.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4482D0-3826-4A60-9351-AB23BB9C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3714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D8DA0F-8EA4-40AB-8BB2-698C3EC7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57650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C7025B-2842-4EAA-AA46-423292D5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67200"/>
            <a:ext cx="3409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Code state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277866-C449-406A-886A-338E0B80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48200"/>
            <a:ext cx="3409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Present codex/pixelvar-external-baselines as the final working branch. Do not describe main as the final code state; main is older than the completed reports, Modal actions, evaluation artifacts, scripts, and tests.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8771AB-AA90-450F-A7EC-42EDB214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This slide prevents the wrong interpretation: the VQ-VAE path was not hidden; it was tested, judged too soft for the domain, and kept as a learned-token ablation rather than the main result.</a:t>
            </a:r>
          </a:p>
        </p:txBody>
      </p:sp>
    </p:spTree>
    <p:extLst>
      <p:ext uri="{BB962C8B-B14F-4D97-AF65-F5344CB8AC3E}">
        <p14:creationId xmlns:p14="http://schemas.microsoft.com/office/powerpoint/2010/main" val="18565925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415E8B-4DFB-4A8D-A8FB-D1D9ECFD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5A389F-B693-482A-9477-FF122DBD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5A4139A1-08B3-4110-B11E-E5A13D7D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28417B65-C64F-4FC6-AEC4-470C3B9F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FC856-A28C-41B1-B0B5-F079EA10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PixelVAR generates a six-scale palette-token pyramid from coarse silhouette to final sprite.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979A1-E5D2-4C84-A1CB-47E01EE8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5A48A-A086-461A-8601-8594BF4A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P2 1:05 - methodology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3F458-5F5E-4910-A512-4DF2DB0A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5/12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24BA4-5E03-4992-B1F9-DE7685AB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1x1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B8A34-73AF-4639-B088-02A9AFFC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3550"/>
            <a:ext cx="2533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ECF27-DA18-4883-9A57-41263B5F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3550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BC7A74-388C-4299-B2FD-DD6E1D9B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6859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A3C291-A7A1-4C5B-992F-54F65AEC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01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2x2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BCF306-9A5D-450E-B04C-A0B58CF2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08200"/>
            <a:ext cx="2533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69948B-BAF9-4A33-8271-88EDD118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08200"/>
            <a:ext cx="989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6EFF15-7F17-4083-A55E-CF62405E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605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E02A23-AD73-4885-B3D2-81083440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447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4x4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4D0C36-6420-4F7C-AEAA-47FB67AD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82850"/>
            <a:ext cx="2533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22D007-4176-4C00-BA4C-575294E3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82850"/>
            <a:ext cx="3958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7606C4-11C3-4290-B802-8758D8EF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352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7E3646-9CF7-48F1-A40C-D475EC10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8x8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B1A6D5-407E-4903-80BA-86447031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2533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6C2939-3480-48B9-95D8-F32F06C4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15835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5C40CD-0ED7-43C2-BF4B-63AD9D1B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098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8337FE-6870-4E0C-8B7F-7EC74938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940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16x16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61C963-449A-4191-9813-B43456A8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32150"/>
            <a:ext cx="2533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88E8E8-8264-428F-BB79-B1F96F2B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32150"/>
            <a:ext cx="63341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6ABE68-D9D9-43ED-B453-C5564E44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845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560186-77C3-4CDD-9572-5B4FBF8A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87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32x32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696EE5-D09D-4110-95C6-95716949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06800"/>
            <a:ext cx="2533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780D72-A4E9-4EC7-BDEF-FBD0D99B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06800"/>
            <a:ext cx="2533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6C12EA-6BCE-4B73-9EB1-7F88B188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5591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1024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89A42D-0B29-4476-9C63-50AA4617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38300"/>
            <a:ext cx="59055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8A8EB3-419F-4D75-82F4-7FD8A0C1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Path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408B02-AF84-4810-80B5-F5EDC144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3295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Generation rule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99B2A0-BFE3-472D-A7AD-B2ED9009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145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4FE092-6EA9-4043-B29F-DEAF1D41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621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3DCA85-E7FB-4D74-AF2F-32D95C26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38350"/>
            <a:ext cx="1009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92E6D3-0BD9-4BB7-ABDD-3BF19095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3295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predict each next scale conditioned on coarser scales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C5AF2C-EFEF-421E-A9E3-C55C574D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3835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result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8F9612-B79E-4DFF-9F08-D7934DEE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146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87AAE8-E9B2-4A92-A452-6998A5FC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146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E6EC5F-C514-4435-845F-6D4BBC63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90800"/>
            <a:ext cx="1009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849ED3-9CB2-41B9-823B-41E57384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3295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mask/refine tokens within each scale for T steps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1469D3-99D1-42D0-AEF1-DDA4CB69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908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proposal Option 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28AA47-9BEE-40A9-9A7F-646B12EC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6705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2EB5D4-F869-470B-A76C-644E6243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1009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AR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9FE427E-619E-4217-9EB9-5B87D2F2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3295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raster-scan final 32x32 grid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8F1DBB-1267-432D-A7ED-43D68D8A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simple baseline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9C2495-663E-4654-931B-D4796BD3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0"/>
            <a:ext cx="590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74D2388-C06E-4CC9-B85F-7DBF87D8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4B37D6B-0D69-45DC-AB47-57D9057E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95700"/>
            <a:ext cx="1009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MaskGIT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3473C74-FA28-48D2-B6E4-59DF6670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95700"/>
            <a:ext cx="3295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masked final-grid parallel decoding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53DB839-BB9B-4650-B549-FFCD7EB3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957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masked baseline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4000E8-1FAD-4E7C-B974-3BE13816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4381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1125DCD-F7F8-4538-9E72-969983BA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Token contract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312237C-57CD-4699-8377-56276E55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95800"/>
            <a:ext cx="3200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E900021-C698-4344-8CAD-9094C5D4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9D99C51-06F0-4810-A622-F28964B3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B9B451A-311A-417D-A801-20546FFA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819650"/>
            <a:ext cx="3200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transparent background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B4E390A-A68E-47B6-A9C7-9F5B0488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56C3D45-175B-4B21-9417-F4063079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62550"/>
            <a:ext cx="438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7E174B0-DF03-476B-BD21-5F9B7D23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1..16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4AEA489-B0C7-42DA-8F38-8FF161D7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238750"/>
            <a:ext cx="3200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fixed palette colors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9F79858-D35F-45C6-9670-B613C88E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0332962-E761-4400-9216-E7FC1AEB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578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mask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D7B3FE1-9902-4F78-8773-C52EF776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657850"/>
            <a:ext cx="3200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missing token, separate from transparency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015F59B-F16B-469A-AC31-2E2A740A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234CCEB-F37A-4832-8551-1E713C50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0"/>
            <a:ext cx="438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8316BAB-F0D1-4AB1-8BB3-A49CD317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69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1,365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623B54D-542F-4774-A6E7-10581AF8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076950"/>
            <a:ext cx="3200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total tokens across 1x1..32x32 scales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58A25FA-1518-4404-A96E-2A4E491F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24350"/>
            <a:ext cx="44767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1731FEB-4197-4200-B3D4-A5C3B520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24350"/>
            <a:ext cx="447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ACDE078-68A5-4BD6-BAA1-170755A8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33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737A1E1-D96E-4B9D-92B6-3254A933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14900"/>
            <a:ext cx="4171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The model never has to repair palette membership or alpha afterward. The representation makes transparency and color membership native parts of generation.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BA8134A-A9C1-4D50-B91A-8CA607B4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340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4B363"/>
                </a:solidFill>
                <a:latin typeface="Aptos"/>
                <a:ea typeface="Aptos"/>
                <a:cs typeface="Aptos"/>
              </a:rPr>
              <a:t>This is the core 30-point methodology slide: representation, hierarchy, and baseline paths in one place.</a:t>
            </a:r>
          </a:p>
        </p:txBody>
      </p:sp>
    </p:spTree>
    <p:extLst>
      <p:ext uri="{BB962C8B-B14F-4D97-AF65-F5344CB8AC3E}">
        <p14:creationId xmlns:p14="http://schemas.microsoft.com/office/powerpoint/2010/main" val="20588459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6B12F2-FAEB-4837-B993-9FF45EEA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B8B4E-74DF-41CF-8DB6-8281413E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DBE94DFC-2C7C-491C-96AD-D7AF8CA1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B8FF2CB2-DFF8-4686-9177-43D1FAFA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EXPERIMENTAL SETUP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FB056-C57C-4A2E-9EF0-703D42DE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Evaluation uses a fixed 32x32 sprite protocol, grouped splits, and three layers of metrics.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73DCE3-5051-439A-B629-0A289F4E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99A19-ACA0-4946-AB3F-B91AB38A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P2 0:45 -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44B73-728C-458E-8D19-06AF442D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6/12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3629C1-4C55-4A98-8F3E-D951C926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99C29-B2D3-456E-BE4A-DBB3143F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CD441-89CD-45C0-A377-266117AE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04975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93,312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ACF92-20E7-41EC-8A85-898F1443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16954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MSD replacement sprites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FEDEF-AD90-4FED-8967-7B6DD2B8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002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DCD176-0E6B-47A9-8970-30C5B83C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00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D3D31-4CE7-48CA-A61A-95C1B7F9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0497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74,664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472737-46E0-49E9-86D5-B979B7A5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38350"/>
            <a:ext cx="1123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E7DADA-3FC5-419A-AFB2-D2D6621A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002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26F67E-C807-46CD-A469-7D6B494C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00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7E599B-B999-475A-A758-004C7789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0497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9,360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561BCB-8740-49A7-A085-BA6BF293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38350"/>
            <a:ext cx="1123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0AB51A-BCA1-4479-B6CE-69D032E8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002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1E494A-FE5A-47F0-8DD1-C490E0DE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002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F71FA0-0B1D-401C-855E-194657D2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04975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9,288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79E13E-38AB-4767-8338-5D06D0BF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1123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DA665C-4ED6-4FC3-8D5F-D5DB06EA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3147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356B89-94FB-4C50-A579-C9F52119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314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3FAB04-4569-4BFD-817F-07BD4A44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Data protocol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691B85-1495-40F6-ABFE-9EB59818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3009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All main outputs are 32x32 transparent RGBA sprites decoded from palette-token maps. Splits are grouped by character attributes to reduce leakage.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D07199-50F4-45A0-BD66-BB2872AD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33147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A41DBA-3A07-4823-A19E-416BF32C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3314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D8F203-8C7A-49AB-8A08-334DF967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670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218501-2154-4D73-9100-EB1610A4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48050"/>
            <a:ext cx="3009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Three layers: sprite-specific feature score, standard image metrics, and exact-match audit. Acronyms stay in backup unless asked.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26CE98-5726-4731-8B70-89BA0921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33147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6F1F7C-B3C3-4F9B-BBDC-5DBE21FA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3314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7C7FDE-ED42-4D46-BA33-800FACEE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670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Baselines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79E240-4097-452E-8316-51BE0F28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30099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Internal: HMAR, Flat AR, Flat MaskGIT, generated/mixed, Patch-VQ. External: SD-piXL, SSD-1B, Pokemon sprite LoRA.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106B1E-8FD3-45E9-90B7-7975163D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981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The audit is not an appendix-only detail; for tiny sprites it is part of whether a quantitative conclusion is trustworthy.</a:t>
            </a:r>
          </a:p>
        </p:txBody>
      </p:sp>
    </p:spTree>
    <p:extLst>
      <p:ext uri="{BB962C8B-B14F-4D97-AF65-F5344CB8AC3E}">
        <p14:creationId xmlns:p14="http://schemas.microsoft.com/office/powerpoint/2010/main" val="19926092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5BC8A3-5BA5-4BB8-8B1C-4E637E32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3EFAD-0B61-4BDB-A3B2-A8D3AE6F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F2D7B13A-CE67-4311-8153-69F3DF8B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D6554031-536A-453E-A6BF-30046DCD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MAIN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18641-A4E5-43ED-9093-FA1A6E44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selected PixelVAR checkpoint produces compact, palette-safe 32x32 sprites.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1AEDE-BFD6-4D2E-9E0D-31A35421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C1160-8B74-44FC-A25F-A496E0BA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P2 0:55 - main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C9B67-2DF7-4069-8A67-2102F459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7/12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740368-099B-468C-A960-AF1D1A2D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af44886c243b2"/>
          <a:stretch xmlns:a="http://schemas.openxmlformats.org/drawingml/2006/main"/>
        </p:blipFill>
        <p:spPr>
          <a:xfrm xmlns:a="http://schemas.openxmlformats.org/drawingml/2006/main">
            <a:off x="714676" y="1504950"/>
            <a:ext cx="4209448" cy="46863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28ABB-32AD-4F5A-BE1B-07294679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485900"/>
            <a:ext cx="53340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ea305d2264484"/>
          <a:stretch xmlns:a="http://schemas.openxmlformats.org/drawingml/2006/main"/>
        </p:blipFill>
        <p:spPr>
          <a:xfrm xmlns:a="http://schemas.openxmlformats.org/drawingml/2006/main">
            <a:off x="6500813" y="1524000"/>
            <a:ext cx="3838575" cy="2362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7D092-4695-4A2E-8AEC-A25769C9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053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484F6-0DFE-4010-B66A-64A1C897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05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61AC71-E74C-4D9F-B389-6D7DE380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10075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0.00147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3BFB5-E223-49C8-8AE2-218916EA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43450"/>
            <a:ext cx="1409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sprite-feature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465026-F9A8-476D-A54A-27E16EC1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95850"/>
            <a:ext cx="1409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lower is better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902465-701B-4400-850B-76FA6206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053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045EB2-7A21-4F2B-AD9F-31D5CA71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05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017A42-68B4-4B71-98D4-6CC39C03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10075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8A4D55-01A7-4B0F-9721-D4F3FC5C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43450"/>
            <a:ext cx="1409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palette consistency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D9A278-A5FF-40E9-A149-C74053FF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14097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expected from tokens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C941C2-9B38-4C5D-AEB1-3A6FDE7B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305300"/>
            <a:ext cx="152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58AD69-29C4-40BB-9734-5EC7C6B1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3053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114989-0429-4028-8CAE-886536F6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410075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E68117-4A7C-4B46-BBE2-003D9D4E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743450"/>
            <a:ext cx="12192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edge density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8D3198-A5ED-4937-8C2B-F12F51F0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895850"/>
            <a:ext cx="1219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real val 0.1811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20EC1F-9D45-491D-81B4-CDAF61B5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429250"/>
            <a:ext cx="495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Best sampling: temperature=0.8, top_k=8. Palette consistency is important, but it is expected from the discrete representation, so we do not oversell it.</a:t>
            </a:r>
          </a:p>
        </p:txBody>
      </p:sp>
    </p:spTree>
    <p:extLst>
      <p:ext uri="{BB962C8B-B14F-4D97-AF65-F5344CB8AC3E}">
        <p14:creationId xmlns:p14="http://schemas.microsoft.com/office/powerpoint/2010/main" val="102333603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7BA9EA-64A7-4468-AA13-B2B8C922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2F7F3-9E43-4E15-8F99-DBBAF663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AD291271-6B6E-4A7A-9350-9F457B59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F82AB491-E037-412B-8B53-7893FF8F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ABLATIONS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64794-C136-4D98-BC33-1F472FE8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HMAR worked, but more refinement did not help.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136AE-B87B-4569-BA9D-1C0A22E9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E9D95-6021-4C17-A4E8-1339BD61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P3 0:50 - ablations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57449-E87D-4F80-8777-118BDE38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8/12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01BAF-9E9A-40BB-BC78-14BDF1CF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56197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128adeb684fae"/>
          <a:stretch xmlns:a="http://schemas.openxmlformats.org/drawingml/2006/main"/>
        </p:blipFill>
        <p:spPr>
          <a:xfrm xmlns:a="http://schemas.openxmlformats.org/drawingml/2006/main">
            <a:off x="650264" y="1524000"/>
            <a:ext cx="5462221" cy="27051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CEAF05-2CAB-4EF1-B0C9-AED0B419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9B1DC-16B5-41BE-9C59-0CE4E15A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80380-BF9B-491A-8519-D9344283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41903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B5FFCE-1E8D-45C5-BC73-C1B30A19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7049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0.00147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C3C8D-31F8-4E1A-BA99-9D7E52B0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145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AF4543-E5CD-4F9D-A742-A77114E6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5265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B165B-6AE4-4784-BF62-EFBE9B69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52650"/>
            <a:ext cx="53875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E46CE2-BEFA-4ED5-9854-3C2A2A8C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1050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0.00189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2BA4E9-59FA-48B6-9E0A-CD825D7A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146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2163DE-4D50-4A24-9F40-C2266C3D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07BB49-01D0-4DCF-BACF-BCBDC21A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52700"/>
            <a:ext cx="106610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353948-61A5-458F-AD01-F7C5EB84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5050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0.00374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5AB6CC-5827-4131-BE4E-0C769B68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 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B6F448-1BBF-40C5-B2B0-6C2FCB33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2EE3D1-48F0-4DFC-8893-FB34C007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1043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1FD8F5-1683-48DE-8502-5158753C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9051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0.00366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A17C8D-389F-4C9D-9E1D-2F0F74AF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147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 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33B885-0E58-420E-8F54-922E8B0A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0552CE-BB29-4E0F-A2AB-7868189E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2343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0A528D-EFF4-4980-95E3-FA332331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3051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0.00822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929BA2-D837-4E62-91A2-154D4E8C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14800"/>
            <a:ext cx="45720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4E5FAC-288A-45CB-9C07-C609E918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Branch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F8B6F2-7AFA-4C16-8548-3556F035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43B0FD-090C-4E4D-A49B-C1911CFE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386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888FBD-F37C-4526-AD24-F1DFA8AF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1485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Generated/mixed data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A708D7-6CD7-417E-8CB2-BBD3508A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14850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larger data did not improve real-validation score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652791-D3FC-4EF1-A999-E3A8FC01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744EE6-AA6E-4039-8102-DB2E84EC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457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3762CD-3992-4EDA-A9EA-514A88DA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2920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OpenGameArt mixed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49F49E-47F3-464A-B7A2-FBB2A943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29200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pipeline useful, distribution mismatch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AD5799-4154-4023-9FDC-0204BBBC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673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07817E-C726-4258-9C68-BA4754AD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4355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Patch-VQ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BBB6E5-EE48-4A0B-9278-9368E196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543550"/>
            <a:ext cx="2819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learned-token path worked but was blockier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1AE656-4066-42A7-B824-0543C380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9110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lesson: more refinement and more data were not automatically better in this low-resolution palette-token regime.</a:t>
            </a:r>
          </a:p>
        </p:txBody>
      </p:sp>
    </p:spTree>
    <p:extLst>
      <p:ext uri="{BB962C8B-B14F-4D97-AF65-F5344CB8AC3E}">
        <p14:creationId xmlns:p14="http://schemas.microsoft.com/office/powerpoint/2010/main" val="183047175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56D902-EC48-4D76-884C-1212017B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63CB0-3E63-45C7-8EB5-A10779AD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8D3977B4-9B94-4AA9-AC61-D147590D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C299E3C2-9B98-460A-BAC9-DD83BA03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METRICS +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187B5-D063-4CA7-AAB1-BC9EE1A5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Raw FID would pick Flat AR; the exact-match audit changes the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B8BAC-9BA1-49C3-B5BD-A2257EB7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D1FDF-414C-40F3-8189-50FAE652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P3 1:10 - centerpiece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3C89D2-74F2-49D4-9BB8-B2823F4D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9/12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A0E39-389C-4630-9246-1B9D6E79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47625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cdbde5d9d4b22"/>
          <a:stretch xmlns:a="http://schemas.openxmlformats.org/drawingml/2006/main"/>
        </p:blipFill>
        <p:spPr>
          <a:xfrm xmlns:a="http://schemas.openxmlformats.org/drawingml/2006/main">
            <a:off x="635397" y="1504950"/>
            <a:ext cx="4520406" cy="25527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C9540-A3CF-4069-867E-31A6E96B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66850"/>
            <a:ext cx="495300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3285dffc764588"/>
          <a:stretch xmlns:a="http://schemas.openxmlformats.org/drawingml/2006/main"/>
        </p:blipFill>
        <p:spPr>
          <a:xfrm xmlns:a="http://schemas.openxmlformats.org/drawingml/2006/main">
            <a:off x="6084570" y="1504950"/>
            <a:ext cx="4594860" cy="25527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AF32A-14C0-46FD-BA3D-C3D36CCB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00550"/>
            <a:ext cx="8572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616E7-2E8A-41AA-B7C7-6C298FA7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7675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A10A93-F545-4D89-9DDB-F1D08678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47675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2BAD3B-AFA3-4A3F-91AE-2CA9F904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767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Val exact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651E7F-53B4-4170-8674-11D7AF4E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767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Test exact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E1970E-5D73-48B3-B8FF-9D401497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76750"/>
            <a:ext cx="3581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Audit-adjusted read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A9E285-9835-4A74-9ABF-486B5363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244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9EA675-9D2B-4D14-897F-E3202F05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00600"/>
            <a:ext cx="1962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raster 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79D5D1-5393-4901-AB22-0F269BEA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00600"/>
            <a:ext cx="72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9.36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D783CA-0A20-4613-ABB9-09672601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006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365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1B68F5-BC9F-4CFD-999B-7A4CDB44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006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333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3762FF-9D49-44F1-AF07-172C3C4A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00600"/>
            <a:ext cx="3581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memorizing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3CED44-8013-4F55-AC58-352CE211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482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AB3E68-40E3-45CD-B1BF-4F0823CE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48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0C3B05-EA10-487F-AB30-43248F19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24450"/>
            <a:ext cx="1962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step=1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F504A6-A5E9-40A2-A566-7D69C974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24450"/>
            <a:ext cx="72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12.66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09F82A-0B8D-4CE5-A5ED-B788F135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1244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579170-0F87-40B6-B8D2-84712149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1244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51D583-1C40-47CD-ACCE-89195BAF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24450"/>
            <a:ext cx="3581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keep, disclose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8BC593-FB72-4765-A8AA-0BE61621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721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B234C0-DC30-4414-B88C-79005E72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448300"/>
            <a:ext cx="1962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5EA35C-6D80-4F22-88D9-50C9AC38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448300"/>
            <a:ext cx="72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13.25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1BCFFB-0899-4735-92D3-42891D1E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483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DFDF52-BCFA-475E-9E0A-800C0ABF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44830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E8A3E0-A946-4FAF-930D-2936AB6F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48300"/>
            <a:ext cx="3581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keep, main result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A607F3-2187-4A96-B2A5-240A6AFA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959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83BFF5-6273-491A-824A-9C45A3C7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959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390183-BEA6-40E4-847E-E2744993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772150"/>
            <a:ext cx="1962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MaskGIT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849C76-0D98-48C0-93DF-B036A75D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772150"/>
            <a:ext cx="72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67.39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1558DA-02FD-4956-B56D-D9EDF6BC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7721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3FB290-200C-452B-A5B0-E9D2F22D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772150"/>
            <a:ext cx="819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20CBD2-1CFF-4E8F-B1CA-F971F3B4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772150"/>
            <a:ext cx="3581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weak coverage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142178-997C-44F3-BD19-6DEA5EC7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96265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The dataset had zero cross-split exact duplicate hashes, so held-out exact matches are not explained by simple split leakage.</a:t>
            </a:r>
          </a:p>
        </p:txBody>
      </p:sp>
    </p:spTree>
    <p:extLst>
      <p:ext uri="{BB962C8B-B14F-4D97-AF65-F5344CB8AC3E}">
        <p14:creationId xmlns:p14="http://schemas.microsoft.com/office/powerpoint/2010/main" val="133219999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A09600-0E97-419A-ACEE-AA429FA3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F9DFD-BBEB-431C-9141-DCE590B4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106823C2-76E1-4C0A-8441-D21FC362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AA6BED5B-21AC-468D-B549-045D58FC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EXTERNAL BASELINES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93601-2566-41CF-99CC-D1910B10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External generators failed the normalized 32x32 sprite protocol.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07C3F-E76E-4596-B1BF-C233B0C5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7607A-6733-4536-8D8F-EEA8CCE7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P3 0:55 - external baselines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FC53D-B2F1-4B61-9266-B40BD8F5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10/12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31062-A422-4DB7-8C32-2B048F7C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256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45C1D0-1C39-4634-A952-8C5F4F96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954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EF77A-D90B-4B19-943B-671D94F3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95450"/>
            <a:ext cx="199252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8708A-31ED-43EA-BAB5-EEA952F6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478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46.5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46B901-B1BD-4EC2-BA7B-E78C6A3B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LoRA 256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C199C-03AD-4A5C-8FC9-FD303655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764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DEE7DC-4973-4EE7-BE4A-B881FFE2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076450"/>
            <a:ext cx="66021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442B3B-2F44-4311-B3F9-BCBB3F4C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288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154.0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EBB4D6-9D3E-4789-A375-18DE61BC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diffusion 256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8F4B1B-48D2-406C-8DAB-C3C3D92A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574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12157-9210-465B-A25F-D357C718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57450"/>
            <a:ext cx="679806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A39A44-211A-48FE-A672-270986FD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98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158.6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4855ED-0919-4A3E-BF9E-BDA2E53C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 16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2EDC30-06EF-4046-A687-BFF3D9FB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384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753BF6-2643-4C59-9EE7-A88462C1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384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759DFA-D07A-44B1-BD2F-C8B0E1E9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908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497.7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0BAF33-484A-434E-8B02-56E491E6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256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315BCA-7501-471F-A1FD-C044C4D8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147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FF42F5-DECB-440D-B47C-8CC04D73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7147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F35DDD-423C-41FE-ACB3-4513E556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671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0.891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D7A732-6621-4A29-A9AC-2C0312B7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3838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LoRA 256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527C60-D3A2-4269-9997-D7B8AEDC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71938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B095B9-8CBC-4DE8-BD3F-6BC11022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71938"/>
            <a:ext cx="12170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779540-8AE6-493A-BAE2-FB0933CF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24313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0.051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F3953B-6133-48A8-A7FB-8E802592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91025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diffusion 256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5892BB-B080-48E9-8E2C-55158267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29125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D100BD-EF96-4525-A583-53921C96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29125"/>
            <a:ext cx="84328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C85EE0-1750-4968-BC51-8ED9A968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815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0.035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3AF24B-2D45-40BE-A9E6-59FB976D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48213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 16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67DD30-D8C6-4C7A-8F8D-9FFB5CAA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86313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D182F2-F1BC-4BE1-ABCA-9BCE83B4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86313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328F11-E905-4AE8-9B7B-A2C70AE1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38688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0.000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AAD67E-AA78-4B3F-AAE0-9046901C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FID lower is better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29DBE5-5B20-499F-BB3E-00F4D7B9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Coverage higher is better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7E8C4B-B8A9-4ED3-A4CB-E975ED0D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2400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16a4db11f4166"/>
          <a:srcRect xmlns:a="http://schemas.openxmlformats.org/drawingml/2006/main" l="0" t="40159" r="0" b="401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48350" y="1562100"/>
            <a:ext cx="4781550" cy="104775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B3292C-1F94-44E7-9DA4-63EE1AFD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1feef20254933"/>
          <a:srcRect xmlns:a="http://schemas.openxmlformats.org/drawingml/2006/main" l="23155" t="0" r="231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48350" y="3067050"/>
            <a:ext cx="4781550" cy="104775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E08297D-4F70-4C6F-B4D7-F20B5927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3390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d8bb644644292"/>
          <a:srcRect xmlns:a="http://schemas.openxmlformats.org/drawingml/2006/main" l="23155" t="0" r="231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48350" y="4572000"/>
            <a:ext cx="4781550" cy="104775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764F37A-0E45-44A5-869A-BA142C76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1809750"/>
            <a:ext cx="781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PixelVAR</a:t>
            </a:r>
          </a:p>
          <a:p xmlns:a="http://schemas.openxmlformats.org/drawingml/2006/main">
            <a:pPr algn="ctr">
              <a:defRPr sz="900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clean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5A373C9-71DD-4441-8675-A416F880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31470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Pokemon</a:t>
            </a:r>
          </a:p>
          <a:p xmlns:a="http://schemas.openxmlformats.org/drawingml/2006/main">
            <a:pPr algn="ctr">
              <a:defRPr sz="9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frames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7867A51-EB7B-4BF1-AEE9-5EF7D6B5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819650"/>
            <a:ext cx="781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SD-piXL</a:t>
            </a:r>
          </a:p>
          <a:p xmlns:a="http://schemas.openxmlformats.org/drawingml/2006/main">
            <a:pPr algn="ctr">
              <a:defRPr sz="90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failure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F13322-E09B-449E-BF4D-90DF8FA5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We do not claim perfectly equal baselines. The safe claim is narrower: accessible diffusion-style baselines did not beat PixelVAR under our normalized 32x32 RGBA protocol.</a:t>
            </a:r>
          </a:p>
        </p:txBody>
      </p:sp>
    </p:spTree>
    <p:extLst>
      <p:ext uri="{BB962C8B-B14F-4D97-AF65-F5344CB8AC3E}">
        <p14:creationId xmlns:p14="http://schemas.microsoft.com/office/powerpoint/2010/main" val="182928758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2FD281-0531-4D74-A280-DD39C284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5C1EF-449A-47A4-B43C-AD1FB7E6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384819A9-4648-4A61-8578-62702F94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6C9903B9-A08B-415B-8180-4F115E6C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SCALE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4F2B6-8D6D-41CE-A85C-1112BD74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A 170K generation pass shows the sampler remained stable at proposal scale.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22074-0956-4ED2-8D0F-D65856CC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178DF-03CA-4C51-A87B-E83B7D2B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P3 0:30 - generation scale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0BB2E-6C29-459B-A00F-23D27A8D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11/12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D5C09-886F-4371-95C3-40819CB8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128DA6-F496-465C-A143-AA48257D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9857B1-970F-434C-8B9D-B4D9C039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62125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170,000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3B000-FDCC-4F5A-839E-BD2A96CE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885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generated samples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43B71-AC69-4364-8F68-4DFAFDCD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573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0788FC-7054-4D5B-BDE2-3B3AF70D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573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B514E5-7CE0-40C0-A3FD-8BE1D744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62125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161,479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3E1B6-3AF4-46ED-BD42-60396FF1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95500"/>
            <a:ext cx="1885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automatic keep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BAF829-CC39-42A6-97EF-F18380B6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47900"/>
            <a:ext cx="1885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94.99%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8A7C4A-B685-4622-B5DA-2F8D5AC7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573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333E08-6E49-4FBE-BD60-C287A788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6573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0E1156-2D90-4271-A1E9-B075AF35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8,500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A5804C-C5A8-4822-80B6-4462DE1E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1885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review bucket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06EDEF-D7BA-46E7-9CD5-461AD495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1885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5.00%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5B33FB-0F46-4EDE-9077-6CE0E0D9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42EA5B-DCDF-41E3-8E3F-FA88F660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D06299-7003-498C-BBE0-6AEB5267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62125"/>
            <a:ext cx="1885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7DB213-EF18-4909-85E2-1D2831E6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18859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reject bucket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521A46-D539-4950-A3BE-742A3F68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1885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A5851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5851"/>
                </a:solidFill>
                <a:latin typeface="Aptos"/>
                <a:ea typeface="Aptos"/>
                <a:cs typeface="Aptos"/>
              </a:rPr>
              <a:t>0.01%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4873E5-513C-4C2A-A816-F4D760E8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3048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3944f18e9a4622"/>
          <a:srcRect xmlns:a="http://schemas.openxmlformats.org/drawingml/2006/main" l="0" t="23077" r="0" b="230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3124200"/>
            <a:ext cx="2971800" cy="16002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860E8A-4441-4F6A-9B79-D0895FE2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86100"/>
            <a:ext cx="3048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8724776ef4703"/>
          <a:srcRect xmlns:a="http://schemas.openxmlformats.org/drawingml/2006/main" l="0" t="23077" r="0" b="230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62450" y="3124200"/>
            <a:ext cx="2971800" cy="16002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C100A0-7D0F-4427-9E2F-2673957D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86100"/>
            <a:ext cx="2667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d53f2b34544f6"/>
          <a:stretch xmlns:a="http://schemas.openxmlformats.org/drawingml/2006/main"/>
        </p:blipFill>
        <p:spPr>
          <a:xfrm xmlns:a="http://schemas.openxmlformats.org/drawingml/2006/main">
            <a:off x="8001000" y="3438525"/>
            <a:ext cx="2590800" cy="97155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71A0EC-FCB1-486D-8BB8-DA930570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This is not a human preference study. It only shows the sampler stayed stable at the proposal-scale generation volume and that the automatic gate found very few obvious rejects.</a:t>
            </a:r>
          </a:p>
        </p:txBody>
      </p:sp>
    </p:spTree>
    <p:extLst>
      <p:ext uri="{BB962C8B-B14F-4D97-AF65-F5344CB8AC3E}">
        <p14:creationId xmlns:p14="http://schemas.microsoft.com/office/powerpoint/2010/main" val="19205247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FA6046-88B5-4C98-A195-8141D04D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F92E2-BACB-4A93-8F36-AE5C94EC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C4EAC2B7-D0EF-4C97-A81A-3A54DDA6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DADFDA87-D040-43B7-8C69-3E0FDAB2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LIMITATIONS AND NEXT PROOF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DA162-0636-46BC-B626-4C26F751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final claim is intentionally narrow: strong 32x32 palette-token generation with audit-aware evaluation.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77BFD-94F1-44A3-9ADE-FC1CDDE1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04CFA-ACEE-4FB2-A9F8-22CDC3AD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P1 0:55 - close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87C85-DE1E-48B8-A223-DB0DA633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12/12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CA975-D16C-4E06-9013-5ADB9D7B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33337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8DEE2-DE47-4678-B0EB-14806259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46BE9-AF0F-4CB3-9AAA-4EFB7499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Finished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6E9A53-D086-4154-95DA-4323516B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3028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VAR main model, HMAR refinement path, Flat AR/MaskGIT baselines, known metrics, memorization audit, external attempts, and 170K generation.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BB0907-D936-4CBD-8E6E-B667A14E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38300"/>
            <a:ext cx="33337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BC1B76-D2C8-4A6D-B2E2-4E6696DC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383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55679B-FF1C-4DA2-A032-BC9445EE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478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Not finished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1657E1-F3CE-4726-BD38-BA059894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28850"/>
            <a:ext cx="3028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User study, completed 8/32 palette metrics, completed 4-scale metrics, and 64x64 generation. These are not claimed as results.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87886C-2750-48C3-BA74-E055F0E4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33337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CEFA1C-E966-4F69-84FE-4436C386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33C4B0-6613-4BB6-A50D-75303077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47850"/>
            <a:ext cx="3028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Next proof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E4B425-5182-4BEE-9244-833B28E5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28850"/>
            <a:ext cx="30289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Run remaining ablations, inspect metrics and sample sheets, collect user study, then revisit 64x64 once the 32x32 story is finished.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10780D-4BC5-4AE6-9FA9-1A08DC0C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2870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2ADBCC-6BF4-4FED-8B1B-B1AAEAAC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9105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Safe claim boundary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7DED47-5DCB-454B-B275-5664F1C2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91050"/>
            <a:ext cx="777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What to say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17277D-7DE1-4753-96C4-8A29C540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15BF5B-00FE-4DE4-B1C3-5E995FB4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1490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claim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2D9776-9579-4436-BE14-D62BA72F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14900"/>
            <a:ext cx="777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strongest completed comparable proposal branch on our sprite-feature evaluator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22B279-E233-44C5-82EF-EAC95A9B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34980E-5436-4FAE-89F2-D956C47F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8649EB-1B7F-4F6E-9EFD-53F1E2CB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Audit claim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BF6A44-1B98-424E-BF56-064320AE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14950"/>
            <a:ext cx="777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raw FID promotes Flat AR, but exact-match audit shows memorization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3819D1-404B-432B-BEC0-7893FB7F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388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9E4C03-6144-49AD-ABDD-F87BD4E2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1500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External claim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E2BE09-C97A-4F4A-8226-62958EE5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15000"/>
            <a:ext cx="777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accessible diffusion-style baselines did not beat PixelVAR under normalized 32x32 protocol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FE4A37-EB1D-4FF6-84B8-8A8DAAF6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30294F-7300-430C-99F9-3E36DEE0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3885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900769-D50D-4AEA-97C9-4931C424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15050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SOTA claim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5DDB66-D702-4AF2-9EAA-C123AEB6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115050"/>
            <a:ext cx="7772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do not claim broad SOTA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8877DF-6FA7-4317-AC28-BBF484AB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AC7D5"/>
                </a:solidFill>
                <a:latin typeface="Aptos"/>
                <a:ea typeface="Aptos"/>
                <a:cs typeface="Aptos"/>
              </a:rPr>
              <a:t>Main talk ends here. Curated Q&amp;A backup follows.</a:t>
            </a:r>
          </a:p>
        </p:txBody>
      </p:sp>
    </p:spTree>
    <p:extLst>
      <p:ext uri="{BB962C8B-B14F-4D97-AF65-F5344CB8AC3E}">
        <p14:creationId xmlns:p14="http://schemas.microsoft.com/office/powerpoint/2010/main" val="190266057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6F5998-2DA7-4E37-85C2-FBC80A1B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734D7-5F61-46FD-B003-F60B8B1B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8CE5633C-8E08-46B6-AC6D-1E78884C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95C00923-2580-44A7-84E9-6958C90A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BACKUP: PROPOSAL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C0530-ABB8-490A-A5A2-B7684C0B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Detailed DONE / PARTIAL / NOT DONE mapping.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D4F10-2AB3-42DE-8755-A79ACD17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60953-B5AC-4A78-9568-B25AD946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D2150-7E8C-45FE-A63A-55E3337A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1/19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8665A-154D-4A6F-B2F6-DCA2E841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1057275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3B8D54-1350-41D8-84DD-4EB8653B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3200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Proposal item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2F296-0765-4C21-9EB5-FA1BE26A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811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7E1B5-A8F5-4364-AA2A-A0A1701A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81150"/>
            <a:ext cx="567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Notes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1B964-129B-4AFB-9965-3682A606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E9459D-C837-4256-B0E3-A88CB092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Dataset curation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B02304-BE7C-43D1-9C99-859F47B4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050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D5256A-85D2-4B68-8CE7-D743716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05000"/>
            <a:ext cx="567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MSD replacement selected after original Kaggle source failed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DC2942-7798-46B9-9091-5BDB2D35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B2E231-C5C4-48FA-9DED-D5A221B6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6838CC-BF01-46E3-89C0-AF2B7264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16-color palette-token generation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F280FA-2A2F-4B2E-8639-3A2EE9C5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9555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D2735E-A22B-45C0-B43D-B51B3E7D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95550"/>
            <a:ext cx="567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transparent token + 16 palette colors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7C9DCD-4948-49A9-9503-2D3FF228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624ACF-ECF4-41A5-8980-BCE71D68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VAR Option 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CF8D01-B8C1-4D4F-93FC-D3314BFA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861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764D25-ED48-44EE-82EA-C0D0EB09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86100"/>
            <a:ext cx="567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result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3757A6-6B2E-43CA-886B-839C9B35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B59D52-9AC8-4391-966B-7D79202B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577D5E-3C57-4571-A796-E8E49CC1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Option 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83744F-A6A7-455D-8AFD-B5A8243E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7665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0235BB-2BD5-4AE4-AB94-562374F5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76650"/>
            <a:ext cx="567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refinement ablation complete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2E89A9-ABB6-4454-B971-8AC4FC4A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079A97-4AB8-45B8-9D00-EE7188E0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AR / MaskGIT baselines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089FB9-91A2-419D-BD5B-C4434F93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672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5283DF-4C8E-4171-A33B-B50DC3A6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67200"/>
            <a:ext cx="567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measured; Flat AR memorizes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755871-04A0-4058-8C39-71996E22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9BAF90-9BF4-4B40-87BA-CF2A8F9B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1B81AC-58C2-4A4A-B2B5-8FC701DF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External baselines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5FCCB2-6033-4EF3-B55F-C6F783CB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5775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PARTIAL DONE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256FBB-2D56-477B-A4A1-BB1DB5BE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57750"/>
            <a:ext cx="567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SD-piXL, SSD-1B, Pokemon LoRA; PixDiff-PIG no runnable code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0E72CE-2445-4F02-9C6F-4BBA886C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721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8034F6-1DFA-4A52-90CB-AE827785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User study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4B163D-231C-4087-B60A-40845E06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48300"/>
            <a:ext cx="129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NOT DONE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93A612-0108-4BE5-840A-E81DEF9A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48300"/>
            <a:ext cx="5676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208826777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78DC61-2AC1-4D51-BBBA-85015FA0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CD1A1-3B06-4F11-93B3-588DC9AA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DB0D6AB5-0035-4672-AF89-610DCB5F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CD7CF868-B0E1-4098-AED4-9339499A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BACKUP: METRIC GLOSSARY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7FEC5-B99B-4503-9ABC-E00A5C35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What the reported metrics mean.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4B5DB-EB3C-46F7-A0FC-F4BC8889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E9836-54CE-44EC-9570-1D3F489E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CFD2C-C6B1-4250-B6C9-2DB5EF7A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2/19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954E4-62E9-4FB0-8B44-04B64C0F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102870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BF678-E2F9-496D-BC27-982D66A7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C1229-D4DC-4EAD-AA66-894CD042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638300"/>
            <a:ext cx="434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C8EA8-AC76-4A13-B41E-70CC51AB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38300"/>
            <a:ext cx="3867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Caveat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DA6C6-790C-4258-8A4E-D84C6CCB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0026B-2A1D-4F7B-9BB8-58093AF7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Sprite-feature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87ADE-7F92-42D0-A315-79F8E13E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6215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Frechet-style distance over sprite-specific features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CEC06-17F1-432E-9DF3-E3DBF14D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62150"/>
            <a:ext cx="386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internal selector, not Inception FID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95AECA-3F03-4EC1-9E87-F6ED1ACA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45916D-3C1D-4C32-9AD9-C80880CD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D046DA-558F-42AD-B34F-5F3C24B7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 consistency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448300-7511-4605-9C8D-4B956E6F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5270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share of opaque pixels in fixed palette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BF953-85F4-4E0E-AF9D-DC9963D9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52700"/>
            <a:ext cx="386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expected 1.0 for token models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817672-0B24-43E8-B923-6177ACD4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20A3C2-A1F9-4CCC-91A2-4A9A7712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FID / KID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98FA6B-40E1-4FCE-A94B-030C2137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4325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Inception-feature distribution distance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EFC135-98C0-4556-9BDE-7D915E4B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43250"/>
            <a:ext cx="386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standard but imperfect for tiny pixel art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9670D4-6CBA-4556-8A9D-3E0825EF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172B45-5205-4369-81AB-2CC8DF8D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7B1974-6797-43D1-9EE2-7B639A77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Precision / recall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4FA00D-376E-42B0-975C-21257C1C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3380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fidelity and distribution coverage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0BBAAD-6AE5-4982-AC86-E3EC01BE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33800"/>
            <a:ext cx="386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must be read with audit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1015C6-E786-4534-8F14-AA84B6EA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481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0B7439-CED8-4F9C-B506-31D43CC5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Density / coverage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578A06-9894-4C75-B777-9455D451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2435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PRDC-style neighborhood coverage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285888-F60C-4DAF-882B-541D20B5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24350"/>
            <a:ext cx="386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higher is better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5A1DDF-1231-4123-AB1B-F75FBBD9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38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C343C2-C450-4304-84BE-B196EC3D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38700"/>
            <a:ext cx="1028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6A63F3-4DB2-41BD-9236-DA378D03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MS-SSIM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679F8F-D369-4ED6-8D45-F8C32D02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91490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sample diversity proxy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5E8C01-1DD3-4C03-972F-EC63E150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914900"/>
            <a:ext cx="386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compare alongside reference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46A55A-580E-432C-A295-9EBB470C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68CF0D-3439-4F3F-A217-56C8563C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676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Exact-match audit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13E752-2033-45B1-A558-B4CD61B8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505450"/>
            <a:ext cx="4343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generated token maps copied from train/val/test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C1DC9E-1A22-4347-8673-32D68128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505450"/>
            <a:ext cx="3867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critical for suspicious raw winners</a:t>
            </a:r>
          </a:p>
        </p:txBody>
      </p:sp>
    </p:spTree>
    <p:extLst>
      <p:ext uri="{BB962C8B-B14F-4D97-AF65-F5344CB8AC3E}">
        <p14:creationId xmlns:p14="http://schemas.microsoft.com/office/powerpoint/2010/main" val="103311497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4DB88D-3F88-4765-9311-06582ED9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51965-990D-4B8B-B15B-5219E927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737A8B54-3377-40F5-BA13-83891E2A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71A6E970-6035-4A6E-88D0-3D09240F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TOKENIZER PIVOT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DADAD-82C6-497C-AA31-62608C08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main path moved from neural VQ-VAE to deterministic palette tokens because pixel quality mattered more than latent elegance.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3A9B6-B076-4A7A-8B00-3A0EBD1B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C5C2AA-1134-4FF9-AB15-5EEEAC8E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Method 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670B3-6D1A-46ED-9F62-E825D04D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3/19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C8D0E-169A-4147-94FA-9A7213F1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3143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86C8A0-F1A1-4E17-8A76-2573825F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C02FF-0F95-44D9-99E3-3476BF49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Proposal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42160-10C6-4F8F-8B29-E01777C6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28384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Train a multi-scale neural VQ-VAE, freeze it, and generate learned palette-sized codes with VAR/HMAR.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442A9F-CE24-4DFB-8223-B3D0BDE3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04950"/>
            <a:ext cx="3143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6FEC63-A02B-48B7-BD99-258954D2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049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2D5CB7-491F-40A7-9BBA-4DA0A49A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What happened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02006A-F16D-4575-A0B8-E2DEE751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28384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A deterministic palette pyramid already matched the target semantics: transparent token plus fixed palette colors at six scales.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84750-A4CC-4EBC-B306-A6C5418B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04950"/>
            <a:ext cx="3143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C322C2-48A9-4B57-B597-40FC0217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0495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DE5511-4995-43DD-A86D-EC7048E5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14500"/>
            <a:ext cx="2838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Why it was defensible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9E068E-0A09-4C04-B62B-B8142DBD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95500"/>
            <a:ext cx="28384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Neural reconstructions were too soft/ghosted for pixel art. Patch-VQ worked as an ablation but was blockier.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82C3A7-8F7F-4A4D-80B9-84D27A33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93345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A5B8D7-4C72-4E6F-B2BA-02BD70A1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234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EE51B1-D557-4239-880A-C0F5F3D9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62400"/>
            <a:ext cx="434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862BF4-1AC4-49B4-9D4E-4F4B3FAB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62400"/>
            <a:ext cx="224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506C96-CA9D-4EA3-B5E8-B88A917F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00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863491-0B19-41F2-A47F-CBBBC0B3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8625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Deterministic palette tokens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FB967C-2F3C-4744-BAFA-9A29CBF3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862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Crisp, native palette, 0.00147 main score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87E53B-576C-4191-A833-F2EB9E21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2247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7C31EF-ABE2-4E6E-A85E-A02D6161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81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13DAFD-8661-417B-9C7F-8CC8D208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81550"/>
            <a:ext cx="933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143504-5226-45F6-AE77-5F467048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Neural multi-scale VQ-VAE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D8A790-59A9-4949-A221-E7C16D23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577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implemented, reconstruction quality not good enough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948209-19D6-4FF1-9E13-2C1909FD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57750"/>
            <a:ext cx="2247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partial / not promoted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2BE099-DBC1-401E-8833-AFC5765C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530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18DFF6-17A6-472A-A943-72ECC7F0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234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Patch-VQ KMeans tokenizer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FB3D55-8A47-4DF8-8B2B-41CC7BBF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29250"/>
            <a:ext cx="4343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143/512 codes used, coherent but blocky, score 0.04689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614278-9B99-4D64-A1E1-D9FFC821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429250"/>
            <a:ext cx="2247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learned-token ablation</a:t>
            </a:r>
          </a:p>
        </p:txBody>
      </p:sp>
    </p:spTree>
    <p:extLst>
      <p:ext uri="{BB962C8B-B14F-4D97-AF65-F5344CB8AC3E}">
        <p14:creationId xmlns:p14="http://schemas.microsoft.com/office/powerpoint/2010/main" val="39622724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8B177F-A3D7-4E60-BEF2-8477A7D7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52573-3427-42D0-AFCC-1CE03F7E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C5A16618-8D02-4BE9-BB43-2864F4A2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7E03C060-9091-40E6-8391-C5E7BB56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TOKEN AND TRANSPARENCY CONTRACT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D456D-B281-45F2-AEBC-A87AC2F9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final implementation made transparency and palette membership explicit model tokens.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F7B03-8151-48AB-AB55-2D02737D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7EC9B-99A2-4EEF-85F7-9D03F231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Method detail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81743-F6F7-43DC-B13D-632E8712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4/19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CBC9F-5294-45FA-A4BF-9AA50867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858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68A35-6680-4399-86DB-729B3F57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Contract element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73698-317B-4347-9E29-5F2C0929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5049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Final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6CD06-61EB-4DFA-9A6F-A6CCC6D8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2914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3290F0-789E-4D19-B585-F4B31785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E2B82-ED08-4B5A-BB9F-2E7DD20F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2880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Transparent token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86D010-C0B6-499B-AC21-58009FA3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2880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A072C8-CE49-45D2-BD0E-DCE12A32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28800"/>
            <a:ext cx="2914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background is part of the sprite structure, not cleanup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909E4A-781D-4DA3-9ECC-27C07112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00416D-FEA3-4F5F-A29C-07DAFE6E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685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B595B4-481D-4B59-B7CB-B4D4D798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 tokens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5BA2C-D2E2-469E-B06A-87F7B61C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5745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1..16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D9C6C3-11AA-46FC-934A-A495AB4C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57450"/>
            <a:ext cx="2914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model predicts fixed palette indices directly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A476C8-4662-44A9-87CE-C33F182A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AA68A5-0A65-4077-9AD2-73347BC6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Reserved mask token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45E812-6B66-4C3D-B86B-228A7EB3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separate from transparent for HMAR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D10540-B818-4A8C-8D63-A7789DDF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86100"/>
            <a:ext cx="2914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masked refinement does not confuse missing with background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0597CB-CE2B-4051-AA55-8131628D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4B0D04-A8C8-4813-AA8F-DDAFF625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685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B193DD-FD3D-42DF-94FE-186122A0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Scale schedule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E69204-9726-43F8-A565-5C8D6A8B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1475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1, 2, 4, 8, 16, 32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BD71A9-7143-4BAD-AA08-ACE5A39A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14750"/>
            <a:ext cx="2914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six-scale coarse-to-fine pyramid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4FD4BB-A2E8-4F85-8141-C21F8B37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1A9871-C76E-4BBC-B865-061DF52E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Total sequence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457E21-A76D-4662-8343-FF5C72F1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34340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1,365 tokens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66B4B5-A286-4C4E-BF40-5FFD558B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43400"/>
            <a:ext cx="2914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sum of all scale maps; final 32x32 contributes 1,024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B55513-9EBC-4A0C-843A-0E4A10A4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5A7676-1BB1-491A-9A15-6F07EEC9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685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48940F-1E8A-42AE-B8D8-B0723051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1866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Split rule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C46933-78BD-45D6-A3AF-8B67663B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972050"/>
            <a:ext cx="1676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grouped by character/sheet fields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1BEDEE-A5AE-48B6-B977-8DFFF060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72050"/>
            <a:ext cx="2914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reduces train/validation leakage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6A8032-07DB-42E7-B87E-3EF02625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1x1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C6F12A-B36A-438E-8F06-1663C5EB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E8CFD1-DE1B-495D-B4EB-2E7B40F1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C5B806-77E2-4738-98D1-8B991934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16668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D1DC88-9630-4DC1-B3D5-BE9DED6A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2x2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56B326-1E1B-44B4-B335-A32C3530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AAF29C-A04F-46A9-B885-355E560B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9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6993E6-53F0-451B-BF3B-8D96CEE8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1431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68CFEE0-311F-4793-B09E-461FC4C1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289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4x4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B6D15D6-D170-45DD-946D-7AD4A38F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EEAD6F9-E4D7-4D14-90A4-460139E7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2619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8D0229A-90C6-47DB-9177-6AE010DA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6193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85A129-B28D-42B8-893A-C035874A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8x8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94796F2-6B38-4DD1-A887-095500FD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B1D2B76-26C3-4666-BEE7-9A50360D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1047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7006B0F-80BD-42CD-B44D-F24FF1AA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0956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F2A810D-648D-42FF-961C-F4CA5047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814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16x16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61ADCF0-1FA9-41AE-BDBF-D2F52013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1950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F84BD50-0CBC-49AA-8A44-F3FC05DB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19500"/>
            <a:ext cx="419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2050F34-7CF1-4DE9-A3F9-660B3E47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57187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01A46A9-5CC7-4A1E-AB60-6841618D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5765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32x32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F70A0F0-FF32-4D10-AAD7-D589845D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C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2DD6AA8-242F-4937-B7E4-9B8C3C74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1676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6EAC1DC-FB87-4B60-B222-1501A988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048125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1024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EAE9EC8-94B2-4671-8FA3-6ADAEA73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This is why palette consistency reaches 1.0000 for token models: it is an expected property of the representation, not a standalone quality miracle.</a:t>
            </a:r>
          </a:p>
        </p:txBody>
      </p:sp>
    </p:spTree>
    <p:extLst>
      <p:ext uri="{BB962C8B-B14F-4D97-AF65-F5344CB8AC3E}">
        <p14:creationId xmlns:p14="http://schemas.microsoft.com/office/powerpoint/2010/main" val="46358145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DE1C90-7B7B-4CFA-B4CA-C7B1F142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FE101-3A62-455B-9173-5477C6DF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7-marker">
            <a:extLst xmlns:a="http://schemas.openxmlformats.org/drawingml/2006/main">
              <a:ext uri="{FF2B5EF4-FFF2-40B4-BE49-F238E27FC236}">
                <a16:creationId xmlns:a16="http://schemas.microsoft.com/office/drawing/2014/main" id="{9BC419FD-3BD5-45A9-9587-C26795D7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F528E1BF-7EA4-439D-BC99-1B3DDA9C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DATASET REALITY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ECCB3-1934-4FA8-91AD-742BA86D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original Kaggle source failed, so the final study used a live replacement plus auxiliary Pokemon and OpenGameArt paths.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FCF91-F91A-4593-B22B-294514B6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31FA8-A16F-4046-A58B-B9110D4F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Experimental setup detail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898E0-7BF5-407B-9020-3B5C73C8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5/19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40874-FA31-446B-8543-47C6413B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95BE3-A001-4F37-852F-39AABC92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83546-C0C1-4817-A569-5E657125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9725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93,312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CBA67-AD18-448B-893C-1CF3AE94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1790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MSD replacement sprites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71253-DEEC-45A0-9F66-039FF3DC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04950"/>
            <a:ext cx="1571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BDF1F-E299-41D4-B610-7A1CBBC7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049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8A92DF-C313-4CE4-B293-EA23C975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09725"/>
            <a:ext cx="1266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74,664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402425-911F-4714-9387-E7D484BF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43100"/>
            <a:ext cx="1266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0B876-622E-44F9-86D1-FAD52DEF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04950"/>
            <a:ext cx="1571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487F3E-9518-4D67-9825-BD1C5FD0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5049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8214F2-6971-4451-80CF-CE889A8B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09725"/>
            <a:ext cx="1266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9,360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A1C308-38CA-4339-A3C8-F19D633B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43100"/>
            <a:ext cx="1266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CEDFB9-8BBB-45A0-A228-D1CABF97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04950"/>
            <a:ext cx="1571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90A0A8-2894-4A58-BE26-77A6EF30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049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DF19E3-A533-42FA-8E92-5143AF0B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09725"/>
            <a:ext cx="1266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9,288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F37C62-24D8-4FB6-9955-97C5F319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43100"/>
            <a:ext cx="1266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4D5088-56B8-4A8C-AC09-04EC8DD6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00012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50D158-BB20-42A4-B53D-008D9BD0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Source / set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A0A570-2D00-4A72-A28D-B35F4129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7655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40D7EC-77B9-4AF7-999E-A6740DCB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76550"/>
            <a:ext cx="472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D678E5-865B-4050-91A7-2C419903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31F010-3A88-4792-ADC4-F01C4AD7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Original brentspell Kaggle sprites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941B1E-9A79-4E5B-B134-75F49B01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00400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proposal target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2D3D17-ED03-419D-A49C-00478683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00400"/>
            <a:ext cx="472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blocked: inaccessible/forbidden; page unavailable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7594FD-BD4D-4B29-B7DE-5F16B2EF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7DD079-F696-4D1F-B2A3-EFFE213A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00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FCC6B0-AC63-4AAB-B53E-1A355AAC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TalBarami/msd_sprites replacement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8CE484-F129-4637-A89E-A628CFEA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90950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dataset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9EE5F7-FF9A-4591-8F3A-4CB4896B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90950"/>
            <a:ext cx="472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used for final train/val/test protocol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738707-463C-4C77-A473-5B62C379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42A8A4-7C86-4565-80F3-6175A722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sprites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842675-4B9E-4D1A-BD9D-109C29C7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81500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debug/prototype path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B6AF23-55A2-4A8B-99CE-28D901E0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81500"/>
            <a:ext cx="472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used for early pipeline validation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900517-9180-4941-8094-35D905D6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383015-0C5D-4B19-9E9C-D3ED094B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1000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F9D94C-3603-435C-AA0F-7215175C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OpenGameArt curated public set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F494AC-664B-4A2A-9A90-99283AB7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72050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mixed-data stretch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B17873-D504-402D-8EAA-9B589D05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72050"/>
            <a:ext cx="472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4,659 frames, 105 groups; useful pipeline, distribution mismatch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BCD019-03C7-4B08-9736-48F1B877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95F6F27-0BCD-4328-B8B7-F16D90CD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2724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Generated 170K keep set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305CFF-D512-42ED-87E9-B88BDC30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562600"/>
            <a:ext cx="2152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data expansion experiment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7F1CC6-BC13-4F4E-863E-792D7899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562600"/>
            <a:ext cx="4724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large generation worked, but generated/mixed training did not beat real-only</a:t>
            </a:r>
          </a:p>
        </p:txBody>
      </p:sp>
    </p:spTree>
    <p:extLst>
      <p:ext uri="{BB962C8B-B14F-4D97-AF65-F5344CB8AC3E}">
        <p14:creationId xmlns:p14="http://schemas.microsoft.com/office/powerpoint/2010/main" val="202266854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8BB01F-E2F0-4148-B5B0-2B3182AD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F03F2-0645-4AE4-8081-4B72ACC4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8-marker">
            <a:extLst xmlns:a="http://schemas.openxmlformats.org/drawingml/2006/main">
              <a:ext uri="{FF2B5EF4-FFF2-40B4-BE49-F238E27FC236}">
                <a16:creationId xmlns:a16="http://schemas.microsoft.com/office/drawing/2014/main" id="{F4121E01-E4B7-4FF1-9981-9EAB7E45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8-label">
            <a:extLst xmlns:a="http://schemas.openxmlformats.org/drawingml/2006/main">
              <a:ext uri="{FF2B5EF4-FFF2-40B4-BE49-F238E27FC236}">
                <a16:creationId xmlns:a16="http://schemas.microsoft.com/office/drawing/2014/main" id="{5A3443BA-A581-4D15-80E7-E60F5C84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IMPLEMENTATION INVENTORY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AFBA6-FB5B-4471-A22C-F5C23D5D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project includes models, data tooling, external adapters, audits, and tests beyond the headline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F7DD5-4332-494A-9DB3-B5DDFAF0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B0A73-A07F-4E4B-9FF2-F8AF35F0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Implementation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F248E-7CF8-49AC-8090-6A369A94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6/19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7B50D-068E-495F-AB02-A321847C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763250" cy="474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04C37-FFDD-481C-B55F-ECE81331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352B3-E747-4383-8DA1-C7E18D88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504950"/>
            <a:ext cx="882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Implemented artifacts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2513FC-EC22-4E25-B302-08532DEE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CFCA48-1D8C-4E7A-9D69-791A7F3A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Models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02113A-1D6C-4E0E-B1C7-740264F7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828800"/>
            <a:ext cx="882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VAR transformer, HMAR transformer, flat AR, flat MaskGIT, VQ-VAE, Patch-VQ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84C1CF-40C3-4F28-9C5A-A9C07763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1214E5-98B4-4F8D-869C-10FB3E1D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161A6A-4FEA-4584-8A79-7C635C0B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Training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36D011-A5A2-42FD-BD0E-8A497CD1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81250"/>
            <a:ext cx="882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Lightning modules for VAR/HMAR/flat/VQ, checkpoint helpers, overfit/debug/full configs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6FB5E-846D-42D5-87CF-D87D2860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F3ADBE-2AEF-4DF1-9074-DC129267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337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2AAFCD-EE09-4868-B735-C8692EB6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33700"/>
            <a:ext cx="882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transparent preprocessing, grouped splits, deterministic tokenizer, palette extraction, dataset mixing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5842D9-AA2A-487F-A792-B939F8DB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4FCB66-E350-4D2B-9D26-1743B9EF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3D45E6-CE62-4637-9956-3AC66EF5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9DCDC3-C594-4376-82C3-1C5FDBDA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86150"/>
            <a:ext cx="882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sprite-feature evaluator, decoded Patch-VQ evaluator, image-folder FID/KID/PRDC/MS-SSIM evaluator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BFBB77-E7F3-46E4-8F42-A745859B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1E9B7C-E252-4A74-8614-11377704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Audits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5514E7-8217-4C18-B212-6951A33C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038600"/>
            <a:ext cx="882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exact-match memorization audit, nearest-neighbor artifacts, sample-sheet builders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30E5CE-8E9B-45F5-9C3C-F906D1B2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8031C1-8AAD-4E00-A9EC-8BD30415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934113-942D-41AD-BF89-EFF3C896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External baselines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D866E-A7EC-4F3F-A59F-E3F3AF80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591050"/>
            <a:ext cx="882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 adapter, SSD-1B practical diffusion, Pokemon sprite LoRA, image normalization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7931AD-26B1-4745-B5CB-1A846174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67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F05C0A-4B7A-4081-BBAC-A42DC79D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Modal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22E6B2-E8B6-42DF-8D10-D5CBC054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143500"/>
            <a:ext cx="882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B200 actions for preparation, training, evaluation, generation, baselines, audits, downloads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0443E8-3767-46B6-981A-6D3E386B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FD9C93-2758-4198-9FC1-CCE7E9F2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F873E8-6EED-4E75-AD92-28C4A17B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9595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Tests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820F56-3C01-4B6C-8E1D-20E36AF9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695950"/>
            <a:ext cx="882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tokenizer, splits, palette/transparency, dataset, model, curation, VQ-VAE, external adapters</a:t>
            </a:r>
          </a:p>
        </p:txBody>
      </p:sp>
    </p:spTree>
    <p:extLst>
      <p:ext uri="{BB962C8B-B14F-4D97-AF65-F5344CB8AC3E}">
        <p14:creationId xmlns:p14="http://schemas.microsoft.com/office/powerpoint/2010/main" val="65451277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665C82-6C5B-44AC-87E3-45D80926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3C6B6-C583-48A5-9DC9-5EE4CB6D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9-marker">
            <a:extLst xmlns:a="http://schemas.openxmlformats.org/drawingml/2006/main">
              <a:ext uri="{FF2B5EF4-FFF2-40B4-BE49-F238E27FC236}">
                <a16:creationId xmlns:a16="http://schemas.microsoft.com/office/drawing/2014/main" id="{2204713F-6A58-47E9-8737-6B2012C0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9-label">
            <a:extLst xmlns:a="http://schemas.openxmlformats.org/drawingml/2006/main">
              <a:ext uri="{FF2B5EF4-FFF2-40B4-BE49-F238E27FC236}">
                <a16:creationId xmlns:a16="http://schemas.microsoft.com/office/drawing/2014/main" id="{D2AD46E9-A30A-41B2-AB95-65D7606C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MAIN PIXELVAR SAMPLING SWEEP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887C8-92DD-4704-AABB-D9F57BFF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selected checkpoint was chosen from a temperature/top-k sweep, not a single cherry-picked setting.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4D95B-2186-45C7-993E-B55A2C0D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62971-EA81-4D41-B453-AE1008F7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Sampling sweep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E1C4E-CE4B-4FA8-821E-3094F63D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7/19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BE590D-F2FF-4248-B023-A0FD88AA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619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592360-D4D2-483F-861B-A105F701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Temp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B629A-99A4-473F-AEF2-C59D24A1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Top-k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8B9D1D-511A-4DAC-8838-7B1DB5B8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5240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Feature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06CF6-FE9C-4C56-B8EE-B4E17D72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240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Palette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FFCC2E-7AE7-471F-9561-53C214B5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240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Opaque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94F82A-750A-44FE-A041-7C9C5219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5240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5F9AB-38C2-465C-9E83-1A12B747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716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1A9ADC-89F1-4469-AA6C-1CB75B0A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A63D8F-E76B-4B3C-9F4E-AB2C52C5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478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600356-8AF3-435A-9F46-17E2B10B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8478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0.00147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C38F85-1B13-494E-AF69-C49A5981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478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59A11E-AB76-487F-8353-32A4DD30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478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0.2291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D43D3D-35DD-47DE-A27D-8A7E3B78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478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3C7320-5812-4D98-9F37-0FF16982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D42EAB-FCF2-4FCA-BFF5-29AEB403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E5407B-CCEB-414B-AA8B-6E745745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BC6A8A-4FC6-4EA8-9FBF-F8F8111C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669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F3963B-840E-4019-B71C-6D7AB29E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669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0.00299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9A2913-926F-45B7-A754-344EF1EA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669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D5E9D2-3315-45E3-B377-E406B50C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0.2381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EDC5C0-0A50-4BB7-8C7D-9C87023F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669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0.1865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AA0F69-2965-49F5-B375-DE695BFC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8DBC0B-E8F4-4EAD-BB65-25D6D891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47C231-7D67-4631-BF75-6D051A16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860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513F83-990A-46E9-91BF-E8207FDB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860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0.00392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7B0350-56BB-48A5-AA2E-0CDCC0BD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860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39D936-303F-4B46-8FFE-195474BC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860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86002D-288B-4429-BE93-B98F42FE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860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0.1829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F15FD27-DF01-46E0-93B6-81224E47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4E88B98-034D-48E9-BA6F-24CD62DB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A50494-471D-4B18-82EE-5666A103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1840FA-F883-41C6-8857-BA946660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051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BA68F93-E266-4CD6-90FB-B236BFE6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051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0.00402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12C1E2-3C7B-4FC7-933C-B31F185C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051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D9DE14-9972-42F5-91BB-682F871E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051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0.2335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B5963B-0D67-40E6-B450-32D9CA70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051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0.1838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6817A89-9804-4F38-9A0F-191E42C6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480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28733A-B56F-40B0-8794-CFEB758C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0F8AF5-ECAD-4FF5-B431-34037781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242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D122B6-448A-4C3E-BBAA-70539193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242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0.00596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DA4FFC-0ABA-46B3-9C8E-F2617B4F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242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FC9DC5F-4AD4-40A4-8A87-9F460B00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242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0.2220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590A3D-E231-4EBC-B57F-52443BD8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5242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0.1761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22C8F0D-1162-46FD-89A9-48F67CFC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02C07E-D8A9-4BA4-B124-2900542D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6CED3C-FB94-43DE-A788-8875C05A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20D3336-05E1-4D6C-92D7-A7D52E69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433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D649AEE-F4C3-4729-B655-DFF0F588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433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0.00637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3722FC-CDBD-45DB-9501-D76EF73D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433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1631E7-EB26-4D67-90D9-4ACAE8F4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0.2459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7AD95C3-8B3C-4E87-9F89-01245270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433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0.1917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709989B-CCFF-40DD-A07C-E3AF42A0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1BFA237-7CCD-4187-B636-C09EC8CA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EAC30DE-971D-4D9C-BF0B-3F581C52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624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1CD6AB1-67AB-4ADC-A18C-22262CD3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624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0.00659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F1BE22A-3CC4-4F2B-80B8-658BCD6E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624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C4FC036-D83D-43B8-8352-C56EFB5A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624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0.2172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4A8C1E1-0101-449D-A576-A682243A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3624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0.1724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07F9FD4-0C7B-48D7-A053-725195B8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053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4BEF9E5-B0D5-431A-887E-B9085E59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05350"/>
            <a:ext cx="619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DDCE591-51F4-401F-A5C8-CFDB9143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1AF0480-2241-4836-87A5-A831E062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4A88C9A-733E-4B8C-A219-CB056045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815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0.00856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D8CAB3A-B2E2-42E7-A1B4-9EDBAECB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815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924F25C-B9CD-4C13-A805-1B36351F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815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0.2164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15FDC88-12D5-4BD0-B276-8173B166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815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0.1716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FFE43FB-7200-45F7-98C9-23843FC0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58B21F2-0687-4798-BE8B-97696F12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321EA39-923F-45F8-BF14-B6BF5164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00650"/>
            <a:ext cx="723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61E1554-F743-4D16-9973-11C20C14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00650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0.00956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F395C56-51D3-45DE-9E73-BF6DE10D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006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342FDF3-56A1-4156-BC4F-074616CE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200650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0.2172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9577D37-0DC9-4917-85E6-7FF69861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200650"/>
            <a:ext cx="100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0.1740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795E286-D191-48CF-82CA-C7C98165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04950"/>
            <a:ext cx="3333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5438903f44d20"/>
          <a:stretch xmlns:a="http://schemas.openxmlformats.org/drawingml/2006/main"/>
        </p:blipFill>
        <p:spPr>
          <a:xfrm xmlns:a="http://schemas.openxmlformats.org/drawingml/2006/main">
            <a:off x="7372350" y="1543050"/>
            <a:ext cx="3257550" cy="3257550"/>
          </a:xfrm>
          <a:prstGeom xmlns:a="http://schemas.openxmlformats.org/drawingml/2006/main" prst="rect">
            <a:avLst/>
          </a:prstGeom>
        </p:spPr>
      </p:pic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6CDAF2D-34A2-46D5-958B-4D0FB5DC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Reference validation: opaque ratio 0.2354, edge density 0.1811, palette consistency 1.0000. The best score also keeps structure close to reference.</a:t>
            </a:r>
          </a:p>
        </p:txBody>
      </p:sp>
    </p:spTree>
    <p:extLst>
      <p:ext uri="{BB962C8B-B14F-4D97-AF65-F5344CB8AC3E}">
        <p14:creationId xmlns:p14="http://schemas.microsoft.com/office/powerpoint/2010/main" val="85270345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E89299-4FC6-4B69-9B53-E690FEDC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36FAE-E31B-4ACC-B7CC-AEA827A7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0-marker">
            <a:extLst xmlns:a="http://schemas.openxmlformats.org/drawingml/2006/main">
              <a:ext uri="{FF2B5EF4-FFF2-40B4-BE49-F238E27FC236}">
                <a16:creationId xmlns:a16="http://schemas.microsoft.com/office/drawing/2014/main" id="{43AE5B42-45DE-4550-9520-478B959E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0-label">
            <a:extLst xmlns:a="http://schemas.openxmlformats.org/drawingml/2006/main">
              <a:ext uri="{FF2B5EF4-FFF2-40B4-BE49-F238E27FC236}">
                <a16:creationId xmlns:a16="http://schemas.microsoft.com/office/drawing/2014/main" id="{D7B7E309-C3F0-4E28-834C-3ED90E54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HMAR REFINEMENT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F4E81-53BE-44C1-A27A-0E12CD20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HMAR worked, but more masked refinement did not improve this low-resolution palette-token regime.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93534-87CC-41C6-A14D-677E7A66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5F049-EA54-4900-AB28-B6020EDC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HMAR ablation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EA9A7-92E8-4DC1-B551-57E3431A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8/19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1FDD9-0223-4192-BF9F-78AB100B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72390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D0279-9E9B-4078-B3DD-55867AB4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Refinement steps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BD57B-B35F-483E-8231-C82B0A1A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049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Best temp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321C3E-78EB-45C9-A433-5170B9B1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04950"/>
            <a:ext cx="676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Best top-k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D0B1C9-87AC-41E7-B7B7-42A915CC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0495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Best 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7380A-3F69-4096-B17D-E06633ED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0495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Opaque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2467BF-E2BF-4DA6-BA62-0E9CCC9A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5049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FE609D-E1CA-4517-B86B-BA8EA0CD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504950"/>
            <a:ext cx="2200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434FC0-AD07-45C0-ACEA-1988A01E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FF7D6A-D01D-408E-9C92-C2DAB7BC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914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524FCD-E148-4BB6-B025-775C29C7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28800"/>
            <a:ext cx="628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ED1260-8447-4BF7-A25E-B27A556C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28800"/>
            <a:ext cx="6762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72CE4A-CD6B-44D1-B216-835F5668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28800"/>
            <a:ext cx="771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0.00189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965B70-0E75-428B-82D4-B720C1B2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28800"/>
            <a:ext cx="581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0.2315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92A7A7-EA98-46C4-B676-57CC5A1C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28800"/>
            <a:ext cx="533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0.1833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87B337-090D-4560-99DC-0865DDD1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28800"/>
            <a:ext cx="22002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closest HMAR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028BA6-0732-4B1E-AA46-ED2E0391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7D9773-F7B5-4062-92D9-A2915B3D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69EAEA-FD01-4422-9346-F8AEA031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914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3119D3-7B51-4E01-A2AB-11114A03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14600"/>
            <a:ext cx="628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069E7C-A1EC-4C1F-817F-99D8C3EA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14600"/>
            <a:ext cx="6762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9BC3A4-2C82-4222-A5F0-4BE946241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14600"/>
            <a:ext cx="771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0.00374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47E607-9369-4778-8811-FDAB1CFA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14600"/>
            <a:ext cx="581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0.2297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05B392-18C8-49F9-8FE0-A9C6878D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14600"/>
            <a:ext cx="533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0.1831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72438D-F71F-4D55-BB35-15C533CB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514600"/>
            <a:ext cx="22002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worse than step 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1D8AF7-8840-429B-BBA4-473503F0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CFEC54-9C47-41E8-A291-4CEF17D7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914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494B14-9773-410B-9C62-8A36F269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0400"/>
            <a:ext cx="628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DD3C30-1315-440F-98A0-C41559D8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00400"/>
            <a:ext cx="6762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8E87FB-BFF9-45E4-A074-A3CF1E2F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00400"/>
            <a:ext cx="771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0.00366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774F48-6329-4544-95E0-83239937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00400"/>
            <a:ext cx="581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0.2264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0AB90E-7C8C-42DA-9A9B-3BEB195E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200400"/>
            <a:ext cx="533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0.1823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070916-B4E8-4E23-B455-29D1E915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00400"/>
            <a:ext cx="22002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slightly better than step 2, still worse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B508DA-343D-4C9F-A97E-5B207C9A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A23947-9ECF-4367-8C93-BEB89F54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33E57E4-3FDD-46CD-83D7-25E9E2C1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914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5F4C42-A926-4800-9471-0DA39F6D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86200"/>
            <a:ext cx="628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FE5328-2300-4D2E-9728-9D5B373D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86200"/>
            <a:ext cx="6762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none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85436E-1AF3-4034-9714-5F176A53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86200"/>
            <a:ext cx="771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0.00822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D805CA-B297-47D2-9117-9580AD95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86200"/>
            <a:ext cx="5810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0.2191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C1E579-4703-4017-ACDE-9AB089DD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886200"/>
            <a:ext cx="533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0.1747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309C7C-6AEE-485B-9789-3AE191CF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86200"/>
            <a:ext cx="22002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over-refinement hurts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E7A4939-766C-453C-BB22-49B0C0B9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09700"/>
            <a:ext cx="2381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df628d88749af"/>
          <a:stretch xmlns:a="http://schemas.openxmlformats.org/drawingml/2006/main"/>
        </p:blipFill>
        <p:spPr>
          <a:xfrm xmlns:a="http://schemas.openxmlformats.org/drawingml/2006/main">
            <a:off x="8515350" y="1698241"/>
            <a:ext cx="2305050" cy="2566169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BB00CA-A103-4936-A0D1-B88A77DB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1D9AA8D-3AA1-40ED-BC37-EC0BF031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Option B was implemented and trained successfully.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175E96-5747-4C71-9B3F-23BB53E2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2B2CF2D-7186-4A90-9B39-1DAFF4F6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Step=1 is the only HMAR branch close to main PixelVAR on the sprite-feature evaluator.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477ED59-2154-4731-9FAE-8CC9B002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738DAD3-2AB0-401E-BCDE-0F18A24E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626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The hypothesis that more refinement would fix tiny outlines was not supported here.</a:t>
            </a:r>
          </a:p>
        </p:txBody>
      </p:sp>
    </p:spTree>
    <p:extLst>
      <p:ext uri="{BB962C8B-B14F-4D97-AF65-F5344CB8AC3E}">
        <p14:creationId xmlns:p14="http://schemas.microsoft.com/office/powerpoint/2010/main" val="127651781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F43D62-20E7-4F05-B307-BCE48EE4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6D6A7-4E00-43AE-A189-3E790359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1-marker">
            <a:extLst xmlns:a="http://schemas.openxmlformats.org/drawingml/2006/main">
              <a:ext uri="{FF2B5EF4-FFF2-40B4-BE49-F238E27FC236}">
                <a16:creationId xmlns:a16="http://schemas.microsoft.com/office/drawing/2014/main" id="{A5ADB430-F1A8-49B8-A1FE-E35A5A94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1-label">
            <a:extLst xmlns:a="http://schemas.openxmlformats.org/drawingml/2006/main">
              <a:ext uri="{FF2B5EF4-FFF2-40B4-BE49-F238E27FC236}">
                <a16:creationId xmlns:a16="http://schemas.microsoft.com/office/drawing/2014/main" id="{6B958D47-D9E8-40E6-A626-F3A82B11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KNOWN IMAGE METRICS: FULL INTERNAL 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43FFA-EAD3-4A0C-BCE2-F40BEB7F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Raw Inception metrics favor Flat AR, but that result is not trustworthy without the audit.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567F0-DE6D-444D-8B08-969B4E15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30CE7-5C6E-445B-9185-22B27054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Known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6BCD6-77D2-44D1-B8F2-D0993532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9/19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1F1EA-65DB-41B0-B02C-7D06D581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110490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F777B-C7ED-417B-BE11-D5214834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B711E-598C-46D6-8691-86385D0A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60020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6058B-AC47-40D1-9E07-390E40B0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0020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KID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229C80-FFA4-450C-A05C-EFE999BB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00200"/>
            <a:ext cx="866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Prec.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C51B5-637C-4FCC-A799-779D7336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600200"/>
            <a:ext cx="866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B92053-CBE9-4950-8669-484B893E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00200"/>
            <a:ext cx="962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Density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21B88-A80A-4A1A-841F-44EF9513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600200"/>
            <a:ext cx="962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5CF568-951B-4036-A74A-11A8068B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002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MS-SSIM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4217C4-BD1D-49D4-B6A0-F07290B2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002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Exact 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5E02CF-4C52-4E11-8DEF-E78527B1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51E9A-231D-4DD5-AF0F-95011DC3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raster 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9D5B96-E7BF-4EB1-A64C-57CB2251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240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9.3558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ACBAC3-1694-41B0-A553-2B062925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240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0.002975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F0197E-DE1F-40A7-AC3B-C22E0E9A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2405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0.9172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6B57EF-3D65-4806-84C2-2E771214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92405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0.9541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FF2DE1-C28F-422E-A974-208FC636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2405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0.7654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EE70AB-7FA7-49C2-ACD8-1223B6F3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92405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0.8518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13C8F6-D16F-4A63-87CC-A5D4D819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2405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0.8281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35E541-7225-4F89-982D-671EABB8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92405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ED3833-108F-474D-8991-9E9F4D84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FD5105-B0D1-4898-96CC-B6893F7D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1104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5C4FE3-3D9F-4413-AB97-68CFC871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step=1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0A1BC5-044F-4271-9947-B1E1B103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003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12.6555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F61A0F-1BDA-4C59-8EF2-A5DDB514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0030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0.005209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85E48F-97BA-4194-B8A5-CA9D8B59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0030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0.6494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EB52C8-A4E4-4EA2-B8E0-125F3749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40030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0.9314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A164B2-AD30-48BA-8B8E-93C0E966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0030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0.4136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FEAD7C-3448-4A47-94F6-61C670A3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40030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0.6165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99F2BE-5616-4307-8C52-11F7D027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003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0.8309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7B5551-30EF-44CC-9FB3-19931F96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003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40BAD4-FABF-420F-B75E-F0EFF0DE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ED40CA-F16D-4EFD-B72C-C6BB5926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BDC98A-89A6-4C1C-968A-3F4A43A9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765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13.2516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6A52B2-E6EE-411D-AC70-BB4B9CDC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765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0.006010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58ADE2-C3C9-4AF2-8D1B-D4E4F595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7655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0.6406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3F97E9-458E-4D92-B508-10714DA9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87655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0.9292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01297E-5A38-4613-960F-1ED818D5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7655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0.4093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833474-557A-482A-A13C-D67257D0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87655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0.6050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1B79F6-0A08-4DBC-BD9F-CEA470AD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7655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0.8323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94E3CB-8EF4-478E-8B21-D501632C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7655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0.0007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8A7A74B-643E-431E-8FBD-66A1A34F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DEA8F65-7448-4C41-AE3C-639E34CD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1104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128F58-AF2C-40B2-8B22-DDA6AACB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MaskGIT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05085AF-0627-4068-BA01-8FE773F0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3528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67.3908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19A31EC-3AEE-4733-AA22-80C47D86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5280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0.061825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E843D27-C33E-4A2B-838D-271F6F09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5280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0.1545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505D960-015A-4D05-BF9E-B5FA3F1A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352800"/>
            <a:ext cx="8667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0.0317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3E1F75C-47A1-453F-9AD7-7806D4A5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5280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0.0455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082BAC-2A55-4561-8550-357D9BAE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352800"/>
            <a:ext cx="9620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0.0454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9B337CC-7220-4780-844F-D09988F9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52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0.9426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7619253-0FDD-4478-A8EB-7524387B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52800"/>
            <a:ext cx="1104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2EBAF37-4963-49BA-AB61-88A35207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4762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8ad8d37654b3c"/>
          <a:stretch xmlns:a="http://schemas.openxmlformats.org/drawingml/2006/main"/>
        </p:blipFill>
        <p:spPr>
          <a:xfrm xmlns:a="http://schemas.openxmlformats.org/drawingml/2006/main">
            <a:off x="1715492" y="4229100"/>
            <a:ext cx="2665016" cy="1504950"/>
          </a:xfrm>
          <a:prstGeom xmlns:a="http://schemas.openxmlformats.org/drawingml/2006/main" prst="rect">
            <a:avLst/>
          </a:prstGeom>
        </p:spPr>
      </p:pic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81092FF-6567-497D-BAC3-539EDF48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91000"/>
            <a:ext cx="4762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4552208b94df9"/>
          <a:stretch xmlns:a="http://schemas.openxmlformats.org/drawingml/2006/main"/>
        </p:blipFill>
        <p:spPr>
          <a:xfrm xmlns:a="http://schemas.openxmlformats.org/drawingml/2006/main">
            <a:off x="7123509" y="4229100"/>
            <a:ext cx="2821781" cy="1504950"/>
          </a:xfrm>
          <a:prstGeom xmlns:a="http://schemas.openxmlformats.org/drawingml/2006/main" prst="rect">
            <a:avLst/>
          </a:prstGeom>
        </p:spPr>
      </p:pic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B4ED817-B792-4CFA-99D1-0956DF3D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Conservative reading: HMAR and PixelVAR are the strongest non-memorizing candidates measured; PixelVAR wins sprite-feature, HMAR slightly wins some Inception metrics.</a:t>
            </a:r>
          </a:p>
        </p:txBody>
      </p:sp>
    </p:spTree>
    <p:extLst>
      <p:ext uri="{BB962C8B-B14F-4D97-AF65-F5344CB8AC3E}">
        <p14:creationId xmlns:p14="http://schemas.microsoft.com/office/powerpoint/2010/main" val="22048765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8C9770-0100-46A1-9B28-97316D5B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4888C-76D2-468E-89DF-F73F743E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2-marker">
            <a:extLst xmlns:a="http://schemas.openxmlformats.org/drawingml/2006/main">
              <a:ext uri="{FF2B5EF4-FFF2-40B4-BE49-F238E27FC236}">
                <a16:creationId xmlns:a16="http://schemas.microsoft.com/office/drawing/2014/main" id="{6ACF4FBD-8391-4B26-B05B-F2A3A634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2-label">
            <a:extLst xmlns:a="http://schemas.openxmlformats.org/drawingml/2006/main">
              <a:ext uri="{FF2B5EF4-FFF2-40B4-BE49-F238E27FC236}">
                <a16:creationId xmlns:a16="http://schemas.microsoft.com/office/drawing/2014/main" id="{3B5F2D49-6D00-46FC-8351-4607AE2E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PIXEL-ART DOMAIN METRICS: FULL INTERNAL 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40357-572B-4286-B6B8-54D79489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Palette consistency is perfect by construction; structure and exact-match metrics carry more interpretive weight.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A8153-2201-4504-92D1-1B514FAD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CAC01-925F-4060-A0DE-76D0DD2C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Domain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DBD3B-FD13-482E-A6C8-E23BA521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10/19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A26EE-6E01-439D-B85D-B594ABFF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85900"/>
            <a:ext cx="11239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4C5838-04C6-4322-8B12-7AC9A102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7C044-4A4F-48BA-9D4F-A0CDD65B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5621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Palette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9F5623-687B-4054-BB80-1CDE258F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562100"/>
            <a:ext cx="866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Opaque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D6DE6-8AEA-4BEC-8E76-7F7AB8B5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562100"/>
            <a:ext cx="866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Ref opaque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4FE84A-A122-4971-A802-B01F7C2E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56210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764AF-848D-4CF0-A762-EB6EBB70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62100"/>
            <a:ext cx="7715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Ref edge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25673-B700-4147-9ADE-5917D8B0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5621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Unique colors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BF9552-9B3D-4C75-99B7-20CB4633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62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Pixel NN L2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73F7AD-3137-411F-A228-565E79B2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562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Exact 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60C53D-7C27-4412-B77D-21AC4B82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097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411061-3232-4910-8058-DD2FC868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1B5709-65AB-4A05-9DE4-2E7EF6C2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8859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E1EDA7-8012-4459-9F7F-B754957B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8595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0.2276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C1D50C-CBC7-4E25-AEE4-7288FF2F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88595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0.2353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1307B8-C48E-4520-A723-0FE35F6E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8595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B82888-72D8-4227-92E6-783F5A29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88595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353EBD-47FA-4262-804A-F08D0266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859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11.9294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BD629B-24A3-4C96-A4DD-B25C3E8D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8595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5.2384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102A4E-4D88-4F6B-9FDE-F231C99A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8595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0.000732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E9D3B4-7CA6-4F69-B945-945D5D41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241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0AB6A8-DB1A-485E-9704-22C23BF1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24100"/>
            <a:ext cx="1123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92F2EF-05EA-43EF-B44F-22928481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030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step=1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061097-35AB-411E-9BF5-756D2CC2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0030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F1AE48-ABCD-4355-BCEC-C761ACCC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0030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0.2269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578399-FF27-4087-AE7E-28637EDE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40030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0.2353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12F89D-14FB-4F4B-91EE-65459F58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0030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4B69AD-75D6-4D70-B5BB-BF2FF545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40030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8C61FE-2394-4479-80AC-F6693B50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003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11.8301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20E3EE-F6EA-44D0-8A39-9C93CBE9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03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5.2180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CF06E8-C3CC-4155-9A09-688CA6E9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003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0.000488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DD5BD6-4B15-4F65-97B2-37DAF25A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384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776057-BA60-4A8E-9B9C-6F93E7F2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raster AR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735269-69B9-4828-B618-0A2783FF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1465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0E5513-2111-4271-8CDF-452A03E4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1465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0.2321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4B43B2-BDB8-40C0-A8F1-B0DD0B04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91465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0.2353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2F7739-2CB6-4F96-AC6C-C844D1FE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1465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0.1790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C596D1-B69B-4ADB-B1CD-BC84E54B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91465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0.1807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6B3960E-A07B-419C-9E54-9F0693FA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1465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11.0378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D76306-04BB-4F11-B478-B0C17F41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1465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3.4928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AF98400-794E-4755-BAC1-9A3DBBC9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1465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0.011230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70B34C-AA3F-403F-B8E3-6EF4BAA0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9EF13A-99E4-4077-AA63-88CB8667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52800"/>
            <a:ext cx="1123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6A8C410-C963-4E2A-916E-B02968D6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1581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MaskGIT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2AB90BB-063C-492A-B05A-565B1EF0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29000"/>
            <a:ext cx="819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857F575-D6F9-4DF7-9BE7-40D1FB17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2900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0.1942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80BBD29-654E-4952-AF7B-B6B5686B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429000"/>
            <a:ext cx="8667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0.2353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FEBCECB-7F73-46A6-A110-19DD908D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2900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0.1631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1024FE4-EF59-41C0-8885-8494BD24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429000"/>
            <a:ext cx="771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0.1807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4E48403-7A9A-40C8-AC27-3508A4A4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29000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11.8718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DAEFE46-E0B7-47F9-9CA7-63ADBE6B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290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9.5599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4F4DB41-9058-4B8F-B832-FBB3C0DF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29000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0.000000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9E4A2D0-9894-410B-AE5E-23425557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990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75DD619-AC95-4E47-AA2C-EFCD4F94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9906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C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A55F0FA-A888-44CF-B8CE-BC6D8324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960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How to read it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7C633CF-B9A9-44BF-A8D8-84ACD74B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9601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PixelVAR and HMAR match reference edge density closely. Flat AR has great-looking metrics partly because it reproduces data. MaskGIT under-fills sprites and loses coverage.</a:t>
            </a:r>
          </a:p>
        </p:txBody>
      </p:sp>
    </p:spTree>
    <p:extLst>
      <p:ext uri="{BB962C8B-B14F-4D97-AF65-F5344CB8AC3E}">
        <p14:creationId xmlns:p14="http://schemas.microsoft.com/office/powerpoint/2010/main" val="167559226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781706-B56A-4EE9-AEF0-65A56FCF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3B749-078A-441C-82F5-97B86759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3-marker">
            <a:extLst xmlns:a="http://schemas.openxmlformats.org/drawingml/2006/main">
              <a:ext uri="{FF2B5EF4-FFF2-40B4-BE49-F238E27FC236}">
                <a16:creationId xmlns:a16="http://schemas.microsoft.com/office/drawing/2014/main" id="{BCB444BB-4B5C-4964-8E29-40ABC8FF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3-label">
            <a:extLst xmlns:a="http://schemas.openxmlformats.org/drawingml/2006/main">
              <a:ext uri="{FF2B5EF4-FFF2-40B4-BE49-F238E27FC236}">
                <a16:creationId xmlns:a16="http://schemas.microsoft.com/office/drawing/2014/main" id="{0D8BCF6F-D0FD-4375-AFDF-98FD59D0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METRIC INTERPRETATION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08491-1127-4F5B-B160-1EAD06EE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serious read uses metric families together, not a single leaderboard number.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A20E3-8EA0-4EDD-A222-78B603DA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E401D8-03E5-4936-9EC7-67B96AF4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Metrics caveats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E0266-F0B8-481A-BA5C-8B839536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11/19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D439B6-797B-4E3B-B3C2-2F36D6A7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7632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18B2D-140B-4D84-A71F-BFE9B660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Metric family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6C264-35B5-4F47-87B3-47AA39C1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504950"/>
            <a:ext cx="481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What it tells 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CA0B7-A371-415B-9ACF-1AADFFFC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04950"/>
            <a:ext cx="3676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How we used 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1473F-0FA9-4BAE-8A5C-894D6AC7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218BFE-3F4D-4C73-83D3-9FAEA381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Sprite-feature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774448-E4B8-4EE0-BFD7-06EDDE47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828800"/>
            <a:ext cx="481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Frechet-style distance over sprite-specific palette, silhouette, entropy, and edge features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1C692-E742-479E-A725-67372874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2880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internal selector for VAR/HMAR/data branches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74684A-F0AD-4112-86EF-0AED8FC1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1FE362-0EA4-4B7A-AF44-16F5EB48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20ABFB-71FE-4E8E-842B-15637BC2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FID / KID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3E1F73-6AAC-47AC-888D-6692B586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00300"/>
            <a:ext cx="481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standard Inception-feature real-vs-generated distribution distance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F744F0-22D7-4B28-97FF-EFC4E5F9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0030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reported for credibility, but caveated for tiny pixel art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330B8A-A6ED-4AF5-A8CA-FBF60816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B7D1D1-0772-4E39-909C-FCE966AF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Precision / recall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4948D5-9E13-4EB0-A776-B3C9C5A0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71800"/>
            <a:ext cx="481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fidelity and distribution coverage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ADF013-B199-4A7C-A709-1AE211D5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7180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read together with memorization audit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CB977B-1110-4581-A3D3-FA4F8136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67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C45CFC-ECDD-4DE1-8BD1-D05B5082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6710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8CFF4D-4B37-4B18-BEB5-92572880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Density / coverage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A0E756-53C0-428C-A1D1-281891C4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43300"/>
            <a:ext cx="481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PRDC neighborhood coverage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4AED20-0A99-4B03-9BDA-096D689A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4330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external baselines are far below PixelVAR here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A8E802-DC32-4511-BD18-BBB53EBE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5FCD0D-8533-4F2F-AFF7-6D5EB213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MS-SSIM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113C8B-47E5-4338-A7D0-769D47A6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14800"/>
            <a:ext cx="481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sample diversity proxy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FF6D06-4530-4BA7-B982-87B6375A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1480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lower alone is not always better if samples are malformed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C5DEA1-CF3B-46FA-948C-93A59F3D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6F7882-6C47-4AF4-9EF8-81F74E85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16BEB0-E61C-4B8E-A9C7-B2D7719D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 metrics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D1C780-2697-4D87-A892-2A17AEA4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86300"/>
            <a:ext cx="481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 compliance, unique colors, opaque ratio, edge density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28D0BE-A262-4685-A02D-2B191DF9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8630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domain checks; palette consistency is expected for token outputs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D02E5B-7BFD-483D-BDCD-E0AD4CBF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816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F264F3-6199-49CD-9C59-7908BF23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866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Exact-match audit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C40094-FCC9-4D58-9235-6E7A9F1A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57800"/>
            <a:ext cx="481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generated token maps copied from train/val/test or duplicated internally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7E45ED-802F-4562-B4B9-70517297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257800"/>
            <a:ext cx="3676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decides whether Flat AR is a clean winner or a memorizer</a:t>
            </a:r>
          </a:p>
        </p:txBody>
      </p:sp>
    </p:spTree>
    <p:extLst>
      <p:ext uri="{BB962C8B-B14F-4D97-AF65-F5344CB8AC3E}">
        <p14:creationId xmlns:p14="http://schemas.microsoft.com/office/powerpoint/2010/main" val="188064927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B5E9ED-9460-4B46-A37D-4B02B544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69BA5-CAB7-4952-ADFA-9B6CFD02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4-marker">
            <a:extLst xmlns:a="http://schemas.openxmlformats.org/drawingml/2006/main">
              <a:ext uri="{FF2B5EF4-FFF2-40B4-BE49-F238E27FC236}">
                <a16:creationId xmlns:a16="http://schemas.microsoft.com/office/drawing/2014/main" id="{EF3F7A69-8359-48B0-B80D-FDB5D314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4-label">
            <a:extLst xmlns:a="http://schemas.openxmlformats.org/drawingml/2006/main">
              <a:ext uri="{FF2B5EF4-FFF2-40B4-BE49-F238E27FC236}">
                <a16:creationId xmlns:a16="http://schemas.microsoft.com/office/drawing/2014/main" id="{B976E15D-7D44-49FA-B445-5EE1C754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MEMORIZATION AUDIT: FULL 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317AA-D512-4E72-AE9B-B999E671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Flat AR's raw metric advantage collapses under exact-match auditing.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903DB-DB01-4664-969C-165182F5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2EF17-4E47-4A4C-ACD3-42E7D277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Memorization audit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1BE93-CFDC-4D79-B9BA-1518DBE0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12/19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24357-19FF-43A5-B15C-91319A93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99060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5D986-6152-4B0A-8021-B4235B79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91BC0-2739-4871-A122-7EFE79D4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573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Train exact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325C5-3FB2-49E1-A5EC-60A38620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6573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Val exact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8324C-1FA1-420D-A5A3-B3BEA04F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57350"/>
            <a:ext cx="100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Test exact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18465E-2ADF-4120-AF1B-C8BD2A12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Generated duplicates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EDB81-87B9-49B6-B929-E2BA7693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657350"/>
            <a:ext cx="2724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AFE004-8538-4BF0-A603-D1FBC52C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2D225C-3DD7-4411-904E-12CA966A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C37260-0436-4DD1-92E2-97CCDAF7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981200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A78C3C-7839-47D3-9BE2-E5CAEE5E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8120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9409F8-3A68-4047-8454-C89A5912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8120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328F32-5CDE-415C-9902-0012F524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81200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75FBF9-C029-4DFF-ACE7-B7573A88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8120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low exact-match rate; disclose and keep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4447D2-1900-4079-859B-A0D764F2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F64D2B-C4E3-4D50-AAFD-FD36C283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6116DA-89E6-4507-AE05-9B9EF59B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step=1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F818F6-C400-4F3E-936D-16E0EA5C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52700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62A258-F5AE-4C25-9DAA-5B9E1155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5270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406D8E-F6EF-4151-A332-6EBCAE5B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5270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8A9247-A795-40F2-A3CF-CDAC1936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52700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026D1F-2973-479D-A9B4-36D13269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5270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low exact-match rate; disclose and keep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B3F3E8-88FC-4FAA-A08C-A43D794D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421F20-CAB9-4968-AD38-3688D544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16764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73514F-CD9A-4874-961A-2FB7B1D8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24200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3162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AF86C7-BF74-476D-90D9-E61B53D3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2420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365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B6E309-93B8-40E4-AA07-16288471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24200"/>
            <a:ext cx="1009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333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072CE4-AF10-4101-BBBE-2F73B544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24200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206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5713C5-7C0D-46AD-BC9F-F719A3B9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2420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memorizing; disqualify as clean winner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E73265-8A3C-407D-A1EA-D2AEA0F4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86200"/>
            <a:ext cx="4286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52bb07533c4063"/>
          <a:stretch xmlns:a="http://schemas.openxmlformats.org/drawingml/2006/main"/>
        </p:blipFill>
        <p:spPr>
          <a:xfrm xmlns:a="http://schemas.openxmlformats.org/drawingml/2006/main">
            <a:off x="1735455" y="3924300"/>
            <a:ext cx="3291840" cy="182880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810D18-4C1F-45B2-AA2D-0BFADC17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4095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626280-68C3-4FB7-83A8-1D5578E6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4095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362D22-1A95-4342-BF62-CCE8ABF6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10050"/>
            <a:ext cx="3790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Split check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887C0C-AE77-4D14-B3B9-17E200DC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91050"/>
            <a:ext cx="37909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The processed dataset has zero cross-split exact duplicate hashes. Held-out exact matches are not explained by exact duplicate leakage between train/val/test.</a:t>
            </a:r>
          </a:p>
        </p:txBody>
      </p:sp>
    </p:spTree>
    <p:extLst>
      <p:ext uri="{BB962C8B-B14F-4D97-AF65-F5344CB8AC3E}">
        <p14:creationId xmlns:p14="http://schemas.microsoft.com/office/powerpoint/2010/main" val="198739911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900371-90EB-421D-A57B-5FAA3B04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D8473-DC28-4563-B66B-530A539F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5-marker">
            <a:extLst xmlns:a="http://schemas.openxmlformats.org/drawingml/2006/main">
              <a:ext uri="{FF2B5EF4-FFF2-40B4-BE49-F238E27FC236}">
                <a16:creationId xmlns:a16="http://schemas.microsoft.com/office/drawing/2014/main" id="{339DC166-0CEF-4ED0-AF9E-0F0664C4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5-label">
            <a:extLst xmlns:a="http://schemas.openxmlformats.org/drawingml/2006/main">
              <a:ext uri="{FF2B5EF4-FFF2-40B4-BE49-F238E27FC236}">
                <a16:creationId xmlns:a16="http://schemas.microsoft.com/office/drawing/2014/main" id="{E8AA6F78-42D9-4961-9379-CCED5E11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EXTERNAL BASELINE STATISTICAL STRENGTH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7AEF5-783F-4691-B164-65D38105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External rows are serious attempts, but they do not all have equal sample count or task fit.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24BA2-DFB5-4E92-A4ED-72ACE3E8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BA4FB-BEE7-4A7B-8763-586B19D1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External baselines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7EB77-792C-465E-A93D-BB9D3D4E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13/19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24A82-4D10-4F0C-BCCA-9EBC6F70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71600"/>
            <a:ext cx="112395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AECF4-A63F-43C4-A9F6-1452D9AB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438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D7D9B-3549-461D-BEF5-8C7F5E30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44780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Images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FB786-E410-4A88-A85D-E1D0F01E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447800"/>
            <a:ext cx="2819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Why included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089679-89EB-4DAC-B641-00B71AF8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447800"/>
            <a:ext cx="33432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Main caveat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843A84-6B5E-4D9A-9B26-8E542F80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447800"/>
            <a:ext cx="23907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1E280A-6FA7-449E-83E8-5EF038F4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954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9DA849-49C1-4176-92DE-2D64FE8B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438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DF848C-01CE-411E-AD44-EFB5819D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771650"/>
            <a:ext cx="581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B3829C-B291-47F2-807B-A694627E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7165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most targeted low-res/palette released-code method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F0AB4E-762E-485E-B4A4-B4028313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71650"/>
            <a:ext cx="3343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per-image prompt/image optimization; visually failed after adaptation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AC2004-6726-4DCC-B582-3DEA66FE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771650"/>
            <a:ext cx="2390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keep as targeted attempted 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C59F67-B15F-456B-B57C-46D80506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622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4D0FFA-428A-4870-A674-1EF52EB2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62200"/>
            <a:ext cx="1123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0AD812-5EFD-40FA-9DA0-27690096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38400"/>
            <a:ext cx="1438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diffusion smoke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65F360-DADD-4810-BA19-8C3F63D2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438400"/>
            <a:ext cx="581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2A19E9-5D04-4A8A-8B42-C780DF5D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3840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generic practical diffusion comparison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FCF2AF-12EB-42BA-9784-3933BEB7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38400"/>
            <a:ext cx="3343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text-to-image, prompt-sensitive, many malformed crops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A832B0-1477-4B85-876C-C102D7D7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38400"/>
            <a:ext cx="2390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smoke result only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8E7EF6-3DB2-4992-B07C-5CCD839C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289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98FCAE-7AC3-4F8D-B3AE-159634E9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1438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diffusion primary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6C7436-C95B-4E42-BD01-E7E1D15A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105150"/>
            <a:ext cx="581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BEA2CC-3580-4AFF-80DF-FD0E4122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0515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scaled generic practical comparison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A176ED-D04C-44BF-BE2D-6001878D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05150"/>
            <a:ext cx="3343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still far below PixelVAR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ACE918-F1EB-4E0D-BC05-5847C35B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105150"/>
            <a:ext cx="2390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keep generic external row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0ABAE8-A3EE-4D30-B1E8-D853007B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957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7A2AE5-71B1-4641-87B5-D24A5E23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95700"/>
            <a:ext cx="1123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442C20-EAD6-42EE-8ED4-5A8631FC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71900"/>
            <a:ext cx="1438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sprite LoRA smoke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45E25C-8B35-4255-BE60-37597CCD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771900"/>
            <a:ext cx="581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09A888-17A8-46B2-B73E-574F6B62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7190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more targeted practical sprite generator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FBEAA5-1632-4AB6-8E72-2E1E2C69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71900"/>
            <a:ext cx="3343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trainer style, not MSD; frames/fragments remain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9B60B7-F0B5-4763-BE6B-AAEB9820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771900"/>
            <a:ext cx="2390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smoke result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9930EA-9E24-4A3A-AB19-7F1D5317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624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4478F8-7E4A-47C0-B389-14175228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38650"/>
            <a:ext cx="1438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sprite LoRA primary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353BC76-66A1-4F04-8490-6EFE67CD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438650"/>
            <a:ext cx="581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737798-8B92-4485-85E2-AA778012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3865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best accessible practical sprite-specific generator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50E1D1-7E37-4EF7-B70F-BF17EEEB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38650"/>
            <a:ext cx="3343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not architecture-equivalent; still below PixelVAR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667772-1C9A-4FA0-92EA-21396A48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438650"/>
            <a:ext cx="2390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primary practical external row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402528-1E25-461C-BD75-FA623672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D989E34-37B3-457C-9496-C38D67E6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29200"/>
            <a:ext cx="1123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E8A33F-A11B-4FE5-B3F5-7D529CD5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1438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MDIGAN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D3029F-102F-45E9-A29D-BAFACF19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105400"/>
            <a:ext cx="5810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not run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638D93-B892-472B-B557-BCB6765A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105400"/>
            <a:ext cx="2819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direct character-sprite related work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D43B425-FFC8-4859-85DA-2657B100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05400"/>
            <a:ext cx="33432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conditional paired-pose imputation, not unconditional sampling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A8C0F88-A344-4DC1-90D7-BFEB392F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105400"/>
            <a:ext cx="23907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cite, not numeric row</a:t>
            </a:r>
          </a:p>
        </p:txBody>
      </p:sp>
    </p:spTree>
    <p:extLst>
      <p:ext uri="{BB962C8B-B14F-4D97-AF65-F5344CB8AC3E}">
        <p14:creationId xmlns:p14="http://schemas.microsoft.com/office/powerpoint/2010/main" val="152309420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158600-C1B6-4178-A952-A654B49D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A3014-71E9-4989-BAB7-1D3275AF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6-marker">
            <a:extLst xmlns:a="http://schemas.openxmlformats.org/drawingml/2006/main">
              <a:ext uri="{FF2B5EF4-FFF2-40B4-BE49-F238E27FC236}">
                <a16:creationId xmlns:a16="http://schemas.microsoft.com/office/drawing/2014/main" id="{46E1A7C2-11A4-4248-93F4-0352C3E9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6-label">
            <a:extLst xmlns:a="http://schemas.openxmlformats.org/drawingml/2006/main">
              <a:ext uri="{FF2B5EF4-FFF2-40B4-BE49-F238E27FC236}">
                <a16:creationId xmlns:a16="http://schemas.microsoft.com/office/drawing/2014/main" id="{30170527-023D-4A0D-8238-DE7C519F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EXTERNAL METRICS: FULL COMPARISON 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855AA-42E2-4594-9053-337F0717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Every external output was normalized to the same 32x32 RGBA PixelVAR palette protocol before evaluation.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ABB95-0591-4A4D-B8A6-88B388D6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30997-6D82-4A8A-9A5C-084FECE2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External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1A707-1901-488C-9A5A-3CF86D2A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14/19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CFABFA-60F7-4CD5-9AB7-C2937C77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66850"/>
            <a:ext cx="116205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702F1-1D56-419C-AEF8-F7F98899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5430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External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881811-9780-468F-8AB7-6444019A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54305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FABFD-19BF-4CAB-9264-BFABC55C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5430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PV FID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12D34E-DB63-4533-9842-03B05F16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430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 FID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7126D-EEA2-4901-8E0D-0228F436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5430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PV KID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6FA9F2-4D32-48C6-B0DD-08D01546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430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 KID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C340C3-28CC-4D86-BF72-A972868A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54305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PV Prec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90D50F-A703-4D13-AC0D-143988A8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54305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 Prec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BCF9A7-C011-4C58-A1A8-DAE1F1C3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54305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PV Rec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7DA72B-B098-473B-B496-B5AFACA6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54305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 Rec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4C0C9F-6FA8-4C08-8D50-B419494A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4305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PV Cov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BEFC8E-2B85-4E0D-809C-45820B40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54305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 Cov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46C538-F756-4D25-904C-D58C9904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543050"/>
            <a:ext cx="581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 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E3B09B-4A57-43D8-86A4-683C374A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90700"/>
            <a:ext cx="1162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90B715-E94B-4CCC-8B36-E5C25408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86690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ECC2F7-2014-4BED-9313-A58700EC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866900"/>
            <a:ext cx="247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11B328-197B-4B53-B8B2-046B2794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86690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151.0927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1B8605-FE6E-46A3-88B0-BE3E911F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497.7065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243A52-49C7-4DAB-A6DC-DB9408CF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6690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0.014713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727882-308B-4A3F-8856-DCF34E7A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6690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0.517647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2ACBDB-661A-4C72-B519-94F7F854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669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E96DED-3796-443D-A073-8EE07902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8669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600905-815F-48AA-80FC-24A6CA2E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669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0.9375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CD2E4E-DEE7-4CC6-B9E6-B79B2B4A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8669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603F73-1263-4A5A-BD31-150EACB6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669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1.0000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863618-FE98-4C04-BDC3-8AB771C7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8669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949B34-1743-434A-BD35-F5AF596A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8669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0.4926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E6DEC6A-0A1E-4F63-9D0C-A7F9F7AB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343150"/>
            <a:ext cx="1162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B60EC1-9109-4D48-8464-4C019C33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343150"/>
            <a:ext cx="1162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1C7C13-0CCB-483B-BDBE-AC0B3DD0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1935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smoke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3768DA-D6DE-484B-ABBB-35CDDEE3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19350"/>
            <a:ext cx="247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4739B6-7C0D-4B4C-94E3-FEA82081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1935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87.8128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04D840-5541-4F06-9B3C-9FEB1D11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1935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196.9628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4428D7-CAEB-4956-BFBA-C7EE6ADB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1935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0.007124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3B4D9F-71A0-461B-9E2F-C0E5D260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1935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0.092097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395109-5A68-4FCF-882C-7FE86076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193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0.8125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C6246C-B0AF-4252-A329-F8A70D24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4193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0.0312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D82FFD0-198C-4950-89FC-9F15EBE0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193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0.9375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7AEDFB-1F6F-45D8-8570-EBE1926B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4193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0.6719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8E53EC3-06EF-4D67-B5B9-72BDCAD7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193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0.9219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BA0BB2-D65F-41FC-A60C-06024F10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193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0.0469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A2B6DF-B413-41B5-8F70-91703BF4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193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0.3935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52EA95-1247-4DD8-BD23-F23B6B66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95600"/>
            <a:ext cx="1162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8F8099D-75A8-4E53-9E9B-C204C800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97180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primary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D25358-5C21-4107-84F7-89AD229E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71800"/>
            <a:ext cx="247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C3656F0-A353-466A-B44E-6CB5506A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7180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46.4794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4C2EA4-B9AA-438F-86C0-DCAEDF49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7180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158.5819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B7D6731-830E-4CB7-BB6F-5E9EDA30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7180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0.007480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1C1A066-86BF-481B-BCF7-DB69AB1B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7180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0.102159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34D25EA-B61A-4A57-A38E-AC398461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0.9102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D4B718A-C0E3-4761-BF8B-2FF61162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9718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0.0547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53CC3D4-E82C-46C2-B4EE-2AABBEC2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718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0.8711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5834F7A-E359-4EB8-A623-8BD43F7B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9718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0.4922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C8F7CEF-B7D9-4C07-8C7C-DA6C2E3D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718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0.8906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08F1097-C1F2-4C32-99B0-966A219D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9718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0.0352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8445C2B-3EAF-459B-8DC6-F7AE19BE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718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0.4107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B14ACBD-61BC-45E4-BC58-905554E4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448050"/>
            <a:ext cx="1162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40769AF-75F8-40F7-AE34-9BDABFB25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448050"/>
            <a:ext cx="1162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62AE5CD-9B3B-4A1C-B696-3C218DFB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52425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LoRA smoke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79B0EE5-008F-4EC6-88D2-1AE94248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24250"/>
            <a:ext cx="247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A970A31-11EC-4C53-BBAF-99CF6298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2425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87.8128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65CF37E-0ED1-454F-863C-EFD4EA54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2425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184.3101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5372A51-FD9D-406A-9EB9-13EC0E98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2425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0.007124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30C2441-1583-4BD7-9664-80EE6D00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2425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0.130036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E5033A5-87DE-4CBC-91EE-21A12921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242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0.8125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1EA0C26-7A66-4827-98C3-3A85BD91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5242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0.3125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6E05DC0-FD92-4E56-8EFC-D47F2C36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242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0.9375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C31A507-B9E8-4282-827F-4B3D6E1C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5242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0.2812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FEFA2D1-9B3B-4F37-8A44-E1903F6A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242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0.9219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F154F08-9289-4D6F-BE21-5B4EE5D2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5242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0.1094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30EE364-467A-4304-A2E9-79A181B9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2425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0.5171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6B1CBCD-27BA-4D9D-A901-ED5B28A4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000500"/>
            <a:ext cx="1162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BD95FB9-8A70-4DD5-901A-6514D069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076700"/>
            <a:ext cx="1295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LoRA primary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4E2CFEF-AC0B-433C-9837-71A9F7DB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76700"/>
            <a:ext cx="247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E2B49F7-8C56-4943-92BA-7946A558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7670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46.4794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D69A742-94CE-405F-A9C3-D76D60F1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76700"/>
            <a:ext cx="628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154.0150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13C280C-F7BE-4E0B-9AE9-9984A5FC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7670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0.007480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816159D-F5E9-4A8B-8654-ABDBF3EF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76700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0.136589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5E5F753-2B0D-4395-A319-B005C077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767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0.9102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4C51201-8DB6-4C63-8270-CEBFF859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0767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0.1172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8FF7D1E-1448-48E3-AD3E-4FF9CACA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767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0.8711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1658B46-B031-486B-9D35-1987D80A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0767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0.1211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F4D8CDA-B21D-4DBB-B060-29580A6A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767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0.8906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03D61CD-C91D-4E7E-AE60-89F5B6EB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0767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0.0508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5BAFA57-4967-4BA9-B62F-D544812F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76700"/>
            <a:ext cx="5810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0.5421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6A7C379-CF85-4F80-A4E6-179D890E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1009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 consistency is 1.0000 after normalization for these rows; that confirms protocol compliance, not native palette learning by the external models.</a:t>
            </a:r>
          </a:p>
        </p:txBody>
      </p:sp>
    </p:spTree>
    <p:extLst>
      <p:ext uri="{BB962C8B-B14F-4D97-AF65-F5344CB8AC3E}">
        <p14:creationId xmlns:p14="http://schemas.microsoft.com/office/powerpoint/2010/main" val="1093677018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EDDE62-D22C-4B42-95DC-93A747BB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CB2B3-3278-4F6A-B132-12B1D055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7-marker">
            <a:extLst xmlns:a="http://schemas.openxmlformats.org/drawingml/2006/main">
              <a:ext uri="{FF2B5EF4-FFF2-40B4-BE49-F238E27FC236}">
                <a16:creationId xmlns:a16="http://schemas.microsoft.com/office/drawing/2014/main" id="{68CD5C1B-D1AA-43A7-8F5E-1AB9564D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7-label">
            <a:extLst xmlns:a="http://schemas.openxmlformats.org/drawingml/2006/main">
              <a:ext uri="{FF2B5EF4-FFF2-40B4-BE49-F238E27FC236}">
                <a16:creationId xmlns:a16="http://schemas.microsoft.com/office/drawing/2014/main" id="{29ED2718-C66C-407E-8E9D-745F5F27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RELATED BASELINES THAT WERE EXCLUDED OR BLOCKED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61FBB-B2AA-4D43-8989-88A8EBBA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Several related methods were checked, but forcing them into the metric table would be misleading.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13379-43E1-45A7-B2C2-FC311EB0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B6872-AF9E-4D90-9681-A9ACD929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External baseline decisions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F1C97-3D2D-4B59-B1F6-BEBF2408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15/19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6C06C-F8B6-4B2B-B762-478622E1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085850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0894C5-6721-4328-A976-22917FD0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234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E569E-477A-4F39-AB95-BE616CA2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543050"/>
            <a:ext cx="3295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Why related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86152B-F2B0-4E06-A442-C337B786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43050"/>
            <a:ext cx="4819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Why not a direct numeric row now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10415-8D6E-48A0-9D21-1B256206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7E642F-AC00-4538-BC8A-EB24F2E6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2343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MDIGAN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A9560B-501B-4A08-A895-99BD8E08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66900"/>
            <a:ext cx="3295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character sprite generation with released code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6F2DCF-F20E-4078-B64F-AC81157C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66900"/>
            <a:ext cx="4819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conditional paired-pose imputation; receives reference poses PixelVAR does not 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3DC3FD-517C-4F4B-821E-133F99E6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060C8-0B9B-4B5B-8EF3-43C37101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1085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1E0B0F-812A-4CF7-97CD-519DDDFD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343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Generating Pixel Art Character Sprites using GANs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4F730D-627F-4BE0-8633-4B41900E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86050"/>
            <a:ext cx="3295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direct pixel-art character sprite work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AC7068-76E8-4CA3-8598-C7144290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86050"/>
            <a:ext cx="4819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pose-to-pose / conditional framing; cite as related work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8B164B-A389-446D-B7B7-23CAD6C7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546CE1-1D61-48B2-BA12-3ECD9623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2343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PixDiff-PIG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1FA77D-D267-49D4-9BCC-D6A2938F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05200"/>
            <a:ext cx="3295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palette-informed diffusion for pixel art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C8525D-9132-4842-BBE3-EC7A5F9E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05200"/>
            <a:ext cx="4819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targeted search found no runnable public repository or weights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465F92-B820-4F15-ADF5-506B8FF9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5B3BAD-B7CA-4C5A-BA23-2A85FB2B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1085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BCEA30-7979-4D77-A59E-66BAC3CA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343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achsaf/vq-diffusion-pixelart-16x16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6F18B6-4B14-4467-8C8B-29B5DEB4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324350"/>
            <a:ext cx="3295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architecture-adjacent discrete diffusion over 16x16 pixel-art characters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DF695A-A5B6-4A2B-98F7-02C0CD0F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24350"/>
            <a:ext cx="4819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model files returned HTTP 401 and native resolution is 16x16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40B67C-5645-414E-B641-FF49D6E1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673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F6D151-23B6-4538-A60F-5EA9D086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2343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Full SDXL LoRA alternatives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0BAC0F-6A8D-4299-822D-721D818C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143500"/>
            <a:ext cx="3295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practical external image generators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3DEF4E-98A9-415F-A282-77835B8D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43500"/>
            <a:ext cx="4819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prompt/model sensitivity; only the strongest accessible Pokemon LoRA promoted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54F3C0-CE99-4E87-9F6A-05D7D8A2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This is a seriousness point: we did not omit MDIGAN/PixDiff-PIG randomly; we separated related work from fair unconditional-generation metrics.</a:t>
            </a:r>
          </a:p>
        </p:txBody>
      </p:sp>
    </p:spTree>
    <p:extLst>
      <p:ext uri="{BB962C8B-B14F-4D97-AF65-F5344CB8AC3E}">
        <p14:creationId xmlns:p14="http://schemas.microsoft.com/office/powerpoint/2010/main" val="724853345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6694B7-C8A7-442D-A719-5EF6ACD9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6F09F-6C77-4569-9BD4-1C274418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8-marker">
            <a:extLst xmlns:a="http://schemas.openxmlformats.org/drawingml/2006/main">
              <a:ext uri="{FF2B5EF4-FFF2-40B4-BE49-F238E27FC236}">
                <a16:creationId xmlns:a16="http://schemas.microsoft.com/office/drawing/2014/main" id="{059739C1-95D0-4BAF-9EE8-2224CA44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8-label">
            <a:extLst xmlns:a="http://schemas.openxmlformats.org/drawingml/2006/main">
              <a:ext uri="{FF2B5EF4-FFF2-40B4-BE49-F238E27FC236}">
                <a16:creationId xmlns:a16="http://schemas.microsoft.com/office/drawing/2014/main" id="{A17ECAC0-B97C-416F-85E3-B8587EB0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FULL LIMITATIONS AND REASONS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8AB3A-A611-4DDD-B0DD-F71F0EF7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limitations are not hidden; each incomplete item has a concrete reason.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11048-3AF4-48F8-973A-60BE23CD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1DB0A-55E1-46BB-A0DA-304A89D5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Limitations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45311-E2E4-43BF-9303-BB34300D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16/19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0A75D-8757-4D80-AA29-2FF3AC42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52550"/>
            <a:ext cx="112395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0A2CE-A81D-43FE-808D-E4C2CE61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234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Item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79C8F-C81B-4C55-98B3-D96B058D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4287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840981-8531-474F-9421-55FD25C0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28750"/>
            <a:ext cx="7200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Reason /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2C8FB-2707-4612-BB10-6B5098F9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764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81121D-CC57-47B1-B12C-A91A449A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Neural multi-scale VQ-VAE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880B0C-5EE7-43AD-9E72-A8045FF6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5260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D54400-AAE0-46F1-86C7-AAF5247C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52600"/>
            <a:ext cx="7200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implemented, but reconstructions were too soft/ghosted for pixel art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A2AAAD-64A3-4FDC-9B95-A1CE3D5B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907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8E8D22-A537-4F41-975C-613A7EDD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90750"/>
            <a:ext cx="1123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8BD7DB-864B-4E2C-91B3-AEB2F0B7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Patch-VQ learned tokens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EBB2FA-D6B4-4D49-9043-8B9D2D2C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6695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ABLATION 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E3BF17-2255-4E31-9DBD-62FD7A4C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7200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worked technically; 143/512 codes used; blockier decoded samples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75C3F1-6B2F-491A-A5C0-E38CAA70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051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4830DD-86C1-4D40-8AC4-EEC916AF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8/32 palette ablation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BF54BE-7D41-48CF-B885-A0DE7BA9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8130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SETUP DONE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A7FA4D-8DF5-46FA-AD5D-17FB7F56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7200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configs and actions added; GPU metrics pending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5BF519-0F58-4E28-8BEF-1D08A63B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4245CF-394A-47CD-964E-D3DA17C0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19450"/>
            <a:ext cx="1123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26FA1F-F24D-4C9D-8298-786A62B8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9565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4-scale hierarchy ablation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AAB037-4539-463B-B159-CD5A624A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9565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SETUP DONE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E867BD-3936-4458-A114-48E324DC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7200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runnable; metrics pending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3C048D-BAA2-428B-B5CF-8E5B2375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33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24047B-5575-47F3-AB0C-60EB90AC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User study n &gt;= 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FAE8F2-1385-41C2-9D40-93B23302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1000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NOT DONE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B0106D-D984-4EF8-9674-A62CE6DA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10000"/>
            <a:ext cx="7200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requires separate survey, randomization, collection, and analysis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562C34-CC46-44BB-BCE2-B5A82CCE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48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FB60BD-F22B-40F4-8E9D-2E812BCF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48150"/>
            <a:ext cx="1123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4DB32C-4248-455F-8274-34AF0C7C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64x64 generation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845424-D78A-41A7-8181-F2DD0620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2435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NOT RUN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8C18C0-28BA-46D1-85B0-2474EABD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24350"/>
            <a:ext cx="7200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sequence length increases from 1,365 to 5,461; postponed after 32x32 proposal completion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593E12-A322-43E0-A789-CF6A7003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B88CFD-0ECB-4C82-AE5E-38A614BE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3870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Original Kaggle dataset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CDF692-DC12-4100-9646-3CB986A4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83870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REPLACED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E9673D5-BDD3-4A9B-8E2F-CA4D21D4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38700"/>
            <a:ext cx="7200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forbidden/unavailable; live MSD replacement used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230AE5-82F2-4E01-81E0-BC5977F0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768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617E0F-9059-4D38-A1E3-C4AB3443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76850"/>
            <a:ext cx="1123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AC9026B-9C0B-411E-9526-851A35A2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5305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Lightning/Modal friction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A86BFA-2332-4F11-892C-8F096D91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35305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DISCLOSED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7CC0E4-3872-41AB-A8DF-645EAAAA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353050"/>
            <a:ext cx="7200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job handling, spend/GPU limits, B200 compatibility, local command/runtime issues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32BC86-EE5D-4E66-945B-8AE63068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912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C172AB-90CF-4125-AB14-E5BEC0B6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234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Broad SOTA claim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1FBD8DC-54DD-4E05-A541-3C4CCCDA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867400"/>
            <a:ext cx="1295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NOT CLAIMED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2F7B12D-B47B-4FD9-B4F5-1815DDC9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867400"/>
            <a:ext cx="7200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external baselines are useful but not exhaustive enough for broad SOTA</a:t>
            </a:r>
          </a:p>
        </p:txBody>
      </p:sp>
    </p:spTree>
    <p:extLst>
      <p:ext uri="{BB962C8B-B14F-4D97-AF65-F5344CB8AC3E}">
        <p14:creationId xmlns:p14="http://schemas.microsoft.com/office/powerpoint/2010/main" val="1545489515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A8CC24-55F9-4A60-8B88-A59F1E5F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37418-FB02-46D2-BA8B-58339CB9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9-marker">
            <a:extLst xmlns:a="http://schemas.openxmlformats.org/drawingml/2006/main">
              <a:ext uri="{FF2B5EF4-FFF2-40B4-BE49-F238E27FC236}">
                <a16:creationId xmlns:a16="http://schemas.microsoft.com/office/drawing/2014/main" id="{908D5DBE-85A2-43C7-8B81-191EA23D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29-label">
            <a:extLst xmlns:a="http://schemas.openxmlformats.org/drawingml/2006/main">
              <a:ext uri="{FF2B5EF4-FFF2-40B4-BE49-F238E27FC236}">
                <a16:creationId xmlns:a16="http://schemas.microsoft.com/office/drawing/2014/main" id="{D59536E4-B2F5-4B3C-8F7B-B66D6CAA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INTERNAL SAMPLE COMPARISON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7C44E-9A3C-44BE-B047-DE87B251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selected model was chosen against several implemented branches, not one cherry-picked grid.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2FC4B-2D41-469B-83AF-16CE6DDD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D8E00-F848-4B6E-AACA-75C1572D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Q&amp;A: more sample images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8C634-879E-4922-872A-E5665E1D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17/19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A667D-F2CF-4D9C-BE92-7B334143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1C78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1C788"/>
                </a:solidFill>
                <a:latin typeface="Aptos"/>
                <a:ea typeface="Aptos"/>
                <a:cs typeface="Aptos"/>
              </a:rPr>
              <a:t>Real-only VAR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51B76-E4AA-4024-824F-BD7B42C9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0.00147, main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8A1FC-5D73-4A63-8540-C6C3854F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3314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581a1a3e74876"/>
          <a:srcRect xmlns:a="http://schemas.openxmlformats.org/drawingml/2006/main" l="0" t="27647" r="0" b="276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2057400"/>
            <a:ext cx="3238500" cy="14478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FD7C7-8FB2-49EF-9B4A-EB86CD7C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66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HMAR step=1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BE70B-4E23-4D55-B6B2-933A15D9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0.00189, close but behind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3EB92-DB64-41FF-9F98-45C14EAA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19300"/>
            <a:ext cx="3314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ce0b12cc14dcb"/>
          <a:srcRect xmlns:a="http://schemas.openxmlformats.org/drawingml/2006/main" l="0" t="27647" r="0" b="276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9600" y="2057400"/>
            <a:ext cx="3238500" cy="14478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5A3F7-C6C6-453E-A272-414CF40A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66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Generated-keep VAR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5B5A8E-FED3-4581-9F3F-CE627EEF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145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0.00157 self-reference; not direct real-val winner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4A78CB-D426-405C-B124-71BA301D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19300"/>
            <a:ext cx="3314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f9a0c80a524327"/>
          <a:srcRect xmlns:a="http://schemas.openxmlformats.org/drawingml/2006/main" l="0" t="27647" r="0" b="276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2057400"/>
            <a:ext cx="3238500" cy="14478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BC899A-56C5-48B2-8FC7-D894F0F5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481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Real + generated VAR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A43299-2295-48A0-88D7-B62EB92F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0.00755, larger data did not help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4B210D-67E7-43B1-A81D-CB01EF95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3314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68956527e43c4"/>
          <a:srcRect xmlns:a="http://schemas.openxmlformats.org/drawingml/2006/main" l="0" t="27647" r="0" b="276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4438650"/>
            <a:ext cx="3238500" cy="14478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434A57-09F9-48B9-9838-92A25AD0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481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OpenGameArt-mixed VAR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668299-1DC9-406C-92BF-5A5AB085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0.00778, public-data path worked but mismatched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BC2C63-97EC-4D04-BACB-CD92E047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00550"/>
            <a:ext cx="3314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d2d510da941ce"/>
          <a:srcRect xmlns:a="http://schemas.openxmlformats.org/drawingml/2006/main" l="0" t="27647" r="0" b="276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9600" y="4438650"/>
            <a:ext cx="3238500" cy="14478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C568C1-61BA-428A-B1AD-0FC3ADF4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481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Patch-VQ VAR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98518D-F2DF-4B85-9DEC-F8224FCE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957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0.04689, learned-token ablation was blockier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62DA9C-E304-4DCA-88EB-F5593316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00550"/>
            <a:ext cx="3314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eeff32aa944ce"/>
          <a:srcRect xmlns:a="http://schemas.openxmlformats.org/drawingml/2006/main" l="0" t="27647" r="0" b="276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4438650"/>
            <a:ext cx="3238500" cy="14478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C3C94C-4FB6-460C-AFC4-0974CC5F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29350"/>
            <a:ext cx="1009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Read: these are qualitative examples tied to the model-decision table. Only the real-validation comparable branches should be used for the main winner claim.</a:t>
            </a:r>
          </a:p>
        </p:txBody>
      </p:sp>
    </p:spTree>
    <p:extLst>
      <p:ext uri="{BB962C8B-B14F-4D97-AF65-F5344CB8AC3E}">
        <p14:creationId xmlns:p14="http://schemas.microsoft.com/office/powerpoint/2010/main" val="451353051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362ADE-7412-4175-8FB6-5A6E4732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BBAA1-F3B3-41CF-A040-38B8628F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0-marker">
            <a:extLst xmlns:a="http://schemas.openxmlformats.org/drawingml/2006/main">
              <a:ext uri="{FF2B5EF4-FFF2-40B4-BE49-F238E27FC236}">
                <a16:creationId xmlns:a16="http://schemas.microsoft.com/office/drawing/2014/main" id="{B5E00E3E-00C7-49F0-AADA-8301EC95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0-label">
            <a:extLst xmlns:a="http://schemas.openxmlformats.org/drawingml/2006/main">
              <a:ext uri="{FF2B5EF4-FFF2-40B4-BE49-F238E27FC236}">
                <a16:creationId xmlns:a16="http://schemas.microsoft.com/office/drawing/2014/main" id="{E9550267-95A2-45AA-A33A-063B200D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BASELINE SAMPLE COMPARISON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C6765-64A4-4546-A18C-75C7FE3F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The visuals explain why the metric table needs audit and task-fit caveats.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CCB36-6503-48EC-98E1-CC0EA95C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44178-66E2-48D9-AA7B-2BB97C7E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Q&amp;A: baseline visuals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69380-14A3-4560-B2C4-A90C1ABA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18/19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4F405-8BC8-4EB0-B3AA-69FE6EDC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27622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EB05F-4090-4669-9ED5-05523D3F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2762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C7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A1B75-A55E-4161-AF0B-B5B62803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2457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EEE2"/>
                </a:solidFill>
                <a:latin typeface="Aptos"/>
                <a:ea typeface="Aptos"/>
                <a:cs typeface="Aptos"/>
              </a:rPr>
              <a:t>Internal baselines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54541-0575-48E6-8BB8-F7BF9FA4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2457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PixelVAR and HMAR both produce coherent sprites. Flat AR looks deceptively good but memorizes. Flat MaskGIT has poor coverage and repeated forms.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0C5690-928F-4897-89A6-C1E164B9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428750"/>
            <a:ext cx="77152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053798f724cbf"/>
          <a:stretch xmlns:a="http://schemas.openxmlformats.org/drawingml/2006/main"/>
        </p:blipFill>
        <p:spPr>
          <a:xfrm xmlns:a="http://schemas.openxmlformats.org/drawingml/2006/main">
            <a:off x="3970927" y="1466850"/>
            <a:ext cx="6898097" cy="19621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F9AA2C-D470-4FAC-A2B6-3E14C886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23e079d844b5d"/>
          <a:stretch xmlns:a="http://schemas.openxmlformats.org/drawingml/2006/main"/>
        </p:blipFill>
        <p:spPr>
          <a:xfrm xmlns:a="http://schemas.openxmlformats.org/drawingml/2006/main">
            <a:off x="723900" y="4543985"/>
            <a:ext cx="3067050" cy="360829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756857-D960-4AB2-B055-DC2406EC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910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7e614815ef4ea7"/>
          <a:stretch xmlns:a="http://schemas.openxmlformats.org/drawingml/2006/main"/>
        </p:blipFill>
        <p:spPr>
          <a:xfrm xmlns:a="http://schemas.openxmlformats.org/drawingml/2006/main">
            <a:off x="4552950" y="4543985"/>
            <a:ext cx="3067050" cy="360829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88BEA4-3F8C-49D8-B10C-BCF9D5DF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91000"/>
            <a:ext cx="3143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72B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0ab5ce6d54406"/>
          <a:stretch xmlns:a="http://schemas.openxmlformats.org/drawingml/2006/main"/>
        </p:blipFill>
        <p:spPr>
          <a:xfrm xmlns:a="http://schemas.openxmlformats.org/drawingml/2006/main">
            <a:off x="8382000" y="4543985"/>
            <a:ext cx="3067050" cy="360829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D9FAFC-F84C-4FB2-A9B2-B1CBF1E1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85D7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5D75"/>
                </a:solidFill>
                <a:latin typeface="Aptos"/>
                <a:ea typeface="Aptos"/>
                <a:cs typeface="Aptos"/>
              </a:rPr>
              <a:t>SD-piXL: tiled/noisy failure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1BCCB3-C7E2-4605-A7FD-1F77A9FD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102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SSD-1B: recognizable sometimes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DDA522-67FE-470B-839B-E8920125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1020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AC7D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AC7D5"/>
                </a:solidFill>
                <a:latin typeface="Aptos"/>
                <a:ea typeface="Aptos"/>
                <a:cs typeface="Aptos"/>
              </a:rPr>
              <a:t>Pokemon LoRA: best visual external 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EDF5D7-830B-40D1-9D03-CBFB668B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990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Safe read: external rows are useful pressure tests, not perfectly equal architecture comparisons. PixelVAR still wins the normalized 32x32 protocol rows.</a:t>
            </a:r>
          </a:p>
        </p:txBody>
      </p:sp>
    </p:spTree>
    <p:extLst>
      <p:ext uri="{BB962C8B-B14F-4D97-AF65-F5344CB8AC3E}">
        <p14:creationId xmlns:p14="http://schemas.microsoft.com/office/powerpoint/2010/main" val="129515471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52262E-2C5A-40DF-BDF1-85FD722D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2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2D8E7-F523-46F8-A2AE-1AECDF61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1-marker">
            <a:extLst xmlns:a="http://schemas.openxmlformats.org/drawingml/2006/main">
              <a:ext uri="{FF2B5EF4-FFF2-40B4-BE49-F238E27FC236}">
                <a16:creationId xmlns:a16="http://schemas.microsoft.com/office/drawing/2014/main" id="{6B5EFD6A-1B5B-4605-AD4A-12A18AFF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B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31-label">
            <a:extLst xmlns:a="http://schemas.openxmlformats.org/drawingml/2006/main">
              <a:ext uri="{FF2B5EF4-FFF2-40B4-BE49-F238E27FC236}">
                <a16:creationId xmlns:a16="http://schemas.microsoft.com/office/drawing/2014/main" id="{0B19466E-6C69-40BD-80F6-CF5D52C0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EXPANDED METRIC SCOREBOARD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8FB9D-9A5E-4825-991C-C45B07D0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009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4EEE2"/>
                </a:solidFill>
                <a:latin typeface="Aptos Display"/>
                <a:ea typeface="Aptos Display"/>
                <a:cs typeface="Aptos Display"/>
              </a:rPr>
              <a:t>More metrics make the conclusion stronger only when the audit is included.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A8C0B-D233-46B1-9052-8B39385E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B126B-979C-49AA-A53A-BAC82BC2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Q&amp;A: more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5C843-CA06-410A-BA2B-7EF036EF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722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BDB6A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BDB6A7"/>
                </a:solidFill>
                <a:latin typeface="Aptos"/>
                <a:ea typeface="Aptos"/>
                <a:cs typeface="Aptos"/>
              </a:rPr>
              <a:t>backup 19/19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EABFF-D013-4F3E-BCD6-5091AF69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34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B8D60-8A62-4007-9CA7-6AEFD518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430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Internal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C6935F-9FFF-48CD-AE42-420438B5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543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Feat.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D5A08D-F01E-4F53-A1ED-94DD5CCA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5430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20057D-4E83-452E-BCCC-513EF2FC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5430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KID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9D91A-8512-45E9-9FEE-D0F68D4C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543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Prec.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39BC0D-3835-466A-8F18-158799E1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43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Rec.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C0DB7-4783-4B74-89A4-049BAC48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543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Cov.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939943-2467-4188-9F72-756CA793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430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4FAEA7-ED90-4C9D-B899-335F1E3D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430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71DDBD-5424-4529-B66A-18627612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543050"/>
            <a:ext cx="382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0C1ACE-4838-49A1-B5FC-EE18A7FA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133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7C411A-976D-4F3E-A57D-08C37FD8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main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4F934E-2748-4377-A73A-3E86570F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8669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0.00147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6FB478-ACA9-455F-82FE-D35E28F6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669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13.25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028C2A-F5A4-497B-AC3A-F1EE7341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590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0.00601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BC104E-A3DA-4594-BEAE-3DF63E11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669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0.641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893C69-133A-44D7-8BF6-6206ABEA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669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0.929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F1074A-A010-4E91-AE8B-8DDCD21E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669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D7DEC1-404D-4DF4-877C-3341E791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0.832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41A929-8DFC-47B7-9485-9A40A8DC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669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13 val / 11 test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CC4A86-F5C6-40E8-994A-205D948F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66900"/>
            <a:ext cx="382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main selected branch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739EDB-F3BE-4B13-92A5-4467EFF1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1133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CA3851-4F4D-41C0-AF15-63CEF1A8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1133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8F0BFD-0BAC-44C0-BC77-F270FE9F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HMAR step=1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D5523B-76E8-4674-AB3E-D4E2FD7C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2860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0.00189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609738-AC67-465C-838D-B0927C91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860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12.66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386958-A6B5-48E7-945D-38C76244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86000"/>
            <a:ext cx="590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0.00521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7A9A6F-D829-4EF7-879D-3D3DEB8D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860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0.649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18D903-3580-4443-A0F6-7611FA51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860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0.931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6881C1-EFFB-43AE-A35A-9F0221C7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860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0.616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D6646B-563F-4B75-A384-EA3912E9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860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0.831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125D14-7B7C-4D16-9262-8B36C409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860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 val / 22 test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18F21C-A64E-434C-9C01-E1A13ABD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86000"/>
            <a:ext cx="382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close non-memorizing branch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09B6A8-7EB5-44CF-93C0-8D318C8A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1133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75174E-C7A0-407C-8D6C-19C8E905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0510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AR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0CC2D7-F26D-47D6-88E4-DBE1581B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7051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C04842-AA70-4E9D-9A90-1A6C7522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9.36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059D81-1C74-4093-B590-93455021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705100"/>
            <a:ext cx="590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0.00298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09694F9-6676-4CCA-8932-D848F54B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051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0.917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2001519-1E73-4674-B972-07F3DE02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051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0.954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3E49DA1-7130-40AC-A981-1EBB74E6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051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0.852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1015FF-6620-425A-A925-BF4949AE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051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0.828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E50ED13-8A8F-44BB-8BE2-DE058789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3162 train; 365 val; 333 test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F304C9E-3E36-4B32-8F4A-02EB92CD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05100"/>
            <a:ext cx="382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raw-metric winner, audit failure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233D88C-18F7-4589-92FB-CABF2C76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1133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456399E-E1AE-488A-AADC-66C70370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1133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5659AF4-21C4-4DB8-B9A9-4AE1F077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24200"/>
            <a:ext cx="1295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Flat MaskGIT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E3EEB71-E03C-47FF-823F-FF0421B1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242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F6EB465-8C2A-4EB8-908B-552D6F2A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1242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67.39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E64841B-AFE7-44EC-A8B0-B4E6022F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24200"/>
            <a:ext cx="590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0.06183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9B913F3-AD34-4E09-847A-4976BE16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242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0.155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81666AD-49A0-4BB5-A9DE-75506AAD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242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0.032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B0E6A44-17D2-4D1F-867C-4FDCBD5C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2420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0.045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D655E4F-6947-4896-8CF9-50255672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12420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0.943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9531544-B7D5-4517-A1EC-F3549E06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24200"/>
            <a:ext cx="1485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 exact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4C52C96-6D88-4420-9399-6D1DE1AC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24200"/>
            <a:ext cx="3829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weak coverage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4E5A86E-BAD2-4143-9F9B-652CA0C3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113347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D20"/>
          </a:solidFill>
          <a:ln xmlns:a="http://schemas.openxmlformats.org/drawingml/2006/main" w="9525">
            <a:solidFill>
              <a:srgbClr val="5A585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B1B52A2-20B8-4482-B661-D14C8322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1955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External row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42AAE64-28DF-4777-A468-709DE8F4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19550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50407B1-72BC-42BC-805C-08F9181E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195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FID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E5588FB-9143-4751-A2E5-EFAADA45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019550"/>
            <a:ext cx="647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KID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F351CA2-B769-49E6-9D50-22F6F66E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Prec.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426BCBD-182E-44D5-8ACE-66C22B54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195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Rec.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9AF30F1-1896-4C67-ADC6-5117487B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195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Cov.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25EB446-F7C1-4D1C-9DCB-E43163C1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1955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MS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BE3FC20-CE25-4379-841E-52F12390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19550"/>
            <a:ext cx="518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E4B363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3944CA2-7CB2-4EDF-89E8-FABB30D0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1133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D7F33C7-A5E1-4AF5-A3F1-3A60EE2B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434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PixelVAR paired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FEC6B9C-DA27-4DB4-8629-9E8F797B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434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96629EE-735B-4CCE-9251-A16E3D42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3434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46.48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9646ABF-05AD-43FA-8538-F9C6A794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434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0.00748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5C6312B-9D0C-43FB-AF3E-E60105C4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434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0.910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831ED1B-669C-4AE2-A859-9D336136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434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0.871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4B62288-E77B-4AC8-9AD6-5A3AC67B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434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0.891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A2EFA0C-FA72-41E1-AC83-6B602F08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434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30222BD-B3D6-4C22-B694-C0185337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43400"/>
            <a:ext cx="518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same sample count reference row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DED80E8-2FD5-4E88-9C4D-DB70E5D0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1133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DF74259-7990-4AA8-9047-6ACD514C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67250"/>
            <a:ext cx="1133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545D40C-2477-4B26-9133-77386075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4345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Pokemon LoRA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DCA2207-C43D-4D63-9FC7-1B01C391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7434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3962CB1-B02C-4A59-8902-74ABD519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7434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154.02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3C35A47-4DD9-4B08-9378-934D7CD8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7434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0.13659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A1D1A47-2BE9-4552-A72C-D1F96535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434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0.117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4712D17-5E80-483A-B549-61C42F2E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7434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0.121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ECF8A47-81DA-4ED9-9AEC-507FDB5E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7434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0.051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7EF54A4-B7F0-4320-8398-DD2CEBB5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4345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0.542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C34CE1D-4E6E-445F-95F5-34CD3FF9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43450"/>
            <a:ext cx="518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best practical external visual row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C7E0CAC-0EC6-4FD2-97DE-8AC352BB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133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C041A49-4C76-4D0A-B58F-E9701399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SSD-1B diffusion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66BDA83-3FF0-48CA-8A2B-02BD788A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14350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256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BFDBAD5-55E5-4F7D-B28B-559082CD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1435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158.58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D1F65C5-6D3B-4A20-AA11-8DD64E2D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1435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0.10216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93A3884-F1AD-4049-9B43-51EA9999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435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0.055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969F1C8-4740-4B47-854B-C9DDB910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435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0.492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F3F3B9F-B10D-479B-A074-202280F0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14350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0.035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F45E9DD-5F08-4BB6-A0E4-DEAD5DCF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435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0.411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AEED4D1-C41D-476A-8521-3D822DEC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43500"/>
            <a:ext cx="518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recognizable sometimes, low precision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0F2B961-AB37-43AD-A68E-AD3B575B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33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85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267DEC8-68BD-44AF-A9B5-FEE3755E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33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1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A2F8278-4F08-4C31-A9A9-C7531869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4355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SD-piXL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C53359B-1F8F-460D-AE09-85BB03BF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543550"/>
            <a:ext cx="304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3C1A9AC-3E25-4535-A965-12B229F0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5435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497.71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6522B4A-F483-4B1B-9D0D-5E8D1D6E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54355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0.51765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976B738-8EF0-46E6-98D7-DD12A1F3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5435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B1EE0DF-55AD-48AE-8134-BBEEAA34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5435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03FA734-E4E5-4EC3-8D3E-038F0C7B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5435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0.000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DC66DBC-D2A8-4A9D-95B0-F4EB4CA9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54355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0.493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AE29D2D-0C00-4554-83F3-377B47A6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43550"/>
            <a:ext cx="518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F4EEE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F4EEE2"/>
                </a:solidFill>
                <a:latin typeface="Aptos"/>
                <a:ea typeface="Aptos"/>
                <a:cs typeface="Aptos"/>
              </a:rPr>
              <a:t>targeted attempt, failed adapted protocol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677928B-41A4-4EA4-AEF9-CC9A8052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4B36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4B363"/>
                </a:solidFill>
                <a:latin typeface="Aptos"/>
                <a:ea typeface="Aptos"/>
                <a:cs typeface="Aptos"/>
              </a:rPr>
              <a:t>Do not compare every row as apples-to-apples: internal rows use the 4096-image known-metrics audit; external rows are normalized image-folder comparisons with different sample counts.</a:t>
            </a:r>
          </a:p>
        </p:txBody>
      </p:sp>
    </p:spTree>
    <p:extLst>
      <p:ext uri="{BB962C8B-B14F-4D97-AF65-F5344CB8AC3E}">
        <p14:creationId xmlns:p14="http://schemas.microsoft.com/office/powerpoint/2010/main" val="14689756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2026-06-08T19:39:52.5620000Z</dcterms:created>
  <dcterms:modified xsi:type="dcterms:W3CDTF">2026-06-08T19:39:52.5620000Z</dcterms:modified>
</coreProperties>
</file>